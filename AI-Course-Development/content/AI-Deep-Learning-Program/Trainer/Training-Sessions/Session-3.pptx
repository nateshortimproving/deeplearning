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1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492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this is Week 5, Loop 1, Testing focus. Emphasize the full chain: story, plan, code, review — each building on the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Connects Session 2's Development Loop to Session 3's review skill. The review consumes the output of every prior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 goal and its per-role relevance; invite each role to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points and pacing live here, never on the slide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points and pacing live here, never on the slide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each row as a real behavior shift participants recognize in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 sample story from sample-stories/ + AC + Plan → Code output from the past two weeks and run the review-implementation skill against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checkpoints, common blockers, and what to watch for while circulating.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checkpoints, common blockers, and what to watch for while circulating.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checkpoints, common blockers, and what to watch for while circulating.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participants real time to answer the fill-in-the-blank before moving to Loop 2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participants a beat of silence after each reflection prompt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5596">
                  <a:alpha val="100000"/>
                </a:srgbClr>
              </a:gs>
              <a:gs pos="60000">
                <a:srgbClr val="4597D3">
                  <a:alpha val="100000"/>
                </a:srgbClr>
              </a:gs>
              <a:gs pos="100000">
                <a:srgbClr val="5BC2A7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3151882"/>
            <a:ext cx="2965103" cy="5334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90650" y="3247132"/>
            <a:ext cx="255875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INTRO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43000" y="4066282"/>
            <a:ext cx="1421904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90650" y="4161532"/>
            <a:ext cx="1002804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93504" y="4066282"/>
            <a:ext cx="1323082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41154" y="4161532"/>
            <a:ext cx="903982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LOOP 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45186" y="4066282"/>
            <a:ext cx="1539329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2836" y="4161532"/>
            <a:ext cx="112022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4942582"/>
            <a:ext cx="17287875" cy="87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60"/>
              </a:lnSpc>
              <a:buNone/>
            </a:pPr>
            <a:r>
              <a:rPr lang="en-US" sz="6300" b="1" kern="0" spc="-126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Implementation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1143000" y="6068318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You now have epics-and-stories and Plan → Code skills. Today we close Loop 1 by building the final skill in the SDLC pipeline: review-implementation. This is where the full chain comes together — story, plan, code, and review, each building on the last.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2928938"/>
            <a:ext cx="3473500" cy="533400"/>
          </a:xfrm>
          <a:prstGeom prst="roundRect">
            <a:avLst>
              <a:gd name="adj" fmla="val 50000"/>
            </a:avLst>
          </a:prstGeom>
          <a:solidFill>
            <a:srgbClr val="F5BB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81150" y="3024188"/>
            <a:ext cx="308240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CHECK-IN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33500" y="3881438"/>
            <a:ext cx="1718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4597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CHECK-IN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4414838"/>
            <a:ext cx="16089630" cy="1133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3450" b="1" kern="0" spc="-69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has the Development Loop been working? What did your EC scores show for plan-story and implement-story?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1333500" y="5929313"/>
            <a:ext cx="15125700" cy="1428750"/>
          </a:xfrm>
          <a:prstGeom prst="roundRect">
            <a:avLst>
              <a:gd name="adj" fmla="val 10667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52600" y="6272213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857"/>
              </a:lnSpc>
              <a:buNone/>
            </a:pPr>
            <a:r>
              <a:rPr lang="en-US" sz="195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Did you notice the quality dependency — where vague plans produced vague code? This connects Session 2's Development Loop to Session 3's review skill. The review consumes the output of every prior step.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533400"/>
            <a:ext cx="4156621" cy="533400"/>
          </a:xfrm>
          <a:prstGeom prst="roundRect">
            <a:avLst>
              <a:gd name="adj" fmla="val 50000"/>
            </a:avLst>
          </a:prstGeom>
          <a:solidFill>
            <a:srgbClr val="9D1D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00150" y="628650"/>
            <a:ext cx="378601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SESSION GOALS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238250"/>
            <a:ext cx="1802130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333"/>
              </a:lnSpc>
              <a:buNone/>
            </a:pPr>
            <a:r>
              <a:rPr lang="en-US" sz="3150" b="1" kern="0" spc="-63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Session Goals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49636"/>
            <a:ext cx="8115300" cy="2313236"/>
          </a:xfrm>
          <a:prstGeom prst="roundRect">
            <a:avLst>
              <a:gd name="adj" fmla="val 6588"/>
            </a:avLst>
          </a:prstGeom>
          <a:ln w="1905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2050" y="2002036"/>
            <a:ext cx="8465820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67"/>
              </a:lnSpc>
              <a:buNone/>
            </a:pPr>
            <a:r>
              <a:rPr lang="en-US" sz="1650" b="1" kern="0" spc="-33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Goal 1: </a:t>
            </a:r>
            <a:r>
              <a:rPr lang="en-US" sz="1650" b="1" kern="0" spc="-33" dirty="0">
                <a:solidFill>
                  <a:srgbClr val="4597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out the review-implementation skill from the SDLC skeleton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62050" y="2319189"/>
            <a:ext cx="792708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69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Product/Process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If the review can't verify a story's AC, the story is incomplete.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62050" y="2902000"/>
            <a:ext cx="792708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69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Development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Reviews validate your Plan → Code output and reveal what the plan missed.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62050" y="3484811"/>
            <a:ext cx="792708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69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Testing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This is your primary artifact — you own it for the rest of the program.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20200" y="1849636"/>
            <a:ext cx="8115300" cy="2313236"/>
          </a:xfrm>
          <a:prstGeom prst="roundRect">
            <a:avLst>
              <a:gd name="adj" fmla="val 6588"/>
            </a:avLst>
          </a:prstGeom>
          <a:ln w="1905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29750" y="2002036"/>
            <a:ext cx="8465820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67"/>
              </a:lnSpc>
              <a:buNone/>
            </a:pPr>
            <a:r>
              <a:rPr lang="en-US" sz="1650" b="1" kern="0" spc="-33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Goal 2: </a:t>
            </a:r>
            <a:r>
              <a:rPr lang="en-US" sz="1650" b="1" kern="0" spc="-33" dirty="0">
                <a:solidFill>
                  <a:srgbClr val="4597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 EC for the review skill before building it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429750" y="2319189"/>
            <a:ext cx="792708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69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Product/Process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Your EC for reviews tells you what story quality means downstream.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429750" y="2902000"/>
            <a:ext cx="792708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69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Development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EC for reviews reveals gaps in plans and code — the EC-first discipline surfaces what matters.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29750" y="3484811"/>
            <a:ext cx="792708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69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Testing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Your EC defines the quality bar for your reviews. You own this standard.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" y="4315271"/>
            <a:ext cx="8115300" cy="2313236"/>
          </a:xfrm>
          <a:prstGeom prst="roundRect">
            <a:avLst>
              <a:gd name="adj" fmla="val 6588"/>
            </a:avLst>
          </a:prstGeom>
          <a:ln w="1905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62050" y="4467671"/>
            <a:ext cx="8465820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67"/>
              </a:lnSpc>
              <a:buNone/>
            </a:pPr>
            <a:r>
              <a:rPr lang="en-US" sz="1650" b="1" kern="0" spc="-33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Goal 3: </a:t>
            </a:r>
            <a:r>
              <a:rPr lang="en-US" sz="1650" b="1" kern="0" spc="-33" dirty="0">
                <a:solidFill>
                  <a:srgbClr val="4597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 the full Loop 1 chain assembled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62050" y="4784824"/>
            <a:ext cx="792708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69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Product/Process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Your story quality ripples through the entire chain — trace gaps upstream.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62050" y="5367635"/>
            <a:ext cx="792708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69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Development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Your Plan → Code output gets validated by review. The chain is a system, not isolated skills.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62050" y="5950446"/>
            <a:ext cx="792708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69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Testing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Your skill consumes every other role's output — this is where the chain comes together.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20200" y="4315271"/>
            <a:ext cx="8115300" cy="2313236"/>
          </a:xfrm>
          <a:prstGeom prst="roundRect">
            <a:avLst>
              <a:gd name="adj" fmla="val 6588"/>
            </a:avLst>
          </a:prstGeom>
          <a:ln w="1905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29750" y="4467671"/>
            <a:ext cx="8465820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67"/>
              </a:lnSpc>
              <a:buNone/>
            </a:pPr>
            <a:r>
              <a:rPr lang="en-US" sz="1650" b="1" kern="0" spc="-33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Goal 4: </a:t>
            </a:r>
            <a:r>
              <a:rPr lang="en-US" sz="1650" b="1" kern="0" spc="-33" dirty="0">
                <a:solidFill>
                  <a:srgbClr val="4597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 what a review covers that code and tests don't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429750" y="4784824"/>
            <a:ext cx="792708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69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Product/Process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Reviews cover correctness, edge cases, and maintainability the story alone can't guarantee.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29750" y="5367635"/>
            <a:ext cx="792708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69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Development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Reviews reveal gaps your Plan → Code skills didn't address.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29750" y="5950446"/>
            <a:ext cx="792708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69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Testing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Reviews are your domain. AI accelerates the review, you prioritize the findings.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2116634"/>
            <a:ext cx="3265289" cy="533400"/>
          </a:xfrm>
          <a:prstGeom prst="roundRect">
            <a:avLst>
              <a:gd name="adj" fmla="val 50000"/>
            </a:avLst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85900" y="2211884"/>
            <a:ext cx="2867948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LECTURE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2897684"/>
            <a:ext cx="1739265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450" b="1" kern="0" spc="-69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 Review Covers (and What AI Can and Can't Do)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238250" y="3670995"/>
            <a:ext cx="15811500" cy="1032272"/>
          </a:xfrm>
          <a:prstGeom prst="roundRect">
            <a:avLst>
              <a:gd name="adj" fmla="val 9227"/>
            </a:avLst>
          </a:prstGeom>
          <a:solidFill>
            <a:srgbClr val="E9F1FA"/>
          </a:solidFill>
          <a:ln w="19050">
            <a:solidFill>
              <a:srgbClr val="0055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04950" y="3861495"/>
            <a:ext cx="15736443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review-implementation reads </a:t>
            </a:r>
            <a:r>
              <a:rPr lang="en-US" sz="1800" dirty="0">
                <a:solidFill>
                  <a:srgbClr val="0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stories.yaml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+ </a:t>
            </a:r>
            <a:r>
              <a:rPr lang="en-US" sz="1800" dirty="0">
                <a:solidFill>
                  <a:srgbClr val="0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plan.yaml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+ the code, writes </a:t>
            </a:r>
            <a:r>
              <a:rPr lang="en-US" sz="1800" dirty="0">
                <a:solidFill>
                  <a:srgbClr val="0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review.yaml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with its findings, and updates </a:t>
            </a:r>
            <a:r>
              <a:rPr lang="en-US" sz="1800" dirty="0">
                <a:solidFill>
                  <a:srgbClr val="0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stories.yaml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— setting </a:t>
            </a:r>
            <a:r>
              <a:rPr lang="en-US" sz="1800" dirty="0">
                <a:solidFill>
                  <a:srgbClr val="0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review_status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and </a:t>
            </a:r>
            <a:r>
              <a:rPr lang="en-US" sz="1800" dirty="0">
                <a:solidFill>
                  <a:srgbClr val="0E1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review_notes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so feedback flows back to the story.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8250" y="4950916"/>
            <a:ext cx="158115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47800" y="5084266"/>
            <a:ext cx="1586674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review covers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correctness issues, edge cases not handled, readability/maintainability concerns, missing tests, and anything that would prevent merging.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38250" y="6036766"/>
            <a:ext cx="158115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47800" y="6170116"/>
            <a:ext cx="158667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human role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deciding which issues matter most. AI can enumerate issues but can't prioritize by business risk without context.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38250" y="6779716"/>
            <a:ext cx="158115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47800" y="6913066"/>
            <a:ext cx="158667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AI can do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dramatically accelerate issue identification, pattern detection, and review documentation.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38250" y="7522666"/>
            <a:ext cx="158115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47800" y="7656016"/>
            <a:ext cx="158667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AI gets wrong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over-flagging low-severity issues, missing business-context risks, conflating style preferences with correctness problems.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2129730"/>
            <a:ext cx="3265289" cy="533400"/>
          </a:xfrm>
          <a:prstGeom prst="roundRect">
            <a:avLst>
              <a:gd name="adj" fmla="val 50000"/>
            </a:avLst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85900" y="2224980"/>
            <a:ext cx="2867948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LECTURE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2891730"/>
            <a:ext cx="1739265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333"/>
              </a:lnSpc>
              <a:buNone/>
            </a:pPr>
            <a:r>
              <a:rPr lang="en-US" sz="3600" b="1" kern="0" spc="-72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Review-Implementation RTCC Structure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8250" y="3623221"/>
            <a:ext cx="17392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RTCC for the review-implementation skill — four elements, each answering a different question: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8250" y="4194721"/>
            <a:ext cx="158115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47800" y="4328071"/>
            <a:ext cx="158667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 — Role (WHO):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A senior software developer conducting a thorough code review.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38250" y="4956721"/>
            <a:ext cx="158115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47800" y="5090071"/>
            <a:ext cx="1586674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 — Task (WHAT):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Review the implementation against the story, AC, and plan. Identify correctness issues, edge cases, maintainability concerns, missing tests, and merge blockers.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38250" y="6061621"/>
            <a:ext cx="158115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47800" y="6194971"/>
            <a:ext cx="1586674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 — Context (WHY):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Why we review — to catch what planning and coding missed, ensure the AC is satisfied, prevent regressions, and maintain a team quality standard.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38250" y="7166521"/>
            <a:ext cx="158115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47800" y="7299871"/>
            <a:ext cx="1586674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 — Constraints (HOW):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Story + AC + plan + code as inputs. For each issue: explain why it matters and suggest a specific improvement. Severity levels required. Must reference which AC item is affected.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857250"/>
            <a:ext cx="4918025" cy="533400"/>
          </a:xfrm>
          <a:prstGeom prst="roundRect">
            <a:avLst>
              <a:gd name="adj" fmla="val 50000"/>
            </a:avLst>
          </a:prstGeom>
          <a:solidFill>
            <a:srgbClr val="9D1D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85900" y="952500"/>
            <a:ext cx="457026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COMPARE/CONTRAST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638300"/>
            <a:ext cx="1739265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333"/>
              </a:lnSpc>
              <a:buNone/>
            </a:pPr>
            <a:r>
              <a:rPr lang="en-US" sz="3450" b="1" kern="0" spc="-69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(Session 2) vs. Review (Session 3)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238250" y="2405955"/>
            <a:ext cx="7848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90" dirty="0">
                <a:solidFill>
                  <a:srgbClr val="A7A8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29750" y="2405955"/>
            <a:ext cx="7848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9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8250" y="305365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47800" y="3187005"/>
            <a:ext cx="7429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Generates implementation from the plan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20150" y="3187005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2308"/>
              </a:lnSpc>
              <a:buNone/>
            </a:pPr>
            <a:r>
              <a:rPr lang="en-US" sz="1800" dirty="0">
                <a:solidFill>
                  <a:srgbClr val="4597D3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29750" y="305365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E9F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39300" y="3187005"/>
            <a:ext cx="7429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Validates implementation against story + plan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38250" y="373945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47800" y="3872805"/>
            <a:ext cx="7429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Answers: "Does it implement the plan?"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20150" y="3872805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2308"/>
              </a:lnSpc>
              <a:buNone/>
            </a:pPr>
            <a:r>
              <a:rPr lang="en-US" sz="1800" dirty="0">
                <a:solidFill>
                  <a:srgbClr val="4597D3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29750" y="373945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E9F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39300" y="3872805"/>
            <a:ext cx="7429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Answers: "Does it satisfy the story?"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38250" y="442525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47800" y="4558605"/>
            <a:ext cx="7429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Developer-owned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20150" y="4558605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2308"/>
              </a:lnSpc>
              <a:buNone/>
            </a:pPr>
            <a:r>
              <a:rPr lang="en-US" sz="1800" dirty="0">
                <a:solidFill>
                  <a:srgbClr val="4597D3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0" y="442525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E9F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39300" y="4558605"/>
            <a:ext cx="7429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Testing-owned (with input from all roles)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38250" y="511105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47800" y="5244405"/>
            <a:ext cx="7429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Covers the "how"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820150" y="5244405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2308"/>
              </a:lnSpc>
              <a:buNone/>
            </a:pPr>
            <a:r>
              <a:rPr lang="en-US" sz="1800" dirty="0">
                <a:solidFill>
                  <a:srgbClr val="4597D3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29750" y="511105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E9F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39300" y="5244405"/>
            <a:ext cx="7429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Covers the "did we get it right?"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38250" y="579685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47800" y="5930205"/>
            <a:ext cx="7429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Output: working code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820150" y="5930205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2308"/>
              </a:lnSpc>
              <a:buNone/>
            </a:pPr>
            <a:r>
              <a:rPr lang="en-US" sz="1800" dirty="0">
                <a:solidFill>
                  <a:srgbClr val="4597D3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429750" y="579685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E9F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39300" y="5930205"/>
            <a:ext cx="7429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Output: issues found, severity, recommendations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2198489"/>
            <a:ext cx="2927747" cy="533400"/>
          </a:xfrm>
          <a:prstGeom prst="roundRect">
            <a:avLst>
              <a:gd name="adj" fmla="val 50000"/>
            </a:avLst>
          </a:prstGeom>
          <a:solidFill>
            <a:srgbClr val="5BC2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85900" y="2293739"/>
            <a:ext cx="252027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3150989"/>
            <a:ext cx="1739265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333"/>
              </a:lnSpc>
              <a:buNone/>
            </a:pPr>
            <a:r>
              <a:rPr lang="en-US" sz="3900" b="1" kern="0" spc="-78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Demo: Review on a Real Story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238250" y="4114800"/>
            <a:ext cx="17392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90" dirty="0">
                <a:solidFill>
                  <a:srgbClr val="A7A8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4572000"/>
            <a:ext cx="1471612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The instructor takes a sample story from sample-stories/ + AC + Plan → Code output from the past two weeks and runs the review-implementation skill against it. The demo shows how the review consumes all upstream artifacts and what the output looks like — the full chain visible for the first time.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8250" y="6248400"/>
            <a:ext cx="15106650" cy="1840111"/>
          </a:xfrm>
          <a:prstGeom prst="roundRect">
            <a:avLst>
              <a:gd name="adj" fmla="val 8282"/>
            </a:avLst>
          </a:prstGeom>
          <a:solidFill>
            <a:srgbClr val="EAF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38250" y="6248400"/>
            <a:ext cx="57150" cy="1840111"/>
          </a:xfrm>
          <a:prstGeom prst="rect">
            <a:avLst/>
          </a:prstGeom>
          <a:solidFill>
            <a:srgbClr val="5BC2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76400" y="6515100"/>
            <a:ext cx="15716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90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TO FOCUS 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76400" y="6953250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154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Notice how the review references specific AC items and plan steps. Watch what the AI gets wrong — does it over-flag style issues? Does it miss business-context risks? See how the human needs to prioritize which issues matter.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2888159"/>
            <a:ext cx="3368873" cy="533400"/>
          </a:xfrm>
          <a:prstGeom prst="roundRect">
            <a:avLst>
              <a:gd name="adj" fmla="val 50000"/>
            </a:avLst>
          </a:prstGeom>
          <a:solidFill>
            <a:srgbClr val="F5BB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85900" y="2983409"/>
            <a:ext cx="2974640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EXERCISE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3718768"/>
            <a:ext cx="11647542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231"/>
              </a:lnSpc>
              <a:buNone/>
            </a:pPr>
            <a:r>
              <a:rPr lang="en-US" sz="3300" b="1" kern="0" spc="-66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1: Write EC for Your Review-Implementation Skill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4870013" y="3688259"/>
            <a:ext cx="2179737" cy="533400"/>
          </a:xfrm>
          <a:prstGeom prst="roundRect">
            <a:avLst>
              <a:gd name="adj" fmla="val 50000"/>
            </a:avLst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117663" y="3783509"/>
            <a:ext cx="176063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⏱ 15 MINUTES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0150" y="4488359"/>
            <a:ext cx="15925800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42900" indent="-342900" algn="l">
              <a:lnSpc>
                <a:spcPct val="86154"/>
              </a:lnSpc>
              <a:buSzPct val="100000"/>
              <a:buFont typeface="+mj-lt"/>
              <a:buAutoNum type="arabicPeriod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Write 4–6 EC for review output before building anything</a:t>
            </a:r>
            <a:endParaRPr lang="en-US" sz="1800" dirty="0"/>
          </a:p>
          <a:p>
            <a:pPr marL="342900" indent="-342900" algn="l">
              <a:lnSpc>
                <a:spcPct val="86154"/>
              </a:lnSpc>
              <a:buSzPct val="100000"/>
              <a:buFont typeface="+mj-lt"/>
              <a:buAutoNum type="arabicPeriod" startAt="2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Suggested starting EC: every AC item is checked in the review; at least one edge case not handled is identified; each issue includes why it matters and a specific improvement; severity level is assigned to each issue; review references which AC item is affected</a:t>
            </a:r>
            <a:endParaRPr lang="en-US" sz="1800" dirty="0"/>
          </a:p>
          <a:p>
            <a:pPr marL="342900" indent="-342900" algn="l">
              <a:lnSpc>
                <a:spcPct val="86154"/>
              </a:lnSpc>
              <a:buSzPct val="100000"/>
              <a:buFont typeface="+mj-lt"/>
              <a:buAutoNum type="arabicPeriod" startAt="3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Commit your EC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8250" y="6034980"/>
            <a:ext cx="15811500" cy="1363861"/>
          </a:xfrm>
          <a:prstGeom prst="roundRect">
            <a:avLst>
              <a:gd name="adj" fmla="val 11174"/>
            </a:avLst>
          </a:prstGeom>
          <a:solidFill>
            <a:srgbClr val="005596"/>
          </a:solidFill>
          <a:ln/>
          <a:effectLst>
            <a:outerShdw blurRad="266700" dist="114300" dir="5400000" algn="bl" rotWithShape="0">
              <a:srgbClr val="005596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81150" y="6244530"/>
            <a:ext cx="166382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F5BB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YOU'LL KNOW WHEN YOU'RE DONE BECAUSE…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81150" y="6663630"/>
            <a:ext cx="1663827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You have 4–6 written EC for your review-implementation skill, each specific and measurable, committed before building the skill.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533400"/>
            <a:ext cx="3368873" cy="533400"/>
          </a:xfrm>
          <a:prstGeom prst="roundRect">
            <a:avLst>
              <a:gd name="adj" fmla="val 50000"/>
            </a:avLst>
          </a:prstGeom>
          <a:solidFill>
            <a:srgbClr val="F5BB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85900" y="628650"/>
            <a:ext cx="2974640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EXERCISE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312664"/>
            <a:ext cx="9517663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333"/>
              </a:lnSpc>
              <a:buNone/>
            </a:pPr>
            <a:r>
              <a:rPr lang="en-US" sz="3150" b="1" kern="0" spc="-63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2: Build the Review-Implementation Skill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14801255" y="1219200"/>
            <a:ext cx="2248495" cy="533400"/>
          </a:xfrm>
          <a:prstGeom prst="roundRect">
            <a:avLst>
              <a:gd name="adj" fmla="val 50000"/>
            </a:avLst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048905" y="1314450"/>
            <a:ext cx="182939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⏱ 45 MINUTES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62050" y="1905000"/>
            <a:ext cx="15963900" cy="2268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42900" indent="-342900" algn="l">
              <a:lnSpc>
                <a:spcPct val="75077"/>
              </a:lnSpc>
              <a:buSzPct val="100000"/>
              <a:buFont typeface="+mj-lt"/>
              <a:buAutoNum type="arabicPeriod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Open the review-implementation.skill.md skeleton — Role and Task defined, Context and Constraints empty</a:t>
            </a:r>
            <a:endParaRPr lang="en-US" sz="1800" dirty="0"/>
          </a:p>
          <a:p>
            <a:pPr marL="342900" indent="-342900" algn="l">
              <a:lnSpc>
                <a:spcPct val="75077"/>
              </a:lnSpc>
              <a:buSzPct val="100000"/>
              <a:buFont typeface="+mj-lt"/>
              <a:buAutoNum type="arabicPeriod" startAt="2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Fill in Context (WHY: why we review against story + plan, what a review catches that coding misses) and Constraints (HOW: review format, inputs, what to check and flag)</a:t>
            </a:r>
            <a:endParaRPr lang="en-US" sz="1800" dirty="0"/>
          </a:p>
          <a:p>
            <a:pPr marL="342900" indent="-342900" algn="l">
              <a:lnSpc>
                <a:spcPct val="75077"/>
              </a:lnSpc>
              <a:buSzPct val="100000"/>
              <a:buFont typeface="+mj-lt"/>
              <a:buAutoNum type="arabicPeriod" startAt="3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The skill has disable-model-invocation: true — invoke via slash command</a:t>
            </a:r>
            <a:endParaRPr lang="en-US" sz="1800" dirty="0"/>
          </a:p>
          <a:p>
            <a:pPr marL="342900" indent="-342900" algn="l">
              <a:lnSpc>
                <a:spcPct val="75077"/>
              </a:lnSpc>
              <a:buSzPct val="100000"/>
              <a:buFont typeface="+mj-lt"/>
              <a:buAutoNum type="arabicPeriod" startAt="4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Apply the Load-Bearing Rule: each instruction must map to at least one EC</a:t>
            </a:r>
            <a:endParaRPr lang="en-US" sz="1800" dirty="0"/>
          </a:p>
          <a:p>
            <a:pPr marL="342900" indent="-342900" algn="l">
              <a:lnSpc>
                <a:spcPct val="75077"/>
              </a:lnSpc>
              <a:buSzPct val="100000"/>
              <a:buFont typeface="+mj-lt"/>
              <a:buAutoNum type="arabicPeriod" startAt="5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Test on 1–2 sample stories from sample-stories/ using this sprint's Plan → Code output</a:t>
            </a:r>
            <a:endParaRPr lang="en-US" sz="1800" dirty="0"/>
          </a:p>
          <a:p>
            <a:pPr marL="342900" indent="-342900" algn="l">
              <a:lnSpc>
                <a:spcPct val="75077"/>
              </a:lnSpc>
              <a:buSzPct val="100000"/>
              <a:buFont typeface="+mj-lt"/>
              <a:buAutoNum type="arabicPeriod" startAt="6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Write review.yaml with findings and update stories.yaml — setting review_status and review_notes</a:t>
            </a:r>
            <a:endParaRPr lang="en-US" sz="1800" dirty="0"/>
          </a:p>
          <a:p>
            <a:pPr marL="342900" indent="-342900" algn="l">
              <a:lnSpc>
                <a:spcPct val="75077"/>
              </a:lnSpc>
              <a:buSzPct val="100000"/>
              <a:buFont typeface="+mj-lt"/>
              <a:buAutoNum type="arabicPeriod" startAt="7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Evaluate the output against your EC and commit the skill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8250" y="4287441"/>
            <a:ext cx="15811500" cy="1424880"/>
          </a:xfrm>
          <a:prstGeom prst="roundRect">
            <a:avLst>
              <a:gd name="adj" fmla="val 10696"/>
            </a:avLst>
          </a:prstGeom>
          <a:solidFill>
            <a:srgbClr val="005596"/>
          </a:solidFill>
          <a:ln/>
          <a:effectLst>
            <a:outerShdw blurRad="266700" dist="114300" dir="5400000" algn="bl" rotWithShape="0">
              <a:srgbClr val="005596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24000" y="4420791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F5BB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YOU'LL KNOW WHEN YOU'RE DONE BECAUSE…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24000" y="4801791"/>
            <a:ext cx="1569720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46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A committed review-implementation skill with RTCC structure that reviews real implementations against story + AC + plan, output evaluated against your EC.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8250" y="5864721"/>
            <a:ext cx="15811500" cy="960090"/>
          </a:xfrm>
          <a:prstGeom prst="roundRect">
            <a:avLst>
              <a:gd name="adj" fmla="val 15874"/>
            </a:avLst>
          </a:prstGeom>
          <a:solidFill>
            <a:srgbClr val="FBF1FA"/>
          </a:solidFill>
          <a:ln w="28575">
            <a:solidFill>
              <a:srgbClr val="9D1D9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33525" y="6007596"/>
            <a:ext cx="167430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90" dirty="0">
                <a:solidFill>
                  <a:srgbClr val="9D1D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STRETCH GOAL (FOR ADVANCED USERS) — OPTIONAL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33525" y="6407646"/>
            <a:ext cx="1674304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46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Write the review skill to check both Express backend and React frontend aspects of the implementation.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533400"/>
            <a:ext cx="3368873" cy="533400"/>
          </a:xfrm>
          <a:prstGeom prst="roundRect">
            <a:avLst>
              <a:gd name="adj" fmla="val 50000"/>
            </a:avLst>
          </a:prstGeom>
          <a:solidFill>
            <a:srgbClr val="F5BB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85900" y="628650"/>
            <a:ext cx="2974640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EXERCISE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314450"/>
            <a:ext cx="1027941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67"/>
              </a:lnSpc>
              <a:buNone/>
            </a:pPr>
            <a:r>
              <a:rPr lang="en-US" sz="3000" b="1" kern="0" spc="-6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3: Load-Bearing Audit + Full Pipeline Assembly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4817179" y="1219200"/>
            <a:ext cx="2232571" cy="533400"/>
          </a:xfrm>
          <a:prstGeom prst="roundRect">
            <a:avLst>
              <a:gd name="adj" fmla="val 50000"/>
            </a:avLst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064829" y="1314450"/>
            <a:ext cx="181347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⏱ 30 MINUTES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62050" y="1905000"/>
            <a:ext cx="15963900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42900" indent="-342900" algn="l">
              <a:lnSpc>
                <a:spcPct val="73846"/>
              </a:lnSpc>
              <a:buSzPct val="100000"/>
              <a:buFont typeface="+mj-lt"/>
              <a:buAutoNum type="arabicPeriod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Review each instruction in your review skill: which EC would fail if you removed it?</a:t>
            </a:r>
            <a:endParaRPr lang="en-US" sz="1800" dirty="0"/>
          </a:p>
          <a:p>
            <a:pPr marL="342900" indent="-342900" algn="l">
              <a:lnSpc>
                <a:spcPct val="73846"/>
              </a:lnSpc>
              <a:buSzPct val="100000"/>
              <a:buFont typeface="+mj-lt"/>
              <a:buAutoNum type="arabicPeriod" startAt="2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Remove any instruction that corresponds to no EC; verify scores don't drop</a:t>
            </a:r>
            <a:endParaRPr lang="en-US" sz="1800" dirty="0"/>
          </a:p>
          <a:p>
            <a:pPr marL="342900" indent="-342900" algn="l">
              <a:lnSpc>
                <a:spcPct val="73846"/>
              </a:lnSpc>
              <a:buSzPct val="100000"/>
              <a:buFont typeface="+mj-lt"/>
              <a:buAutoNum type="arabicPeriod" startAt="3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Commit the audited skill</a:t>
            </a:r>
            <a:endParaRPr lang="en-US" sz="1800" dirty="0"/>
          </a:p>
          <a:p>
            <a:pPr marL="342900" indent="-342900" algn="l">
              <a:lnSpc>
                <a:spcPct val="73846"/>
              </a:lnSpc>
              <a:buSzPct val="100000"/>
              <a:buFont typeface="+mj-lt"/>
              <a:buAutoNum type="arabicPeriod" startAt="4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Walk through one complete story as a group: PRD → epics-and-stories → plan-story → implement-story → review-implementation</a:t>
            </a:r>
            <a:endParaRPr lang="en-US" sz="1800" dirty="0"/>
          </a:p>
          <a:p>
            <a:pPr marL="342900" indent="-342900" algn="l">
              <a:lnSpc>
                <a:spcPct val="73846"/>
              </a:lnSpc>
              <a:buSzPct val="100000"/>
              <a:buFont typeface="+mj-lt"/>
              <a:buAutoNum type="arabicPeriod" startAt="5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Notice the feedback loop: the review writes review.yaml and updates stories.yaml (review_status, review_notes), so findings flow back to the story</a:t>
            </a:r>
            <a:endParaRPr lang="en-US" sz="1800" dirty="0"/>
          </a:p>
          <a:p>
            <a:pPr marL="342900" indent="-342900" algn="l">
              <a:lnSpc>
                <a:spcPct val="73846"/>
              </a:lnSpc>
              <a:buSzPct val="100000"/>
              <a:buFont typeface="+mj-lt"/>
              <a:buAutoNum type="arabicPeriod" startAt="6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Evaluate each step's output: what quality did it produce? Where did upstream decisions affect downstream output?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8250" y="3703141"/>
            <a:ext cx="15811500" cy="1424880"/>
          </a:xfrm>
          <a:prstGeom prst="roundRect">
            <a:avLst>
              <a:gd name="adj" fmla="val 10696"/>
            </a:avLst>
          </a:prstGeom>
          <a:solidFill>
            <a:srgbClr val="005596"/>
          </a:solidFill>
          <a:ln/>
          <a:effectLst>
            <a:outerShdw blurRad="266700" dist="114300" dir="5400000" algn="bl" rotWithShape="0">
              <a:srgbClr val="005596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24000" y="3836491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F5BB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YOU'LL KNOW WHEN YOU'RE DONE BECAUSE…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24000" y="4217491"/>
            <a:ext cx="1569720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46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Your review-implementation skill has been load-bearing audited, and you've seen the full Loop 1 SDLC pipeline run end-to-end on a sample story with quality evaluated at each step.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8250" y="5280422"/>
            <a:ext cx="15811500" cy="960090"/>
          </a:xfrm>
          <a:prstGeom prst="roundRect">
            <a:avLst>
              <a:gd name="adj" fmla="val 15874"/>
            </a:avLst>
          </a:prstGeom>
          <a:solidFill>
            <a:srgbClr val="FBF1FA"/>
          </a:solidFill>
          <a:ln w="28575">
            <a:solidFill>
              <a:srgbClr val="9D1D9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33525" y="5423297"/>
            <a:ext cx="167430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90" dirty="0">
                <a:solidFill>
                  <a:srgbClr val="9D1D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STRETCH GOAL (FOR ADVANCED USERS) — OPTIONAL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33525" y="5823347"/>
            <a:ext cx="1674304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46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Run the review on a complete full-stack implementation from the pantry tracker.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2075557"/>
            <a:ext cx="3265289" cy="533400"/>
          </a:xfrm>
          <a:prstGeom prst="roundRect">
            <a:avLst>
              <a:gd name="adj" fmla="val 50000"/>
            </a:avLst>
          </a:prstGeom>
          <a:solidFill>
            <a:srgbClr val="005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485900" y="2170807"/>
            <a:ext cx="2867948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LECTURE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2856607"/>
            <a:ext cx="1739265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333"/>
              </a:lnSpc>
              <a:buNone/>
            </a:pPr>
            <a:r>
              <a:rPr lang="en-US" sz="3600" b="1" kern="0" spc="-72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Loop 1 Retrospective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238250" y="3607147"/>
            <a:ext cx="15811500" cy="1087636"/>
          </a:xfrm>
          <a:prstGeom prst="roundRect">
            <a:avLst>
              <a:gd name="adj" fmla="val 8758"/>
            </a:avLst>
          </a:prstGeom>
          <a:solidFill>
            <a:srgbClr val="E9F1FA"/>
          </a:solidFill>
          <a:ln w="19050">
            <a:solidFill>
              <a:srgbClr val="0055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24000" y="3816697"/>
            <a:ext cx="156972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571"/>
              </a:lnSpc>
              <a:buNone/>
            </a:pPr>
            <a:r>
              <a:rPr lang="en-US" sz="195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Complete this sentence: "In Week 1 I couldn't ___. Now I can ___." What's the one thing you'd change about your epics-and-stories skill now, having used it for 5 weeks?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38250" y="4942433"/>
            <a:ext cx="172878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154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This is the transition into Loop 2: you've built the foundation. Now we make it rigorous.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8250" y="5510064"/>
            <a:ext cx="158115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47800" y="5643414"/>
            <a:ext cx="158667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Session 4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EDD with Python evaluations and LLM judges, formalizing the evaluation discipline you've been practicing informally.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38250" y="6253014"/>
            <a:ext cx="158115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47800" y="6386364"/>
            <a:ext cx="158667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Session 5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Model invocation and Adversarial Agents — when to trust AI to invoke skills automatically, and how to challenge AI output with AI.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38250" y="6995964"/>
            <a:ext cx="158115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47800" y="7129314"/>
            <a:ext cx="158667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1800" b="1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Session 6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Bounded Agents, Custom Harness Demo &amp; Stage 4 Preview — participants build a bounded agent, instructor demos a custom harness.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8250" y="7891314"/>
            <a:ext cx="172878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154"/>
              </a:lnSpc>
              <a:buNone/>
            </a:pPr>
            <a:r>
              <a:rPr lang="en-US" sz="1800" i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The program's end goal: not full integration, but every participant owning evaluated, iterated skills with a clear path to continued adoption.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597D3">
                  <a:alpha val="100000"/>
                </a:srgbClr>
              </a:gs>
              <a:gs pos="100000">
                <a:srgbClr val="5BC2A7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2500" y="533400"/>
            <a:ext cx="3306514" cy="5334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00150" y="628650"/>
            <a:ext cx="2910410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kern="0" spc="10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CLOSING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219200"/>
            <a:ext cx="1802130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333"/>
              </a:lnSpc>
              <a:buNone/>
            </a:pPr>
            <a:r>
              <a:rPr lang="en-US" sz="3150" b="1" kern="0" spc="-63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you go…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952500" y="1811536"/>
            <a:ext cx="8124825" cy="1646486"/>
          </a:xfrm>
          <a:prstGeom prst="roundRect">
            <a:avLst>
              <a:gd name="adj" fmla="val 9256"/>
            </a:avLst>
          </a:prstGeom>
          <a:solidFill>
            <a:srgbClr val="FFFFFF">
              <a:alpha val="9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1944886"/>
            <a:ext cx="8518208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67"/>
              </a:lnSpc>
              <a:buNone/>
            </a:pPr>
            <a:r>
              <a:rPr lang="en-US" sz="1650" b="1" kern="0" spc="-33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Goal 1: </a:t>
            </a:r>
            <a:r>
              <a:rPr lang="en-US" sz="1650" b="1" kern="0" spc="-33" dirty="0">
                <a:solidFill>
                  <a:srgbClr val="4597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the review-implementation skill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43000" y="2242989"/>
            <a:ext cx="7976140" cy="54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Product/Process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If a review can't verify an AC item, the story is incomplete.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783830"/>
            <a:ext cx="8518208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Development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Coverage gaps in review trace back to the plan.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073301"/>
            <a:ext cx="8518208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Testing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You own this skill for the rest of the program.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10675" y="1811536"/>
            <a:ext cx="8124825" cy="1646486"/>
          </a:xfrm>
          <a:prstGeom prst="roundRect">
            <a:avLst>
              <a:gd name="adj" fmla="val 9256"/>
            </a:avLst>
          </a:prstGeom>
          <a:solidFill>
            <a:srgbClr val="FFFFFF">
              <a:alpha val="9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401175" y="1944886"/>
            <a:ext cx="8518208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67"/>
              </a:lnSpc>
              <a:buNone/>
            </a:pPr>
            <a:r>
              <a:rPr lang="en-US" sz="1650" b="1" kern="0" spc="-33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Goal 2: </a:t>
            </a:r>
            <a:r>
              <a:rPr lang="en-US" sz="1650" b="1" kern="0" spc="-33" dirty="0">
                <a:solidFill>
                  <a:srgbClr val="4597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 EC before building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401175" y="2242989"/>
            <a:ext cx="7976140" cy="54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Product/Process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Your EC for reviews reveals what story quality means downstream.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01175" y="2783830"/>
            <a:ext cx="8518208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Development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EC for reviews surfaces gaps in plans and code.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01175" y="3073301"/>
            <a:ext cx="8518208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Testing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You own the quality standard for reviews.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3591371"/>
            <a:ext cx="8124825" cy="2149227"/>
          </a:xfrm>
          <a:prstGeom prst="roundRect">
            <a:avLst>
              <a:gd name="adj" fmla="val 7091"/>
            </a:avLst>
          </a:prstGeom>
          <a:solidFill>
            <a:srgbClr val="FFFFFF">
              <a:alpha val="9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3000" y="3724721"/>
            <a:ext cx="8518208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67"/>
              </a:lnSpc>
              <a:buNone/>
            </a:pPr>
            <a:r>
              <a:rPr lang="en-US" sz="1650" b="1" kern="0" spc="-33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Goal 3: </a:t>
            </a:r>
            <a:r>
              <a:rPr lang="en-US" sz="1650" b="1" kern="0" spc="-33" dirty="0">
                <a:solidFill>
                  <a:srgbClr val="4597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 the full Loop 1 chain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3000" y="4022824"/>
            <a:ext cx="7976140" cy="54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Product/Process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Your story quality ripples through the entire connected system.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563666"/>
            <a:ext cx="7976140" cy="54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Development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Your Plan → Code output is validated by review, not isolated.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5104507"/>
            <a:ext cx="7976140" cy="54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Testing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You've seen your skill consume every role's output — deepen it in Loop 2.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10675" y="3591371"/>
            <a:ext cx="8124825" cy="2149227"/>
          </a:xfrm>
          <a:prstGeom prst="roundRect">
            <a:avLst>
              <a:gd name="adj" fmla="val 7091"/>
            </a:avLst>
          </a:prstGeom>
          <a:solidFill>
            <a:srgbClr val="FFFFFF">
              <a:alpha val="9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01175" y="3724721"/>
            <a:ext cx="8518208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67"/>
              </a:lnSpc>
              <a:buNone/>
            </a:pPr>
            <a:r>
              <a:rPr lang="en-US" sz="1650" b="1" kern="0" spc="-33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Goal 4: </a:t>
            </a:r>
            <a:r>
              <a:rPr lang="en-US" sz="1650" b="1" kern="0" spc="-33" dirty="0">
                <a:solidFill>
                  <a:srgbClr val="4597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 what reviews cover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401175" y="4022824"/>
            <a:ext cx="8518208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Product/Process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Reviews cover issues that stories alone can't prevent.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01175" y="4312295"/>
            <a:ext cx="8518208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Development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Reviews reveal gaps your Plan → Code skills missed.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01175" y="4601766"/>
            <a:ext cx="8518208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69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Testing — </a:t>
            </a: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Reviews are your domain. AI accelerates; you prioritize.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1939</Words>
  <Application>Microsoft Macintosh PowerPoint</Application>
  <PresentationFormat>Custom</PresentationFormat>
  <Paragraphs>152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Courier New</vt:lpstr>
      <vt:lpstr>Khula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Timothy Rayburn</cp:lastModifiedBy>
  <cp:revision>2</cp:revision>
  <dcterms:created xsi:type="dcterms:W3CDTF">2026-08-05T16:49:57Z</dcterms:created>
  <dcterms:modified xsi:type="dcterms:W3CDTF">2026-09-14T16:36:42Z</dcterms:modified>
</cp:coreProperties>
</file>