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28"/>
    <p:restoredTop sz="94610"/>
  </p:normalViewPr>
  <p:slideViewPr>
    <p:cSldViewPr snapToGrid="0" snapToObjects="1">
      <p:cViewPr varScale="1">
        <p:scale>
          <a:sx n="200" d="100"/>
          <a:sy n="200" d="100"/>
        </p:scale>
        <p:origin x="168" y="1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485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503e3ace.png"/>
          <p:cNvPicPr>
            <a:picLocks noChangeAspect="1"/>
          </p:cNvPicPr>
          <p:nvPr/>
        </p:nvPicPr>
        <p:blipFill>
          <a:blip r:embed="rId3"/>
          <a:stretch>
            <a:fillRect/>
          </a:stretch>
        </p:blipFill>
        <p:spPr>
          <a:xfrm>
            <a:off x="0" y="0"/>
            <a:ext cx="9144000" cy="57150"/>
          </a:xfrm>
          <a:prstGeom prst="rect">
            <a:avLst/>
          </a:prstGeom>
        </p:spPr>
      </p:pic>
      <p:sp>
        <p:nvSpPr>
          <p:cNvPr id="3" name="Text 0"/>
          <p:cNvSpPr/>
          <p:nvPr/>
        </p:nvSpPr>
        <p:spPr>
          <a:xfrm>
            <a:off x="3324624" y="1507927"/>
            <a:ext cx="2494455" cy="173236"/>
          </a:xfrm>
          <a:prstGeom prst="rect">
            <a:avLst/>
          </a:prstGeom>
          <a:noFill/>
          <a:ln/>
        </p:spPr>
        <p:txBody>
          <a:bodyPr wrap="square" lIns="0" tIns="0" rIns="0" bIns="0" rtlCol="0" anchor="t"/>
          <a:lstStyle/>
          <a:p>
            <a:pPr marL="0" indent="0" algn="ctr">
              <a:lnSpc>
                <a:spcPts val="1365"/>
              </a:lnSpc>
              <a:buNone/>
            </a:pPr>
            <a:r>
              <a:rPr lang="en-US" sz="975" dirty="0">
                <a:solidFill>
                  <a:srgbClr val="4597D3"/>
                </a:solidFill>
                <a:latin typeface="Arial" pitchFamily="34" charset="0"/>
                <a:ea typeface="Arial" pitchFamily="34" charset="-122"/>
                <a:cs typeface="Arial" pitchFamily="34" charset="-120"/>
              </a:rPr>
              <a:t>PRACTICE • BUILD • MASTER</a:t>
            </a:r>
            <a:endParaRPr lang="en-US" sz="975" dirty="0"/>
          </a:p>
        </p:txBody>
      </p:sp>
      <p:sp>
        <p:nvSpPr>
          <p:cNvPr id="4" name="Text 1"/>
          <p:cNvSpPr/>
          <p:nvPr/>
        </p:nvSpPr>
        <p:spPr>
          <a:xfrm>
            <a:off x="2252122" y="1869086"/>
            <a:ext cx="4639456" cy="495300"/>
          </a:xfrm>
          <a:prstGeom prst="rect">
            <a:avLst/>
          </a:prstGeom>
          <a:noFill/>
          <a:ln/>
        </p:spPr>
        <p:txBody>
          <a:bodyPr wrap="square" lIns="0" tIns="0" rIns="0" bIns="0" rtlCol="0" anchor="t"/>
          <a:lstStyle/>
          <a:p>
            <a:pPr marL="0" indent="0" algn="ctr">
              <a:lnSpc>
                <a:spcPts val="3900"/>
              </a:lnSpc>
              <a:buNone/>
            </a:pPr>
            <a:r>
              <a:rPr lang="en-US" sz="3900" b="1" dirty="0">
                <a:solidFill>
                  <a:srgbClr val="005596"/>
                </a:solidFill>
                <a:latin typeface="Arial" pitchFamily="34" charset="0"/>
                <a:ea typeface="Arial" pitchFamily="34" charset="-122"/>
                <a:cs typeface="Arial" pitchFamily="34" charset="-120"/>
              </a:rPr>
              <a:t>AI Development</a:t>
            </a:r>
            <a:endParaRPr lang="en-US" sz="3900" dirty="0"/>
          </a:p>
        </p:txBody>
      </p:sp>
      <p:sp>
        <p:nvSpPr>
          <p:cNvPr id="5" name="Text 2"/>
          <p:cNvSpPr/>
          <p:nvPr/>
        </p:nvSpPr>
        <p:spPr>
          <a:xfrm>
            <a:off x="2544431" y="2552310"/>
            <a:ext cx="4054839" cy="495300"/>
          </a:xfrm>
          <a:prstGeom prst="rect">
            <a:avLst/>
          </a:prstGeom>
          <a:noFill/>
          <a:ln/>
        </p:spPr>
        <p:txBody>
          <a:bodyPr wrap="square" lIns="0" tIns="0" rIns="0" bIns="0" rtlCol="0" anchor="t"/>
          <a:lstStyle/>
          <a:p>
            <a:pPr marL="0" indent="0" algn="ctr">
              <a:lnSpc>
                <a:spcPts val="3900"/>
              </a:lnSpc>
              <a:buNone/>
            </a:pPr>
            <a:r>
              <a:rPr lang="en-US" sz="3900" b="1" dirty="0">
                <a:solidFill>
                  <a:srgbClr val="4597D3"/>
                </a:solidFill>
                <a:latin typeface="Arial" pitchFamily="34" charset="0"/>
                <a:ea typeface="Arial" pitchFamily="34" charset="-122"/>
                <a:cs typeface="Arial" pitchFamily="34" charset="-120"/>
              </a:rPr>
              <a:t>Design Katas</a:t>
            </a:r>
            <a:endParaRPr lang="en-US" sz="3900" dirty="0"/>
          </a:p>
        </p:txBody>
      </p:sp>
      <p:sp>
        <p:nvSpPr>
          <p:cNvPr id="6" name="Text 3"/>
          <p:cNvSpPr/>
          <p:nvPr/>
        </p:nvSpPr>
        <p:spPr>
          <a:xfrm>
            <a:off x="3036043" y="3395663"/>
            <a:ext cx="3071616" cy="239911"/>
          </a:xfrm>
          <a:prstGeom prst="rect">
            <a:avLst/>
          </a:prstGeom>
          <a:noFill/>
          <a:ln/>
        </p:spPr>
        <p:txBody>
          <a:bodyPr wrap="square" lIns="0" tIns="0" rIns="0" bIns="0" rtlCol="0" anchor="t"/>
          <a:lstStyle/>
          <a:p>
            <a:pPr marL="0" indent="0" algn="ctr">
              <a:lnSpc>
                <a:spcPts val="1890"/>
              </a:lnSpc>
              <a:spcBef>
                <a:spcPts val="1200"/>
              </a:spcBef>
              <a:buNone/>
            </a:pPr>
            <a:r>
              <a:rPr lang="en-US" sz="1350" dirty="0">
                <a:solidFill>
                  <a:srgbClr val="666666"/>
                </a:solidFill>
                <a:latin typeface="Arial" pitchFamily="34" charset="0"/>
                <a:ea typeface="Arial" pitchFamily="34" charset="-122"/>
                <a:cs typeface="Arial" pitchFamily="34" charset="-120"/>
              </a:rPr>
              <a:t>14 Progressively Challenging Exercises</a:t>
            </a:r>
            <a:endParaRPr lang="en-US" sz="1350" dirty="0"/>
          </a:p>
        </p:txBody>
      </p:sp>
      <p:sp>
        <p:nvSpPr>
          <p:cNvPr id="7" name="Text 4"/>
          <p:cNvSpPr/>
          <p:nvPr/>
        </p:nvSpPr>
        <p:spPr>
          <a:xfrm>
            <a:off x="219456" y="4692104"/>
            <a:ext cx="8705088" cy="146596"/>
          </a:xfrm>
          <a:prstGeom prst="rect">
            <a:avLst/>
          </a:prstGeom>
          <a:noFill/>
          <a:ln/>
        </p:spPr>
        <p:txBody>
          <a:bodyPr wrap="square" lIns="0" tIns="0" rIns="0" bIns="0" rtlCol="0" anchor="t"/>
          <a:lstStyle/>
          <a:p>
            <a:pPr marL="0" indent="0" algn="ctr">
              <a:lnSpc>
                <a:spcPts val="1155"/>
              </a:lnSpc>
              <a:buNone/>
            </a:pPr>
            <a:r>
              <a:rPr lang="en-US" sz="825" dirty="0">
                <a:solidFill>
                  <a:srgbClr val="A7A8A9"/>
                </a:solidFill>
                <a:latin typeface="Arial" pitchFamily="34" charset="0"/>
                <a:ea typeface="Arial" pitchFamily="34" charset="-122"/>
                <a:cs typeface="Arial" pitchFamily="34" charset="-120"/>
              </a:rPr>
              <a:t>~30 min each • Algorithm • UI/UX • State • Probability • Visualization</a:t>
            </a:r>
            <a:endParaRPr lang="en-US" sz="825" dirty="0"/>
          </a:p>
        </p:txBody>
      </p:sp>
      <p:pic>
        <p:nvPicPr>
          <p:cNvPr id="8" name="Image 1" descr="/tmp/rasterized-gradient-fdc02951.png"/>
          <p:cNvPicPr>
            <a:picLocks noChangeAspect="1"/>
          </p:cNvPicPr>
          <p:nvPr/>
        </p:nvPicPr>
        <p:blipFill>
          <a:blip r:embed="rId4"/>
          <a:stretch>
            <a:fillRect/>
          </a:stretch>
        </p:blipFill>
        <p:spPr>
          <a:xfrm>
            <a:off x="0" y="5086350"/>
            <a:ext cx="9144000" cy="571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3487f1ed.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381000" y="266700"/>
            <a:ext cx="4323398" cy="304800"/>
          </a:xfrm>
          <a:prstGeom prst="rect">
            <a:avLst/>
          </a:prstGeom>
          <a:noFill/>
          <a:ln/>
        </p:spPr>
        <p:txBody>
          <a:bodyPr wrap="square" lIns="0" tIns="0" rIns="0" bIns="0" rtlCol="0" anchor="t"/>
          <a:lstStyle/>
          <a:p>
            <a:pPr marL="0" indent="0" algn="l">
              <a:lnSpc>
                <a:spcPts val="2400"/>
              </a:lnSpc>
              <a:buNone/>
            </a:pPr>
            <a:r>
              <a:rPr lang="en-US" sz="2400" b="1" dirty="0">
                <a:solidFill>
                  <a:srgbClr val="005596"/>
                </a:solidFill>
                <a:latin typeface="Arial" pitchFamily="34" charset="0"/>
                <a:ea typeface="Arial" pitchFamily="34" charset="-122"/>
                <a:cs typeface="Arial" pitchFamily="34" charset="-120"/>
              </a:rPr>
              <a:t>Rules and Process</a:t>
            </a:r>
            <a:endParaRPr lang="en-US" sz="2400" dirty="0"/>
          </a:p>
        </p:txBody>
      </p:sp>
      <p:sp>
        <p:nvSpPr>
          <p:cNvPr id="4" name="Text 1"/>
          <p:cNvSpPr/>
          <p:nvPr/>
        </p:nvSpPr>
        <p:spPr>
          <a:xfrm>
            <a:off x="381000" y="647700"/>
            <a:ext cx="8627364" cy="173236"/>
          </a:xfrm>
          <a:prstGeom prst="rect">
            <a:avLst/>
          </a:prstGeom>
          <a:noFill/>
          <a:ln/>
        </p:spPr>
        <p:txBody>
          <a:bodyPr wrap="square" lIns="0" tIns="0" rIns="0" bIns="0" rtlCol="0" anchor="t"/>
          <a:lstStyle/>
          <a:p>
            <a:pPr marL="0" indent="0" algn="l">
              <a:lnSpc>
                <a:spcPts val="1365"/>
              </a:lnSpc>
              <a:spcBef>
                <a:spcPts val="600"/>
              </a:spcBef>
              <a:buNone/>
            </a:pPr>
            <a:r>
              <a:rPr lang="en-US" sz="975" dirty="0">
                <a:solidFill>
                  <a:srgbClr val="4597D3"/>
                </a:solidFill>
                <a:latin typeface="Arial" pitchFamily="34" charset="0"/>
                <a:ea typeface="Arial" pitchFamily="34" charset="-122"/>
                <a:cs typeface="Arial" pitchFamily="34" charset="-120"/>
              </a:rPr>
              <a:t>How we practice with design katas</a:t>
            </a:r>
            <a:endParaRPr lang="en-US" sz="975" dirty="0"/>
          </a:p>
        </p:txBody>
      </p:sp>
      <p:sp>
        <p:nvSpPr>
          <p:cNvPr id="5" name="Text 2"/>
          <p:cNvSpPr/>
          <p:nvPr/>
        </p:nvSpPr>
        <p:spPr>
          <a:xfrm>
            <a:off x="381000" y="1749921"/>
            <a:ext cx="266700" cy="266700"/>
          </a:xfrm>
          <a:prstGeom prst="roundRect">
            <a:avLst>
              <a:gd name="adj" fmla="val 50000"/>
            </a:avLst>
          </a:prstGeom>
          <a:solidFill>
            <a:srgbClr val="005596"/>
          </a:solidFill>
          <a:ln/>
        </p:spPr>
        <p:txBody>
          <a:bodyPr wrap="square" rtlCol="0" anchor="ctr"/>
          <a:lstStyle/>
          <a:p>
            <a:pPr marL="0" indent="0">
              <a:buNone/>
            </a:pPr>
            <a:endParaRPr lang="en-US" dirty="0"/>
          </a:p>
        </p:txBody>
      </p:sp>
      <p:sp>
        <p:nvSpPr>
          <p:cNvPr id="6" name="Text 3"/>
          <p:cNvSpPr/>
          <p:nvPr/>
        </p:nvSpPr>
        <p:spPr>
          <a:xfrm>
            <a:off x="461367" y="1749921"/>
            <a:ext cx="108085"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781050" y="1749921"/>
            <a:ext cx="3974702"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005596"/>
                </a:solidFill>
                <a:latin typeface="Arial" pitchFamily="34" charset="0"/>
                <a:ea typeface="Arial" pitchFamily="34" charset="-122"/>
                <a:cs typeface="Arial" pitchFamily="34" charset="-120"/>
              </a:rPr>
              <a:t>Build Each Kata 10 Times</a:t>
            </a:r>
            <a:endParaRPr lang="en-US" sz="1050" dirty="0"/>
          </a:p>
        </p:txBody>
      </p:sp>
      <p:sp>
        <p:nvSpPr>
          <p:cNvPr id="8" name="Text 5"/>
          <p:cNvSpPr/>
          <p:nvPr/>
        </p:nvSpPr>
        <p:spPr>
          <a:xfrm>
            <a:off x="781050" y="1974652"/>
            <a:ext cx="3974702" cy="319980"/>
          </a:xfrm>
          <a:prstGeom prst="rect">
            <a:avLst/>
          </a:prstGeom>
          <a:noFill/>
          <a:ln/>
        </p:spPr>
        <p:txBody>
          <a:bodyPr wrap="square" lIns="0" tIns="0" rIns="0" bIns="0" rtlCol="0" anchor="t"/>
          <a:lstStyle/>
          <a:p>
            <a:pPr marL="0" indent="0" algn="l">
              <a:lnSpc>
                <a:spcPts val="1260"/>
              </a:lnSpc>
              <a:buNone/>
            </a:pPr>
            <a:r>
              <a:rPr lang="en-US" sz="900" dirty="0">
                <a:solidFill>
                  <a:srgbClr val="666666"/>
                </a:solidFill>
                <a:latin typeface="Arial" pitchFamily="34" charset="0"/>
                <a:ea typeface="Arial" pitchFamily="34" charset="-122"/>
                <a:cs typeface="Arial" pitchFamily="34" charset="-120"/>
              </a:rPr>
              <a:t>Time how long it takes to complete the first and last iteration to measure improvement</a:t>
            </a:r>
            <a:endParaRPr lang="en-US" sz="900" dirty="0"/>
          </a:p>
        </p:txBody>
      </p:sp>
      <p:sp>
        <p:nvSpPr>
          <p:cNvPr id="9" name="Text 6"/>
          <p:cNvSpPr/>
          <p:nvPr/>
        </p:nvSpPr>
        <p:spPr>
          <a:xfrm>
            <a:off x="381000" y="2427982"/>
            <a:ext cx="266700" cy="266700"/>
          </a:xfrm>
          <a:prstGeom prst="roundRect">
            <a:avLst>
              <a:gd name="adj" fmla="val 50000"/>
            </a:avLst>
          </a:prstGeom>
          <a:solidFill>
            <a:srgbClr val="4597D3"/>
          </a:solidFill>
          <a:ln/>
        </p:spPr>
        <p:txBody>
          <a:bodyPr wrap="square" rtlCol="0" anchor="ctr"/>
          <a:lstStyle/>
          <a:p>
            <a:pPr marL="0" indent="0">
              <a:buNone/>
            </a:pPr>
            <a:endParaRPr lang="en-US" dirty="0"/>
          </a:p>
        </p:txBody>
      </p:sp>
      <p:sp>
        <p:nvSpPr>
          <p:cNvPr id="10" name="Text 7"/>
          <p:cNvSpPr/>
          <p:nvPr/>
        </p:nvSpPr>
        <p:spPr>
          <a:xfrm>
            <a:off x="461367" y="2427982"/>
            <a:ext cx="108085"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p:nvPr/>
        </p:nvSpPr>
        <p:spPr>
          <a:xfrm>
            <a:off x="781050" y="2427982"/>
            <a:ext cx="3974702"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005596"/>
                </a:solidFill>
                <a:latin typeface="Arial" pitchFamily="34" charset="0"/>
                <a:ea typeface="Arial" pitchFamily="34" charset="-122"/>
                <a:cs typeface="Arial" pitchFamily="34" charset="-120"/>
              </a:rPr>
              <a:t>Iterate on Your AI Workflow</a:t>
            </a:r>
            <a:endParaRPr lang="en-US" sz="1050" dirty="0"/>
          </a:p>
        </p:txBody>
      </p:sp>
      <p:sp>
        <p:nvSpPr>
          <p:cNvPr id="12" name="Text 9"/>
          <p:cNvSpPr/>
          <p:nvPr/>
        </p:nvSpPr>
        <p:spPr>
          <a:xfrm>
            <a:off x="781050" y="2652713"/>
            <a:ext cx="3974702" cy="319980"/>
          </a:xfrm>
          <a:prstGeom prst="rect">
            <a:avLst/>
          </a:prstGeom>
          <a:noFill/>
          <a:ln/>
        </p:spPr>
        <p:txBody>
          <a:bodyPr wrap="square" lIns="0" tIns="0" rIns="0" bIns="0" rtlCol="0" anchor="t"/>
          <a:lstStyle/>
          <a:p>
            <a:pPr marL="0" indent="0" algn="l">
              <a:lnSpc>
                <a:spcPts val="1260"/>
              </a:lnSpc>
              <a:buNone/>
            </a:pPr>
            <a:r>
              <a:rPr lang="en-US" sz="900" dirty="0">
                <a:solidFill>
                  <a:srgbClr val="666666"/>
                </a:solidFill>
                <a:latin typeface="Arial" pitchFamily="34" charset="0"/>
                <a:ea typeface="Arial" pitchFamily="34" charset="-122"/>
                <a:cs typeface="Arial" pitchFamily="34" charset="-120"/>
              </a:rPr>
              <a:t>Between each build, update rules, workflows, and tools in your AI development environment</a:t>
            </a:r>
            <a:endParaRPr lang="en-US" sz="900" dirty="0"/>
          </a:p>
        </p:txBody>
      </p:sp>
      <p:sp>
        <p:nvSpPr>
          <p:cNvPr id="13" name="Text 10"/>
          <p:cNvSpPr/>
          <p:nvPr/>
        </p:nvSpPr>
        <p:spPr>
          <a:xfrm>
            <a:off x="381000" y="3106043"/>
            <a:ext cx="266700" cy="266700"/>
          </a:xfrm>
          <a:prstGeom prst="roundRect">
            <a:avLst>
              <a:gd name="adj" fmla="val 50000"/>
            </a:avLst>
          </a:prstGeom>
          <a:solidFill>
            <a:srgbClr val="5BC2A7"/>
          </a:solidFill>
          <a:ln/>
        </p:spPr>
        <p:txBody>
          <a:bodyPr wrap="square" rtlCol="0" anchor="ctr"/>
          <a:lstStyle/>
          <a:p>
            <a:pPr marL="0" indent="0">
              <a:buNone/>
            </a:pPr>
            <a:endParaRPr lang="en-US" dirty="0"/>
          </a:p>
        </p:txBody>
      </p:sp>
      <p:sp>
        <p:nvSpPr>
          <p:cNvPr id="14" name="Text 11"/>
          <p:cNvSpPr/>
          <p:nvPr/>
        </p:nvSpPr>
        <p:spPr>
          <a:xfrm>
            <a:off x="461367" y="3106043"/>
            <a:ext cx="108085"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3</a:t>
            </a:r>
            <a:endParaRPr lang="en-US" sz="1500" dirty="0"/>
          </a:p>
        </p:txBody>
      </p:sp>
      <p:sp>
        <p:nvSpPr>
          <p:cNvPr id="15" name="Text 12"/>
          <p:cNvSpPr/>
          <p:nvPr/>
        </p:nvSpPr>
        <p:spPr>
          <a:xfrm>
            <a:off x="781050" y="3106043"/>
            <a:ext cx="3974702"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005596"/>
                </a:solidFill>
                <a:latin typeface="Arial" pitchFamily="34" charset="0"/>
                <a:ea typeface="Arial" pitchFamily="34" charset="-122"/>
                <a:cs typeface="Arial" pitchFamily="34" charset="-120"/>
              </a:rPr>
              <a:t>Keep Instructions Generic</a:t>
            </a:r>
            <a:endParaRPr lang="en-US" sz="1050" dirty="0"/>
          </a:p>
        </p:txBody>
      </p:sp>
      <p:sp>
        <p:nvSpPr>
          <p:cNvPr id="16" name="Text 13"/>
          <p:cNvSpPr/>
          <p:nvPr/>
        </p:nvSpPr>
        <p:spPr>
          <a:xfrm>
            <a:off x="781050" y="3330773"/>
            <a:ext cx="3974702" cy="319980"/>
          </a:xfrm>
          <a:prstGeom prst="rect">
            <a:avLst/>
          </a:prstGeom>
          <a:noFill/>
          <a:ln/>
        </p:spPr>
        <p:txBody>
          <a:bodyPr wrap="square" lIns="0" tIns="0" rIns="0" bIns="0" rtlCol="0" anchor="t"/>
          <a:lstStyle/>
          <a:p>
            <a:pPr marL="0" indent="0" algn="l">
              <a:lnSpc>
                <a:spcPts val="1260"/>
              </a:lnSpc>
              <a:buNone/>
            </a:pPr>
            <a:r>
              <a:rPr lang="en-US" sz="900" dirty="0">
                <a:solidFill>
                  <a:srgbClr val="666666"/>
                </a:solidFill>
                <a:latin typeface="Arial" pitchFamily="34" charset="0"/>
                <a:ea typeface="Arial" pitchFamily="34" charset="-122"/>
                <a:cs typeface="Arial" pitchFamily="34" charset="-120"/>
              </a:rPr>
              <a:t>No kata-specific instructions in workflows and rules - they must work for the next kata too</a:t>
            </a:r>
            <a:endParaRPr lang="en-US" sz="900" dirty="0"/>
          </a:p>
        </p:txBody>
      </p:sp>
      <p:sp>
        <p:nvSpPr>
          <p:cNvPr id="17" name="Text 14"/>
          <p:cNvSpPr/>
          <p:nvPr/>
        </p:nvSpPr>
        <p:spPr>
          <a:xfrm>
            <a:off x="381000" y="3784104"/>
            <a:ext cx="266700" cy="266700"/>
          </a:xfrm>
          <a:prstGeom prst="roundRect">
            <a:avLst>
              <a:gd name="adj" fmla="val 50000"/>
            </a:avLst>
          </a:prstGeom>
          <a:solidFill>
            <a:srgbClr val="F5BB41"/>
          </a:solidFill>
          <a:ln/>
        </p:spPr>
        <p:txBody>
          <a:bodyPr wrap="square" rtlCol="0" anchor="ctr"/>
          <a:lstStyle/>
          <a:p>
            <a:pPr marL="0" indent="0">
              <a:buNone/>
            </a:pPr>
            <a:endParaRPr lang="en-US" dirty="0"/>
          </a:p>
        </p:txBody>
      </p:sp>
      <p:sp>
        <p:nvSpPr>
          <p:cNvPr id="18" name="Text 15"/>
          <p:cNvSpPr/>
          <p:nvPr/>
        </p:nvSpPr>
        <p:spPr>
          <a:xfrm>
            <a:off x="461367" y="3784104"/>
            <a:ext cx="108085"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4</a:t>
            </a:r>
            <a:endParaRPr lang="en-US" sz="1500" dirty="0"/>
          </a:p>
        </p:txBody>
      </p:sp>
      <p:sp>
        <p:nvSpPr>
          <p:cNvPr id="19" name="Text 16"/>
          <p:cNvSpPr/>
          <p:nvPr/>
        </p:nvSpPr>
        <p:spPr>
          <a:xfrm>
            <a:off x="781050" y="3784104"/>
            <a:ext cx="3974702"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005596"/>
                </a:solidFill>
                <a:latin typeface="Arial" pitchFamily="34" charset="0"/>
                <a:ea typeface="Arial" pitchFamily="34" charset="-122"/>
                <a:cs typeface="Arial" pitchFamily="34" charset="-120"/>
              </a:rPr>
              <a:t>Monthly Cadence</a:t>
            </a:r>
            <a:endParaRPr lang="en-US" sz="1050" dirty="0"/>
          </a:p>
        </p:txBody>
      </p:sp>
      <p:sp>
        <p:nvSpPr>
          <p:cNvPr id="20" name="Text 17"/>
          <p:cNvSpPr/>
          <p:nvPr/>
        </p:nvSpPr>
        <p:spPr>
          <a:xfrm>
            <a:off x="781050" y="4008834"/>
            <a:ext cx="3974702" cy="319980"/>
          </a:xfrm>
          <a:prstGeom prst="rect">
            <a:avLst/>
          </a:prstGeom>
          <a:noFill/>
          <a:ln/>
        </p:spPr>
        <p:txBody>
          <a:bodyPr wrap="square" lIns="0" tIns="0" rIns="0" bIns="0" rtlCol="0" anchor="t"/>
          <a:lstStyle/>
          <a:p>
            <a:pPr marL="0" indent="0" algn="l">
              <a:lnSpc>
                <a:spcPts val="1260"/>
              </a:lnSpc>
              <a:buNone/>
            </a:pPr>
            <a:r>
              <a:rPr lang="en-US" sz="900" dirty="0">
                <a:solidFill>
                  <a:srgbClr val="666666"/>
                </a:solidFill>
                <a:latin typeface="Arial" pitchFamily="34" charset="0"/>
                <a:ea typeface="Arial" pitchFamily="34" charset="-122"/>
                <a:cs typeface="Arial" pitchFamily="34" charset="-120"/>
              </a:rPr>
              <a:t>We do this monthly as a group - private practice available for those who want to go faster</a:t>
            </a:r>
            <a:endParaRPr lang="en-US" sz="900" dirty="0"/>
          </a:p>
        </p:txBody>
      </p:sp>
      <p:pic>
        <p:nvPicPr>
          <p:cNvPr id="21" name="Image 1" descr="/tmp/rasterized-gradient-38d74df3.png"/>
          <p:cNvPicPr>
            <a:picLocks noChangeAspect="1"/>
          </p:cNvPicPr>
          <p:nvPr/>
        </p:nvPicPr>
        <p:blipFill>
          <a:blip r:embed="rId4"/>
          <a:stretch>
            <a:fillRect/>
          </a:stretch>
        </p:blipFill>
        <p:spPr>
          <a:xfrm>
            <a:off x="4982617" y="2090738"/>
            <a:ext cx="3856583" cy="1897261"/>
          </a:xfrm>
          <a:prstGeom prst="rect">
            <a:avLst/>
          </a:prstGeom>
        </p:spPr>
      </p:pic>
      <p:sp>
        <p:nvSpPr>
          <p:cNvPr id="22" name="Text 18"/>
          <p:cNvSpPr/>
          <p:nvPr/>
        </p:nvSpPr>
        <p:spPr>
          <a:xfrm>
            <a:off x="5211217" y="2281238"/>
            <a:ext cx="3506233" cy="159990"/>
          </a:xfrm>
          <a:prstGeom prst="rect">
            <a:avLst/>
          </a:prstGeom>
          <a:noFill/>
          <a:ln/>
        </p:spPr>
        <p:txBody>
          <a:bodyPr wrap="square" lIns="0" tIns="0" rIns="0" bIns="0" rtlCol="0" anchor="t"/>
          <a:lstStyle/>
          <a:p>
            <a:pPr marL="0" indent="0" algn="l">
              <a:lnSpc>
                <a:spcPts val="1260"/>
              </a:lnSpc>
              <a:spcAft>
                <a:spcPts val="1200"/>
              </a:spcAft>
              <a:buNone/>
            </a:pPr>
            <a:r>
              <a:rPr lang="en-US" sz="900" dirty="0">
                <a:solidFill>
                  <a:srgbClr val="4597D3"/>
                </a:solidFill>
                <a:latin typeface="Arial" pitchFamily="34" charset="0"/>
                <a:ea typeface="Arial" pitchFamily="34" charset="-122"/>
                <a:cs typeface="Arial" pitchFamily="34" charset="-120"/>
              </a:rPr>
              <a:t>THE GOAL</a:t>
            </a:r>
            <a:endParaRPr lang="en-US" sz="900" dirty="0"/>
          </a:p>
        </p:txBody>
      </p:sp>
      <p:sp>
        <p:nvSpPr>
          <p:cNvPr id="23" name="Text 19"/>
          <p:cNvSpPr/>
          <p:nvPr/>
        </p:nvSpPr>
        <p:spPr>
          <a:xfrm>
            <a:off x="5211217" y="2593628"/>
            <a:ext cx="3506233" cy="371475"/>
          </a:xfrm>
          <a:prstGeom prst="rect">
            <a:avLst/>
          </a:prstGeom>
          <a:noFill/>
          <a:ln/>
        </p:spPr>
        <p:txBody>
          <a:bodyPr wrap="square" lIns="0" tIns="0" rIns="0" bIns="0" rtlCol="0" anchor="t"/>
          <a:lstStyle/>
          <a:p>
            <a:pPr marL="0" indent="0" algn="l">
              <a:lnSpc>
                <a:spcPts val="1463"/>
              </a:lnSpc>
              <a:spcAft>
                <a:spcPts val="1200"/>
              </a:spcAft>
              <a:buNone/>
            </a:pPr>
            <a:r>
              <a:rPr lang="en-US" sz="975" dirty="0">
                <a:solidFill>
                  <a:srgbClr val="333333"/>
                </a:solidFill>
                <a:latin typeface="Arial" pitchFamily="34" charset="0"/>
                <a:ea typeface="Arial" pitchFamily="34" charset="-122"/>
                <a:cs typeface="Arial" pitchFamily="34" charset="-120"/>
              </a:rPr>
              <a:t>Build transferable AI development skills that compound across every project you work on.</a:t>
            </a:r>
            <a:endParaRPr lang="en-US" sz="975" dirty="0"/>
          </a:p>
        </p:txBody>
      </p:sp>
      <p:sp>
        <p:nvSpPr>
          <p:cNvPr id="24" name="Text 20"/>
          <p:cNvSpPr/>
          <p:nvPr/>
        </p:nvSpPr>
        <p:spPr>
          <a:xfrm>
            <a:off x="5211217" y="3117503"/>
            <a:ext cx="3437483" cy="679996"/>
          </a:xfrm>
          <a:prstGeom prst="roundRect">
            <a:avLst>
              <a:gd name="adj" fmla="val 11206"/>
            </a:avLst>
          </a:prstGeom>
          <a:solidFill>
            <a:srgbClr val="FFFFFF"/>
          </a:solidFill>
          <a:ln/>
        </p:spPr>
        <p:txBody>
          <a:bodyPr wrap="square" rtlCol="0" anchor="ctr"/>
          <a:lstStyle/>
          <a:p>
            <a:pPr marL="0" indent="0">
              <a:buNone/>
            </a:pPr>
            <a:endParaRPr lang="en-US" dirty="0"/>
          </a:p>
        </p:txBody>
      </p:sp>
      <p:sp>
        <p:nvSpPr>
          <p:cNvPr id="25" name="Text 21"/>
          <p:cNvSpPr/>
          <p:nvPr/>
        </p:nvSpPr>
        <p:spPr>
          <a:xfrm>
            <a:off x="5344567" y="3250853"/>
            <a:ext cx="3234199"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005596"/>
                </a:solidFill>
                <a:latin typeface="Arial" pitchFamily="34" charset="0"/>
                <a:ea typeface="Arial" pitchFamily="34" charset="-122"/>
                <a:cs typeface="Arial" pitchFamily="34" charset="-120"/>
              </a:rPr>
              <a:t>ITERATION LOOP</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2e7e1cb2.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4364688"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Texas Hold'em Probability Simulator</a:t>
            </a:r>
            <a:endParaRPr lang="en-US" sz="1950" dirty="0"/>
          </a:p>
        </p:txBody>
      </p:sp>
      <p:sp>
        <p:nvSpPr>
          <p:cNvPr id="4" name="Text 1"/>
          <p:cNvSpPr/>
          <p:nvPr/>
        </p:nvSpPr>
        <p:spPr>
          <a:xfrm>
            <a:off x="381000" y="2035671"/>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239417"/>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At a 9-handed Texas Hold'em table without betting or folding, deal hands to all players and display each hand in the UI. Show live win probability percentages for each player that update as community cards are revealed through the flop, turn, and river.</a:t>
            </a:r>
            <a:endParaRPr lang="en-US" sz="900" dirty="0"/>
          </a:p>
        </p:txBody>
      </p:sp>
      <p:sp>
        <p:nvSpPr>
          <p:cNvPr id="6" name="Text 3"/>
          <p:cNvSpPr/>
          <p:nvPr/>
        </p:nvSpPr>
        <p:spPr>
          <a:xfrm>
            <a:off x="381000" y="3039517"/>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243263"/>
            <a:ext cx="4414329" cy="293191"/>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Monte Carlo simulation, card deck management, probability calculation, responsive UI updates</a:t>
            </a:r>
            <a:endParaRPr lang="en-US" sz="825" dirty="0"/>
          </a:p>
        </p:txBody>
      </p:sp>
      <p:sp>
        <p:nvSpPr>
          <p:cNvPr id="8" name="Text 5"/>
          <p:cNvSpPr/>
          <p:nvPr/>
        </p:nvSpPr>
        <p:spPr>
          <a:xfrm>
            <a:off x="4937373" y="2006203"/>
            <a:ext cx="3901827" cy="1559570"/>
          </a:xfrm>
          <a:prstGeom prst="roundRect">
            <a:avLst>
              <a:gd name="adj" fmla="val 4886"/>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006203"/>
            <a:ext cx="0" cy="1559570"/>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139553"/>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381399"/>
            <a:ext cx="0" cy="293191"/>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381399"/>
            <a:ext cx="3562097" cy="293191"/>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hand strength classification labels (high card through royal flush) updating in real-time</a:t>
            </a:r>
            <a:endParaRPr lang="en-US" sz="825" dirty="0"/>
          </a:p>
        </p:txBody>
      </p:sp>
      <p:sp>
        <p:nvSpPr>
          <p:cNvPr id="13" name="Shape 10"/>
          <p:cNvSpPr/>
          <p:nvPr/>
        </p:nvSpPr>
        <p:spPr>
          <a:xfrm>
            <a:off x="5108823" y="2731740"/>
            <a:ext cx="0" cy="293191"/>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293191"/>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equity all-in scenarios showing exact odds vs Monte Carlo estimates</a:t>
            </a:r>
            <a:endParaRPr lang="en-US" sz="825" dirty="0"/>
          </a:p>
        </p:txBody>
      </p:sp>
      <p:sp>
        <p:nvSpPr>
          <p:cNvPr id="15" name="Shape 12"/>
          <p:cNvSpPr/>
          <p:nvPr/>
        </p:nvSpPr>
        <p:spPr>
          <a:xfrm>
            <a:off x="5108823" y="3082082"/>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308208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what if mode to set specific cards for any player</a:t>
            </a:r>
            <a:endParaRPr lang="en-US" sz="825" dirty="0"/>
          </a:p>
        </p:txBody>
      </p:sp>
      <p:sp>
        <p:nvSpPr>
          <p:cNvPr id="17" name="Shape 14"/>
          <p:cNvSpPr/>
          <p:nvPr/>
        </p:nvSpPr>
        <p:spPr>
          <a:xfrm>
            <a:off x="5108823" y="3285827"/>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285827"/>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Show outs count and percentage for drawing hands</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Expert | Alg 1 | UI 1 | State 1 | Math 2 | Viz 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6537deb2.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382512"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Sorting Algorithm Visualizer</a:t>
            </a:r>
            <a:endParaRPr lang="en-US" sz="1950" dirty="0"/>
          </a:p>
        </p:txBody>
      </p:sp>
      <p:sp>
        <p:nvSpPr>
          <p:cNvPr id="4" name="Text 1"/>
          <p:cNvSpPr/>
          <p:nvPr/>
        </p:nvSpPr>
        <p:spPr>
          <a:xfrm>
            <a:off x="381000" y="2035671"/>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239417"/>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Create a visual comparison tool that animates at least 4 sorting algorithms (bubble, insertion, merge, quicksort) side-by-side on randomized arrays of 50 elements. Include controls for speed, array size, and a step counter showing comparisons/swaps for each algorithm.</a:t>
            </a:r>
            <a:endParaRPr lang="en-US" sz="900" dirty="0"/>
          </a:p>
        </p:txBody>
      </p:sp>
      <p:sp>
        <p:nvSpPr>
          <p:cNvPr id="6" name="Text 3"/>
          <p:cNvSpPr/>
          <p:nvPr/>
        </p:nvSpPr>
        <p:spPr>
          <a:xfrm>
            <a:off x="381000" y="3039517"/>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243263"/>
            <a:ext cx="4414329" cy="293191"/>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Algorithm implementation, synchronized animation timing, state management across multiple visualizations</a:t>
            </a:r>
            <a:endParaRPr lang="en-US" sz="825" dirty="0"/>
          </a:p>
        </p:txBody>
      </p:sp>
      <p:sp>
        <p:nvSpPr>
          <p:cNvPr id="8" name="Text 5"/>
          <p:cNvSpPr/>
          <p:nvPr/>
        </p:nvSpPr>
        <p:spPr>
          <a:xfrm>
            <a:off x="4937373" y="2079575"/>
            <a:ext cx="3901827" cy="1412974"/>
          </a:xfrm>
          <a:prstGeom prst="roundRect">
            <a:avLst>
              <a:gd name="adj" fmla="val 5393"/>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079575"/>
            <a:ext cx="0" cy="1412974"/>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12925"/>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454771"/>
            <a:ext cx="0" cy="293191"/>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454771"/>
            <a:ext cx="3562097" cy="293191"/>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sound effects where pitch corresponds to element value being compared/swapped</a:t>
            </a:r>
            <a:endParaRPr lang="en-US" sz="825" dirty="0"/>
          </a:p>
        </p:txBody>
      </p:sp>
      <p:sp>
        <p:nvSpPr>
          <p:cNvPr id="13" name="Shape 10"/>
          <p:cNvSpPr/>
          <p:nvPr/>
        </p:nvSpPr>
        <p:spPr>
          <a:xfrm>
            <a:off x="5108823" y="2805113"/>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805113"/>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Include Big-O notation with real-time tracking vs theoretical bounds</a:t>
            </a:r>
            <a:endParaRPr lang="en-US" sz="825" dirty="0"/>
          </a:p>
        </p:txBody>
      </p:sp>
      <p:sp>
        <p:nvSpPr>
          <p:cNvPr id="15" name="Shape 12"/>
          <p:cNvSpPr/>
          <p:nvPr/>
        </p:nvSpPr>
        <p:spPr>
          <a:xfrm>
            <a:off x="5108823" y="3008858"/>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3008858"/>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heap sort, radix sort, shell sort, tim sort</a:t>
            </a:r>
            <a:endParaRPr lang="en-US" sz="825" dirty="0"/>
          </a:p>
        </p:txBody>
      </p:sp>
      <p:sp>
        <p:nvSpPr>
          <p:cNvPr id="17" name="Shape 14"/>
          <p:cNvSpPr/>
          <p:nvPr/>
        </p:nvSpPr>
        <p:spPr>
          <a:xfrm>
            <a:off x="5108823" y="3212604"/>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212604"/>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race mode with finish-line animation</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Intermediate | Alg 2 | UI 1 | State 1 | Math 0 | Viz 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06516c70.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073590"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Pathfinding Grid Explorer</a:t>
            </a:r>
            <a:endParaRPr lang="en-US" sz="1950" dirty="0"/>
          </a:p>
        </p:txBody>
      </p:sp>
      <p:sp>
        <p:nvSpPr>
          <p:cNvPr id="4" name="Text 1"/>
          <p:cNvSpPr/>
          <p:nvPr/>
        </p:nvSpPr>
        <p:spPr>
          <a:xfrm>
            <a:off x="381000" y="2108895"/>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312640"/>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Build an interactive grid where users can place start/end points and draw walls. Implement A* and Dijkstra's algorithms with step-by-step visualization showing frontier expansion, visited nodes, and final path. Display path length and nodes explored for comparison.</a:t>
            </a:r>
            <a:endParaRPr lang="en-US" sz="900" dirty="0"/>
          </a:p>
        </p:txBody>
      </p:sp>
      <p:sp>
        <p:nvSpPr>
          <p:cNvPr id="6" name="Text 3"/>
          <p:cNvSpPr/>
          <p:nvPr/>
        </p:nvSpPr>
        <p:spPr>
          <a:xfrm>
            <a:off x="381000" y="3112740"/>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316486"/>
            <a:ext cx="4414329" cy="146596"/>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Priority queue implementation, heuristic functions, click/drag wall drawing, animation pacing</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weighted terrain (swamp, road, walls) with different traversal costs</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bidirectional search and visualize the meeting point</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maze generation algorithms (recursive backtracking, Prim's, Kruskal's)</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Support diagonal movement with proper cost calculation</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Advanced | Alg 2 | UI 2 | State 1 | Math 0 | Viz 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f99391f5.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906086"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Conway's Game of Life Sandbox</a:t>
            </a:r>
            <a:endParaRPr lang="en-US" sz="1950" dirty="0"/>
          </a:p>
        </p:txBody>
      </p:sp>
      <p:sp>
        <p:nvSpPr>
          <p:cNvPr id="4" name="Text 1"/>
          <p:cNvSpPr/>
          <p:nvPr/>
        </p:nvSpPr>
        <p:spPr>
          <a:xfrm>
            <a:off x="381000" y="2035671"/>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239417"/>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Implement Conway's Game of Life with a resizable grid, play/pause/step controls, adjustable speed, and pattern library (glider, blinker, pulsar, glider gun). Include generation counter and live cell count. Allow users to draw cells and save/load patterns.</a:t>
            </a:r>
            <a:endParaRPr lang="en-US" sz="900" dirty="0"/>
          </a:p>
        </p:txBody>
      </p:sp>
      <p:sp>
        <p:nvSpPr>
          <p:cNvPr id="6" name="Text 3"/>
          <p:cNvSpPr/>
          <p:nvPr/>
        </p:nvSpPr>
        <p:spPr>
          <a:xfrm>
            <a:off x="381000" y="3039517"/>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243263"/>
            <a:ext cx="4414329" cy="293191"/>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Efficient neighbor counting, boundary conditions, pattern storage format, performant rendering</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alternative rulesets (HighLife, Day and Night, Seeds) with a rule editor</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pattern detection for stable states or cycles</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trail mode showing cell age with color gradients</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Support RLE pattern import/export for pattern library compatibility</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Beginner | Alg 1 | UI 1 | State 2 | Math 0 | Viz 1</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d24b8a1f.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664110"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Blackjack with Strategy Coach</a:t>
            </a:r>
            <a:endParaRPr lang="en-US" sz="1950" dirty="0"/>
          </a:p>
        </p:txBody>
      </p:sp>
      <p:sp>
        <p:nvSpPr>
          <p:cNvPr id="4" name="Text 1"/>
          <p:cNvSpPr/>
          <p:nvPr/>
        </p:nvSpPr>
        <p:spPr>
          <a:xfrm>
            <a:off x="381000" y="2108895"/>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312640"/>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Create a blackjack game against a dealer following standard casino rules. Display the mathematically optimal play (hit, stand, double, split) for each situation based on basic strategy charts. Track player decisions against optimal and show accuracy percentage over time.</a:t>
            </a:r>
            <a:endParaRPr lang="en-US" sz="900" dirty="0"/>
          </a:p>
        </p:txBody>
      </p:sp>
      <p:sp>
        <p:nvSpPr>
          <p:cNvPr id="6" name="Text 3"/>
          <p:cNvSpPr/>
          <p:nvPr/>
        </p:nvSpPr>
        <p:spPr>
          <a:xfrm>
            <a:off x="381000" y="3112740"/>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316486"/>
            <a:ext cx="4414329" cy="146596"/>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Strategy lookup table, multi-hand split logic, soft/hard hand distinction, running statistics</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card counting simulation (Hi-Lo system) with running/true count</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configurable house rules (decks, soft 17, surrender)</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Show expected value for each decision option</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training mode focusing on common mistake scenarios</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Intermediate | Alg 1 | UI 1 | State 1 | Math 2 | Viz 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5e533492.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298412"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Wordle Clone with Analysis</a:t>
            </a:r>
            <a:endParaRPr lang="en-US" sz="1950" dirty="0"/>
          </a:p>
        </p:txBody>
      </p:sp>
      <p:sp>
        <p:nvSpPr>
          <p:cNvPr id="4" name="Text 1"/>
          <p:cNvSpPr/>
          <p:nvPr/>
        </p:nvSpPr>
        <p:spPr>
          <a:xfrm>
            <a:off x="381000" y="2108895"/>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312640"/>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Build a Wordle clone with a 5-letter word dictionary. After each guess, show remaining possible words based on revealed constraints. Include a solver mode that suggests optimal next guesses based on letter frequency analysis of remaining possibilities.</a:t>
            </a:r>
            <a:endParaRPr lang="en-US" sz="900" dirty="0"/>
          </a:p>
        </p:txBody>
      </p:sp>
      <p:sp>
        <p:nvSpPr>
          <p:cNvPr id="6" name="Text 3"/>
          <p:cNvSpPr/>
          <p:nvPr/>
        </p:nvSpPr>
        <p:spPr>
          <a:xfrm>
            <a:off x="381000" y="3112740"/>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316486"/>
            <a:ext cx="4414329" cy="146596"/>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Word filtering logic, keyboard state tracking, optimal guess heuristics, dictionary management</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information theory scoring (bits gained per guess)</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hard mode enforcement (must use revealed hints)</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Create adversarial mode that changes target word to maximize guesses</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Support variable word lengths (4-7 letters)</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Intermediate | Alg 1 | UI 2 | State 1 | Math 1 | Viz 0</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5af283a5.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186988"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Snake with Replay System</a:t>
            </a:r>
            <a:endParaRPr lang="en-US" sz="1950" dirty="0"/>
          </a:p>
        </p:txBody>
      </p:sp>
      <p:sp>
        <p:nvSpPr>
          <p:cNvPr id="4" name="Text 1"/>
          <p:cNvSpPr/>
          <p:nvPr/>
        </p:nvSpPr>
        <p:spPr>
          <a:xfrm>
            <a:off x="381000" y="2108895"/>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312640"/>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Implement classic Snake with arrow key controls, increasing speed, and score tracking. Record all game states and allow users to replay any completed game at variable speeds. Include a ghost snake showing the replay while playing a new game.</a:t>
            </a:r>
            <a:endParaRPr lang="en-US" sz="900" dirty="0"/>
          </a:p>
        </p:txBody>
      </p:sp>
      <p:sp>
        <p:nvSpPr>
          <p:cNvPr id="6" name="Text 3"/>
          <p:cNvSpPr/>
          <p:nvPr/>
        </p:nvSpPr>
        <p:spPr>
          <a:xfrm>
            <a:off x="381000" y="3112740"/>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316486"/>
            <a:ext cx="4414329" cy="146596"/>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Input handling, collision detection, state serialization, synchronized playback</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AI autopilot using pathfinding to chase food safely</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time rewind to undo the last N moves during gameplay</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Create leaderboard with shareable replay links (URL-encoded states)</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obstacles and power-ups (speed boost, wall pass-through)</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Beginner | Alg 1 | UI 1 | State 2 | Math 0 | Viz 0</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47d753d1.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695989"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Tic-Tac-Toe with Unbeatable AI</a:t>
            </a:r>
            <a:endParaRPr lang="en-US" sz="1950" dirty="0"/>
          </a:p>
        </p:txBody>
      </p:sp>
      <p:sp>
        <p:nvSpPr>
          <p:cNvPr id="4" name="Text 1"/>
          <p:cNvSpPr/>
          <p:nvPr/>
        </p:nvSpPr>
        <p:spPr>
          <a:xfrm>
            <a:off x="381000" y="2194620"/>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398365"/>
            <a:ext cx="4414329" cy="51435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Create Tic-Tac-Toe with three modes: PvP, Easy AI (random), and Impossible AI (minimax). The impossible AI should never lose. Show the AI's evaluation of each possible move when playing against it, visualizing why it chose its move.</a:t>
            </a:r>
            <a:endParaRPr lang="en-US" sz="900" dirty="0"/>
          </a:p>
        </p:txBody>
      </p:sp>
      <p:sp>
        <p:nvSpPr>
          <p:cNvPr id="6" name="Text 3"/>
          <p:cNvSpPr/>
          <p:nvPr/>
        </p:nvSpPr>
        <p:spPr>
          <a:xfrm>
            <a:off x="381000" y="3027015"/>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230761"/>
            <a:ext cx="4414329" cy="146596"/>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Minimax with alpha-beta pruning, move evaluation display, game state detection</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Extend to Ultimate Tic-Tac-Toe (9 boards with meta-game rules)</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4x4 or 5x5 grid variant with 4-in-a-row to win</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teaching mode showing optimal responses after mistakes</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Create adjustable difficulty with deliberate suboptimal moves</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Beginner | Alg 2 | UI 1 | State 1 | Math 0 | Viz 1</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2514f3eb.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597467"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Loan Amortization Dashboard</a:t>
            </a:r>
            <a:endParaRPr lang="en-US" sz="1950" dirty="0"/>
          </a:p>
        </p:txBody>
      </p:sp>
      <p:sp>
        <p:nvSpPr>
          <p:cNvPr id="4" name="Text 1"/>
          <p:cNvSpPr/>
          <p:nvPr/>
        </p:nvSpPr>
        <p:spPr>
          <a:xfrm>
            <a:off x="381000" y="2108895"/>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312640"/>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Build a mortgage/loan calculator that generates a full amortization schedule from principal, rate, and term inputs. Visualize the payment breakdown (principal vs interest) over time with an area chart. Allow extra payment scenarios and show time/interest saved.</a:t>
            </a:r>
            <a:endParaRPr lang="en-US" sz="900" dirty="0"/>
          </a:p>
        </p:txBody>
      </p:sp>
      <p:sp>
        <p:nvSpPr>
          <p:cNvPr id="6" name="Text 3"/>
          <p:cNvSpPr/>
          <p:nvPr/>
        </p:nvSpPr>
        <p:spPr>
          <a:xfrm>
            <a:off x="381000" y="3112740"/>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316486"/>
            <a:ext cx="4414329" cy="146596"/>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Amortization formula, chart rendering, scenario comparison, currency formatting</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Compare multiple scenarios side-by-side (15 vs 30 year, different rates)</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refinancing analysis with current loan state comparison</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bi-weekly payment option with accelerated payoff</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Include tax implications (mortgage interest deduction)</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Expert | Alg 0 | UI 1 | State 1 | Math 2 | Viz 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aac2b0d1.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775686"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Pomodoro Timer with Analytics</a:t>
            </a:r>
            <a:endParaRPr lang="en-US" sz="1950" dirty="0"/>
          </a:p>
        </p:txBody>
      </p:sp>
      <p:sp>
        <p:nvSpPr>
          <p:cNvPr id="4" name="Text 1"/>
          <p:cNvSpPr/>
          <p:nvPr/>
        </p:nvSpPr>
        <p:spPr>
          <a:xfrm>
            <a:off x="381000" y="2194620"/>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398365"/>
            <a:ext cx="4414329" cy="51435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Create a Pomodoro timer (25 min work / 5 min break) with audio notifications. Track completed sessions per day and visualize weekly productivity as a heat map. Include customizable durations and a distraction log where users can note interruptions.</a:t>
            </a:r>
            <a:endParaRPr lang="en-US" sz="900" dirty="0"/>
          </a:p>
        </p:txBody>
      </p:sp>
      <p:sp>
        <p:nvSpPr>
          <p:cNvPr id="6" name="Text 3"/>
          <p:cNvSpPr/>
          <p:nvPr/>
        </p:nvSpPr>
        <p:spPr>
          <a:xfrm>
            <a:off x="381000" y="3027015"/>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230761"/>
            <a:ext cx="4414329" cy="146596"/>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Accurate timing, notification API, local storage, heat map visualization</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task association and track time per task</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long break logic (longer break after every 4 pomodoros)</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Create streak tracking with daily/weekly goals and badges</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Export data as CSV or calendar integration</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Beginner | Alg 0 | UI 2 | State 2 | Math 0 | Viz 1</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655e660a.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35819" y="228600"/>
            <a:ext cx="2835560"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Color Palette Generator</a:t>
            </a:r>
            <a:endParaRPr lang="en-US" sz="1950" dirty="0"/>
          </a:p>
        </p:txBody>
      </p:sp>
      <p:sp>
        <p:nvSpPr>
          <p:cNvPr id="4" name="Text 1"/>
          <p:cNvSpPr/>
          <p:nvPr/>
        </p:nvSpPr>
        <p:spPr>
          <a:xfrm>
            <a:off x="381000" y="2108895"/>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312640"/>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Generate harmonious color palettes using different color theory rules (complementary, triadic, analogous, split-complementary). Given a base color, display the generated palette with hex/RGB values, contrast ratios for accessibility, and a preview component.</a:t>
            </a:r>
            <a:endParaRPr lang="en-US" sz="900" dirty="0"/>
          </a:p>
        </p:txBody>
      </p:sp>
      <p:sp>
        <p:nvSpPr>
          <p:cNvPr id="6" name="Text 3"/>
          <p:cNvSpPr/>
          <p:nvPr/>
        </p:nvSpPr>
        <p:spPr>
          <a:xfrm>
            <a:off x="381000" y="3112740"/>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316486"/>
            <a:ext cx="4414329" cy="146596"/>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HSL color space manipulation, WCAG contrast calculation, color harmony algorithms</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Extract dominant colors from uploaded images to seed palettes</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color blindness simulation preview (protanopia, deuteranopia)</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Generate CSS custom properties or Tailwind config export</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palette locking (lock colors while regenerating others)</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Intermediate | Alg 1 | UI 2 | State 0 | Math 1 | Viz 1</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1fcad034.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533861"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Binary Search Tree Visualizer</a:t>
            </a:r>
            <a:endParaRPr lang="en-US" sz="1950" dirty="0"/>
          </a:p>
        </p:txBody>
      </p:sp>
      <p:sp>
        <p:nvSpPr>
          <p:cNvPr id="4" name="Text 1"/>
          <p:cNvSpPr/>
          <p:nvPr/>
        </p:nvSpPr>
        <p:spPr>
          <a:xfrm>
            <a:off x="381000" y="2035671"/>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239417"/>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Build an interactive BST where users can insert, delete, and search for values. Animate each operation showing comparisons and rotations. Support in-order, pre-order, and post-order traversal animations. Display tree height and balance factor for each node.</a:t>
            </a:r>
            <a:endParaRPr lang="en-US" sz="900" dirty="0"/>
          </a:p>
        </p:txBody>
      </p:sp>
      <p:sp>
        <p:nvSpPr>
          <p:cNvPr id="6" name="Text 3"/>
          <p:cNvSpPr/>
          <p:nvPr/>
        </p:nvSpPr>
        <p:spPr>
          <a:xfrm>
            <a:off x="381000" y="3039517"/>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243263"/>
            <a:ext cx="4414329" cy="293191"/>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Tree layout algorithm, operation animation sequencing, balanced rendering of unbalanced trees</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AVL or Red-Black tree with rebalancing animations</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bulk insert with tree evolution visualization</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Include pathological case demos (sorted input to linked list)</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Support expression trees with evaluation animation</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Advanced | Alg 2 | UI 1 | State 2 | Math 0 | Viz 2</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d66f1675.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3565437"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Sudoku Generator and Solver</a:t>
            </a:r>
            <a:endParaRPr lang="en-US" sz="1950" dirty="0"/>
          </a:p>
        </p:txBody>
      </p:sp>
      <p:sp>
        <p:nvSpPr>
          <p:cNvPr id="4" name="Text 1"/>
          <p:cNvSpPr/>
          <p:nvPr/>
        </p:nvSpPr>
        <p:spPr>
          <a:xfrm>
            <a:off x="381000" y="2108895"/>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312640"/>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Create a Sudoku game that generates puzzles at easy/medium/hard difficulty levels. Include a hint button that fills one cell and a solve button that animates the backtracking solution process. Validate user input in real-time with conflict highlighting.</a:t>
            </a:r>
            <a:endParaRPr lang="en-US" sz="900" dirty="0"/>
          </a:p>
        </p:txBody>
      </p:sp>
      <p:sp>
        <p:nvSpPr>
          <p:cNvPr id="6" name="Text 3"/>
          <p:cNvSpPr/>
          <p:nvPr/>
        </p:nvSpPr>
        <p:spPr>
          <a:xfrm>
            <a:off x="381000" y="3112740"/>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316486"/>
            <a:ext cx="4414329" cy="146596"/>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Puzzle generation with unique solutions, difficulty estimation, efficient solving visualization</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pencil marks (candidates) with automatic constraint elimination</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Visualize advanced techniques (naked pairs, hidden singles, X-wing)</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Create rate my puzzle analyzing techniques required to solve</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Support variant sudoku (killer, thermometer, diagonal)</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Advanced | Alg 2 | UI 2 | State 1 | Math 0 | Viz 1</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af2dd3c0.png"/>
          <p:cNvPicPr>
            <a:picLocks noChangeAspect="1"/>
          </p:cNvPicPr>
          <p:nvPr/>
        </p:nvPicPr>
        <p:blipFill>
          <a:blip r:embed="rId3"/>
          <a:stretch>
            <a:fillRect/>
          </a:stretch>
        </p:blipFill>
        <p:spPr>
          <a:xfrm>
            <a:off x="0" y="0"/>
            <a:ext cx="57150" cy="5143500"/>
          </a:xfrm>
          <a:prstGeom prst="rect">
            <a:avLst/>
          </a:prstGeom>
        </p:spPr>
      </p:pic>
      <p:sp>
        <p:nvSpPr>
          <p:cNvPr id="3" name="Text 0"/>
          <p:cNvSpPr/>
          <p:nvPr/>
        </p:nvSpPr>
        <p:spPr>
          <a:xfrm>
            <a:off x="842665" y="228600"/>
            <a:ext cx="4814637" cy="247650"/>
          </a:xfrm>
          <a:prstGeom prst="rect">
            <a:avLst/>
          </a:prstGeom>
          <a:noFill/>
          <a:ln/>
        </p:spPr>
        <p:txBody>
          <a:bodyPr wrap="square" lIns="0" tIns="0" rIns="0" bIns="0" rtlCol="0" anchor="t"/>
          <a:lstStyle/>
          <a:p>
            <a:pPr marL="0" indent="0" algn="l">
              <a:lnSpc>
                <a:spcPts val="1950"/>
              </a:lnSpc>
              <a:buNone/>
            </a:pPr>
            <a:r>
              <a:rPr lang="en-US" sz="1950" b="1" dirty="0">
                <a:solidFill>
                  <a:srgbClr val="005596"/>
                </a:solidFill>
                <a:latin typeface="Arial" pitchFamily="34" charset="0"/>
                <a:ea typeface="Arial" pitchFamily="34" charset="-122"/>
                <a:cs typeface="Arial" pitchFamily="34" charset="-120"/>
              </a:rPr>
              <a:t>Password Generator with Entropy Meter</a:t>
            </a:r>
            <a:endParaRPr lang="en-US" sz="1950" dirty="0"/>
          </a:p>
        </p:txBody>
      </p:sp>
      <p:sp>
        <p:nvSpPr>
          <p:cNvPr id="4" name="Text 1"/>
          <p:cNvSpPr/>
          <p:nvPr/>
        </p:nvSpPr>
        <p:spPr>
          <a:xfrm>
            <a:off x="381000" y="2035671"/>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CHALLENGE</a:t>
            </a:r>
            <a:endParaRPr lang="en-US" sz="825" dirty="0"/>
          </a:p>
        </p:txBody>
      </p:sp>
      <p:sp>
        <p:nvSpPr>
          <p:cNvPr id="5" name="Text 2"/>
          <p:cNvSpPr/>
          <p:nvPr/>
        </p:nvSpPr>
        <p:spPr>
          <a:xfrm>
            <a:off x="381000" y="2239417"/>
            <a:ext cx="4414329" cy="685800"/>
          </a:xfrm>
          <a:prstGeom prst="rect">
            <a:avLst/>
          </a:prstGeom>
          <a:noFill/>
          <a:ln/>
        </p:spPr>
        <p:txBody>
          <a:bodyPr wrap="square" lIns="0" tIns="0" rIns="0" bIns="0" rtlCol="0" anchor="t"/>
          <a:lstStyle/>
          <a:p>
            <a:pPr marL="0" indent="0" algn="l">
              <a:lnSpc>
                <a:spcPts val="1350"/>
              </a:lnSpc>
              <a:buNone/>
            </a:pPr>
            <a:r>
              <a:rPr lang="en-US" sz="900" dirty="0">
                <a:solidFill>
                  <a:srgbClr val="333333"/>
                </a:solidFill>
                <a:latin typeface="Arial" pitchFamily="34" charset="0"/>
                <a:ea typeface="Arial" pitchFamily="34" charset="-122"/>
                <a:cs typeface="Arial" pitchFamily="34" charset="-120"/>
              </a:rPr>
              <a:t>Build a password generator with toggles for length, uppercase, lowercase, numbers, and symbols. Calculate and visualize the password's entropy in bits and estimated crack time against various attack scenarios. Include a pronounceable mode using consonant-vowel patterns.</a:t>
            </a:r>
            <a:endParaRPr lang="en-US" sz="900" dirty="0"/>
          </a:p>
        </p:txBody>
      </p:sp>
      <p:sp>
        <p:nvSpPr>
          <p:cNvPr id="6" name="Text 3"/>
          <p:cNvSpPr/>
          <p:nvPr/>
        </p:nvSpPr>
        <p:spPr>
          <a:xfrm>
            <a:off x="381000" y="3039517"/>
            <a:ext cx="4414329"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4597D3"/>
                </a:solidFill>
                <a:latin typeface="Arial" pitchFamily="34" charset="0"/>
                <a:ea typeface="Arial" pitchFamily="34" charset="-122"/>
                <a:cs typeface="Arial" pitchFamily="34" charset="-120"/>
              </a:rPr>
              <a:t>KEY CHALLENGES</a:t>
            </a:r>
            <a:endParaRPr lang="en-US" sz="825" dirty="0"/>
          </a:p>
        </p:txBody>
      </p:sp>
      <p:sp>
        <p:nvSpPr>
          <p:cNvPr id="7" name="Text 4"/>
          <p:cNvSpPr/>
          <p:nvPr/>
        </p:nvSpPr>
        <p:spPr>
          <a:xfrm>
            <a:off x="381000" y="3243263"/>
            <a:ext cx="4414329" cy="293191"/>
          </a:xfrm>
          <a:prstGeom prst="rect">
            <a:avLst/>
          </a:prstGeom>
          <a:noFill/>
          <a:ln/>
        </p:spPr>
        <p:txBody>
          <a:bodyPr wrap="square" lIns="0" tIns="0" rIns="0" bIns="0" rtlCol="0" anchor="t"/>
          <a:lstStyle/>
          <a:p>
            <a:pPr marL="0" indent="0" algn="l">
              <a:lnSpc>
                <a:spcPts val="1155"/>
              </a:lnSpc>
              <a:buNone/>
            </a:pPr>
            <a:r>
              <a:rPr lang="en-US" sz="825" dirty="0">
                <a:solidFill>
                  <a:srgbClr val="666666"/>
                </a:solidFill>
                <a:latin typeface="Arial" pitchFamily="34" charset="0"/>
                <a:ea typeface="Arial" pitchFamily="34" charset="-122"/>
                <a:cs typeface="Arial" pitchFamily="34" charset="-120"/>
              </a:rPr>
              <a:t>Cryptographic randomness, entropy calculation, crack time estimation, pronounceable generation algorithm</a:t>
            </a:r>
            <a:endParaRPr lang="en-US" sz="825" dirty="0"/>
          </a:p>
        </p:txBody>
      </p:sp>
      <p:sp>
        <p:nvSpPr>
          <p:cNvPr id="8" name="Text 5"/>
          <p:cNvSpPr/>
          <p:nvPr/>
        </p:nvSpPr>
        <p:spPr>
          <a:xfrm>
            <a:off x="4937373" y="2152799"/>
            <a:ext cx="3901827" cy="1266379"/>
          </a:xfrm>
          <a:prstGeom prst="roundRect">
            <a:avLst>
              <a:gd name="adj" fmla="val 6017"/>
            </a:avLst>
          </a:prstGeom>
          <a:solidFill>
            <a:srgbClr val="F0F7FF"/>
          </a:solidFill>
          <a:ln/>
        </p:spPr>
        <p:txBody>
          <a:bodyPr wrap="square" rtlCol="0" anchor="ctr"/>
          <a:lstStyle/>
          <a:p>
            <a:pPr marL="0" indent="0">
              <a:buNone/>
            </a:pPr>
            <a:endParaRPr lang="en-US" dirty="0"/>
          </a:p>
        </p:txBody>
      </p:sp>
      <p:sp>
        <p:nvSpPr>
          <p:cNvPr id="9" name="Shape 6"/>
          <p:cNvSpPr/>
          <p:nvPr/>
        </p:nvSpPr>
        <p:spPr>
          <a:xfrm>
            <a:off x="4951661" y="2152799"/>
            <a:ext cx="0" cy="1266379"/>
          </a:xfrm>
          <a:prstGeom prst="line">
            <a:avLst/>
          </a:prstGeom>
          <a:noFill/>
          <a:ln w="28575">
            <a:solidFill>
              <a:srgbClr val="005596"/>
            </a:solidFill>
            <a:prstDash val="solid"/>
          </a:ln>
        </p:spPr>
        <p:txBody>
          <a:bodyPr/>
          <a:lstStyle/>
          <a:p>
            <a:endParaRPr lang="en-US"/>
          </a:p>
        </p:txBody>
      </p:sp>
      <p:sp>
        <p:nvSpPr>
          <p:cNvPr id="10" name="Text 7"/>
          <p:cNvSpPr/>
          <p:nvPr/>
        </p:nvSpPr>
        <p:spPr>
          <a:xfrm>
            <a:off x="5099298" y="2286149"/>
            <a:ext cx="3678683"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4597D3"/>
                </a:solidFill>
                <a:latin typeface="Arial" pitchFamily="34" charset="0"/>
                <a:ea typeface="Arial" pitchFamily="34" charset="-122"/>
                <a:cs typeface="Arial" pitchFamily="34" charset="-120"/>
              </a:rPr>
              <a:t>STRETCH GOALS</a:t>
            </a:r>
            <a:endParaRPr lang="en-US" sz="825" dirty="0"/>
          </a:p>
        </p:txBody>
      </p:sp>
      <p:sp>
        <p:nvSpPr>
          <p:cNvPr id="11" name="Shape 8"/>
          <p:cNvSpPr/>
          <p:nvPr/>
        </p:nvSpPr>
        <p:spPr>
          <a:xfrm>
            <a:off x="5108823" y="2527995"/>
            <a:ext cx="0" cy="146596"/>
          </a:xfrm>
          <a:prstGeom prst="line">
            <a:avLst/>
          </a:prstGeom>
          <a:noFill/>
          <a:ln w="19050">
            <a:solidFill>
              <a:srgbClr val="5BC2A7"/>
            </a:solidFill>
            <a:prstDash val="solid"/>
          </a:ln>
        </p:spPr>
        <p:txBody>
          <a:bodyPr/>
          <a:lstStyle/>
          <a:p>
            <a:endParaRPr lang="en-US"/>
          </a:p>
        </p:txBody>
      </p:sp>
      <p:sp>
        <p:nvSpPr>
          <p:cNvPr id="12" name="Text 9"/>
          <p:cNvSpPr/>
          <p:nvPr/>
        </p:nvSpPr>
        <p:spPr>
          <a:xfrm>
            <a:off x="5213598" y="2527995"/>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passphrase generation using diceware-style word lists</a:t>
            </a:r>
            <a:endParaRPr lang="en-US" sz="825" dirty="0"/>
          </a:p>
        </p:txBody>
      </p:sp>
      <p:sp>
        <p:nvSpPr>
          <p:cNvPr id="13" name="Shape 10"/>
          <p:cNvSpPr/>
          <p:nvPr/>
        </p:nvSpPr>
        <p:spPr>
          <a:xfrm>
            <a:off x="5108823" y="2731740"/>
            <a:ext cx="0" cy="146596"/>
          </a:xfrm>
          <a:prstGeom prst="line">
            <a:avLst/>
          </a:prstGeom>
          <a:noFill/>
          <a:ln w="19050">
            <a:solidFill>
              <a:srgbClr val="5BC2A7"/>
            </a:solidFill>
            <a:prstDash val="solid"/>
          </a:ln>
        </p:spPr>
        <p:txBody>
          <a:bodyPr/>
          <a:lstStyle/>
          <a:p>
            <a:endParaRPr lang="en-US"/>
          </a:p>
        </p:txBody>
      </p:sp>
      <p:sp>
        <p:nvSpPr>
          <p:cNvPr id="14" name="Text 11"/>
          <p:cNvSpPr/>
          <p:nvPr/>
        </p:nvSpPr>
        <p:spPr>
          <a:xfrm>
            <a:off x="5213598" y="2731740"/>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Implement memorable password using word + number + symbol patterns</a:t>
            </a:r>
            <a:endParaRPr lang="en-US" sz="825" dirty="0"/>
          </a:p>
        </p:txBody>
      </p:sp>
      <p:sp>
        <p:nvSpPr>
          <p:cNvPr id="15" name="Shape 12"/>
          <p:cNvSpPr/>
          <p:nvPr/>
        </p:nvSpPr>
        <p:spPr>
          <a:xfrm>
            <a:off x="5108823" y="2935486"/>
            <a:ext cx="0" cy="146596"/>
          </a:xfrm>
          <a:prstGeom prst="line">
            <a:avLst/>
          </a:prstGeom>
          <a:noFill/>
          <a:ln w="19050">
            <a:solidFill>
              <a:srgbClr val="5BC2A7"/>
            </a:solidFill>
            <a:prstDash val="solid"/>
          </a:ln>
        </p:spPr>
        <p:txBody>
          <a:bodyPr/>
          <a:lstStyle/>
          <a:p>
            <a:endParaRPr lang="en-US"/>
          </a:p>
        </p:txBody>
      </p:sp>
      <p:sp>
        <p:nvSpPr>
          <p:cNvPr id="16" name="Text 13"/>
          <p:cNvSpPr/>
          <p:nvPr/>
        </p:nvSpPr>
        <p:spPr>
          <a:xfrm>
            <a:off x="5213598" y="2935486"/>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Check against Have I Been Pwned API</a:t>
            </a:r>
            <a:endParaRPr lang="en-US" sz="825" dirty="0"/>
          </a:p>
        </p:txBody>
      </p:sp>
      <p:sp>
        <p:nvSpPr>
          <p:cNvPr id="17" name="Shape 14"/>
          <p:cNvSpPr/>
          <p:nvPr/>
        </p:nvSpPr>
        <p:spPr>
          <a:xfrm>
            <a:off x="5108823" y="3139232"/>
            <a:ext cx="0" cy="146596"/>
          </a:xfrm>
          <a:prstGeom prst="line">
            <a:avLst/>
          </a:prstGeom>
          <a:noFill/>
          <a:ln w="19050">
            <a:solidFill>
              <a:srgbClr val="5BC2A7"/>
            </a:solidFill>
            <a:prstDash val="solid"/>
          </a:ln>
        </p:spPr>
        <p:txBody>
          <a:bodyPr/>
          <a:lstStyle/>
          <a:p>
            <a:endParaRPr lang="en-US"/>
          </a:p>
        </p:txBody>
      </p:sp>
      <p:sp>
        <p:nvSpPr>
          <p:cNvPr id="18" name="Text 15"/>
          <p:cNvSpPr/>
          <p:nvPr/>
        </p:nvSpPr>
        <p:spPr>
          <a:xfrm>
            <a:off x="5213598" y="3139232"/>
            <a:ext cx="3562097" cy="146596"/>
          </a:xfrm>
          <a:prstGeom prst="rect">
            <a:avLst/>
          </a:prstGeom>
          <a:noFill/>
          <a:ln/>
        </p:spPr>
        <p:txBody>
          <a:bodyPr wrap="square" lIns="0" tIns="0" rIns="0" bIns="0" rtlCol="0" anchor="t"/>
          <a:lstStyle/>
          <a:p>
            <a:pPr marL="0" indent="0" algn="l">
              <a:lnSpc>
                <a:spcPts val="1155"/>
              </a:lnSpc>
              <a:buNone/>
            </a:pPr>
            <a:r>
              <a:rPr lang="en-US" sz="825" dirty="0">
                <a:solidFill>
                  <a:srgbClr val="444444"/>
                </a:solidFill>
                <a:latin typeface="Arial" pitchFamily="34" charset="0"/>
                <a:ea typeface="Arial" pitchFamily="34" charset="-122"/>
                <a:cs typeface="Arial" pitchFamily="34" charset="-120"/>
              </a:rPr>
              <a:t>Add password strength analyzer for user-input passwords</a:t>
            </a:r>
            <a:endParaRPr lang="en-US" sz="825" dirty="0"/>
          </a:p>
        </p:txBody>
      </p:sp>
      <p:sp>
        <p:nvSpPr>
          <p:cNvPr id="19" name="Text 16"/>
          <p:cNvSpPr/>
          <p:nvPr/>
        </p:nvSpPr>
        <p:spPr>
          <a:xfrm>
            <a:off x="381000" y="4781550"/>
            <a:ext cx="8627364" cy="133350"/>
          </a:xfrm>
          <a:prstGeom prst="rect">
            <a:avLst/>
          </a:prstGeom>
          <a:noFill/>
          <a:ln/>
        </p:spPr>
        <p:txBody>
          <a:bodyPr wrap="square" lIns="0" tIns="0" rIns="0" bIns="0" rtlCol="0" anchor="t"/>
          <a:lstStyle/>
          <a:p>
            <a:pPr marL="0" indent="0" algn="l">
              <a:lnSpc>
                <a:spcPts val="1050"/>
              </a:lnSpc>
              <a:buNone/>
            </a:pPr>
            <a:r>
              <a:rPr lang="en-US" sz="750" dirty="0">
                <a:solidFill>
                  <a:srgbClr val="A7A8A9"/>
                </a:solidFill>
                <a:latin typeface="Arial" pitchFamily="34" charset="0"/>
                <a:ea typeface="Arial" pitchFamily="34" charset="-122"/>
                <a:cs typeface="Arial" pitchFamily="34" charset="-120"/>
              </a:rPr>
              <a:t>Intermediate | Alg 1 | UI 1 | State 0 | Math 2 | Viz 1</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1860</Words>
  <Application>Microsoft Macintosh PowerPoint</Application>
  <PresentationFormat>On-screen Show (16:9)</PresentationFormat>
  <Paragraphs>192</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Development Design Katas</dc:title>
  <dc:subject>14 Progressively Challenging Exercises</dc:subject>
  <dc:creator>Improving</dc:creator>
  <cp:lastModifiedBy>Devlin Liles</cp:lastModifiedBy>
  <cp:revision>3</cp:revision>
  <dcterms:created xsi:type="dcterms:W3CDTF">2026-01-09T21:20:49Z</dcterms:created>
  <dcterms:modified xsi:type="dcterms:W3CDTF">2026-01-28T15:49:51Z</dcterms:modified>
</cp:coreProperties>
</file>