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Session 1 we defined Prompt, Harness, and Model. Today has three parts: build a bounded agent, watch a custom harness demo, then see the Stage 3/Stage 4 map before closing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question connects Session 5's model invocation and adversarial agent work to Session 6's bounded agent concept. Skills with enabled invocation are the building blocks of a bounded agent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goal and its per-role relevance; invite each role to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custom harnesses, establish what participants can already build with the IDE harness. Emphasize this is real and useful, and also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watch for context degradation in later steps — this is the point of the lab, setting up the next lecture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degradation pattern participants just experienced in the lab against the custom harness's clean-context-per-step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Session 1's Prompt/Harness/Model framing. Walk the six things a custom harness does, then map each back to Session 4 and Session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demo requires an API key and is instructor-led — participants observe, they do not build this in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each row as a clean three-way contrast; tie back to the bounded-agent lab and the demo participants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Stage 2 vs Stage 3 distinction, then the seven things that put participants at Stage 3, then the Stage 3 ceiling — the bridge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requirements, then the 10x effort scaling stat, then land why the program doesn't build a harness — the Stage 4 DLP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setup for the Exercise slide that follows. Emphasize articulation as the bar, not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listen for discipline framing — push participants past 'it generates X' toward iteration counts and specific evaluator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commitment statement template aloud once before participants speak. The Embedded Engineer follow-up in Week 12 is the accountability hook — say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a beat of silence after each reflection prompt before moving on. This is the final slide of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005596">
                  <a:alpha val="100000"/>
                </a:srgbClr>
              </a:gs>
              <a:gs pos="60000">
                <a:srgbClr val="4597D3">
                  <a:alpha val="100000"/>
                </a:srgbClr>
              </a:gs>
              <a:gs pos="100000">
                <a:srgbClr val="5BC2A7">
                  <a:alpha val="100000"/>
                </a:srgbClr>
              </a:gs>
            </a:gsLst>
            <a:lin ang="2700000" scaled="0"/>
          </a:gradFill>
          <a:ln/>
        </p:spPr>
      </p:sp>
      <p:sp>
        <p:nvSpPr>
          <p:cNvPr id="3" name="Shape 1"/>
          <p:cNvSpPr/>
          <p:nvPr/>
        </p:nvSpPr>
        <p:spPr>
          <a:xfrm>
            <a:off x="1143000" y="2628007"/>
            <a:ext cx="2965103" cy="533400"/>
          </a:xfrm>
          <a:prstGeom prst="roundRect">
            <a:avLst>
              <a:gd name="adj" fmla="val 50000"/>
            </a:avLst>
          </a:prstGeom>
          <a:solidFill>
            <a:srgbClr val="FFFFFF">
              <a:alpha val="18000"/>
            </a:srgbClr>
          </a:solidFill>
          <a:ln/>
        </p:spPr>
      </p:sp>
      <p:sp>
        <p:nvSpPr>
          <p:cNvPr id="4" name="Text 2"/>
          <p:cNvSpPr/>
          <p:nvPr/>
        </p:nvSpPr>
        <p:spPr>
          <a:xfrm>
            <a:off x="1390650" y="2723257"/>
            <a:ext cx="2558756"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FFFFFF"/>
                </a:solidFill>
                <a:latin typeface="Arial" pitchFamily="34" charset="0"/>
                <a:ea typeface="Arial" pitchFamily="34" charset="-122"/>
                <a:cs typeface="Arial" pitchFamily="34" charset="-120"/>
              </a:rPr>
              <a:t>SLIDE TYPE — INTRO</a:t>
            </a:r>
            <a:endParaRPr lang="en-US" sz="1800" dirty="0"/>
          </a:p>
        </p:txBody>
      </p:sp>
      <p:sp>
        <p:nvSpPr>
          <p:cNvPr id="5" name="Shape 3"/>
          <p:cNvSpPr/>
          <p:nvPr/>
        </p:nvSpPr>
        <p:spPr>
          <a:xfrm>
            <a:off x="1143000" y="3542407"/>
            <a:ext cx="1458962" cy="533400"/>
          </a:xfrm>
          <a:prstGeom prst="roundRect">
            <a:avLst>
              <a:gd name="adj" fmla="val 50000"/>
            </a:avLst>
          </a:prstGeom>
          <a:solidFill>
            <a:srgbClr val="FFFFFF"/>
          </a:solidFill>
          <a:ln/>
        </p:spPr>
      </p:sp>
      <p:sp>
        <p:nvSpPr>
          <p:cNvPr id="6" name="Text 4"/>
          <p:cNvSpPr/>
          <p:nvPr/>
        </p:nvSpPr>
        <p:spPr>
          <a:xfrm>
            <a:off x="1390650" y="3637657"/>
            <a:ext cx="1039862"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WEEK 11</a:t>
            </a:r>
            <a:endParaRPr lang="en-US" sz="1800" dirty="0"/>
          </a:p>
        </p:txBody>
      </p:sp>
      <p:sp>
        <p:nvSpPr>
          <p:cNvPr id="7" name="Shape 5"/>
          <p:cNvSpPr/>
          <p:nvPr/>
        </p:nvSpPr>
        <p:spPr>
          <a:xfrm>
            <a:off x="2830562" y="3542407"/>
            <a:ext cx="1367730" cy="533400"/>
          </a:xfrm>
          <a:prstGeom prst="roundRect">
            <a:avLst>
              <a:gd name="adj" fmla="val 50000"/>
            </a:avLst>
          </a:prstGeom>
          <a:solidFill>
            <a:srgbClr val="FFFFFF"/>
          </a:solidFill>
          <a:ln/>
        </p:spPr>
      </p:sp>
      <p:sp>
        <p:nvSpPr>
          <p:cNvPr id="8" name="Text 6"/>
          <p:cNvSpPr/>
          <p:nvPr/>
        </p:nvSpPr>
        <p:spPr>
          <a:xfrm>
            <a:off x="3078212" y="3637657"/>
            <a:ext cx="948630"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LOOP 2</a:t>
            </a:r>
            <a:endParaRPr lang="en-US" sz="1800" dirty="0"/>
          </a:p>
        </p:txBody>
      </p:sp>
      <p:sp>
        <p:nvSpPr>
          <p:cNvPr id="9" name="Shape 7"/>
          <p:cNvSpPr/>
          <p:nvPr/>
        </p:nvSpPr>
        <p:spPr>
          <a:xfrm>
            <a:off x="4426893" y="3542407"/>
            <a:ext cx="1539329" cy="533400"/>
          </a:xfrm>
          <a:prstGeom prst="roundRect">
            <a:avLst>
              <a:gd name="adj" fmla="val 50000"/>
            </a:avLst>
          </a:prstGeom>
          <a:solidFill>
            <a:srgbClr val="FFFFFF"/>
          </a:solidFill>
          <a:ln/>
        </p:spPr>
      </p:sp>
      <p:sp>
        <p:nvSpPr>
          <p:cNvPr id="10" name="Text 8"/>
          <p:cNvSpPr/>
          <p:nvPr/>
        </p:nvSpPr>
        <p:spPr>
          <a:xfrm>
            <a:off x="4674543" y="3637657"/>
            <a:ext cx="1120229" cy="381000"/>
          </a:xfrm>
          <a:prstGeom prst="rect">
            <a:avLst/>
          </a:prstGeom>
          <a:noFill/>
          <a:ln/>
        </p:spPr>
        <p:txBody>
          <a:bodyPr wrap="none" lIns="25400" tIns="25400" rIns="25400" bIns="25400" rtlCol="0" anchor="ctr">
            <a:normAutofit/>
          </a:bodyPr>
          <a:lstStyle/>
          <a:p>
            <a:pPr algn="l" indent="0" marL="0">
              <a:lnSpc>
                <a:spcPct val="128571"/>
              </a:lnSpc>
              <a:buNone/>
            </a:pPr>
            <a:r>
              <a:rPr lang="en-US" sz="1800" b="1" spc="108" kern="0" dirty="0">
                <a:solidFill>
                  <a:srgbClr val="005596"/>
                </a:solidFill>
                <a:latin typeface="Arial" pitchFamily="34" charset="0"/>
                <a:ea typeface="Arial" pitchFamily="34" charset="-122"/>
                <a:cs typeface="Arial" pitchFamily="34" charset="-120"/>
              </a:rPr>
              <a:t>TESTING</a:t>
            </a:r>
            <a:endParaRPr lang="en-US" sz="1800" dirty="0"/>
          </a:p>
        </p:txBody>
      </p:sp>
      <p:sp>
        <p:nvSpPr>
          <p:cNvPr id="11" name="Text 9"/>
          <p:cNvSpPr/>
          <p:nvPr/>
        </p:nvSpPr>
        <p:spPr>
          <a:xfrm>
            <a:off x="1143000" y="4418707"/>
            <a:ext cx="16482060" cy="1278136"/>
          </a:xfrm>
          <a:prstGeom prst="rect">
            <a:avLst/>
          </a:prstGeom>
          <a:noFill/>
          <a:ln/>
        </p:spPr>
        <p:txBody>
          <a:bodyPr wrap="square" lIns="25400" tIns="25400" rIns="25400" bIns="25400" rtlCol="0" anchor="t">
            <a:normAutofit/>
          </a:bodyPr>
          <a:lstStyle/>
          <a:p>
            <a:pPr algn="l" indent="0" marL="0">
              <a:lnSpc>
                <a:spcPct val="91690"/>
              </a:lnSpc>
              <a:buNone/>
            </a:pPr>
            <a:r>
              <a:rPr lang="en-US" sz="4650" b="1" spc="-93" kern="0" dirty="0">
                <a:solidFill>
                  <a:srgbClr val="FFFFFF"/>
                </a:solidFill>
                <a:latin typeface="Arial" pitchFamily="34" charset="0"/>
                <a:ea typeface="Arial" pitchFamily="34" charset="-122"/>
                <a:cs typeface="Arial" pitchFamily="34" charset="-120"/>
              </a:rPr>
              <a:t>Bounded Agents, Custom Harness Demo &amp; Stage 4 Preview</a:t>
            </a:r>
            <a:endParaRPr lang="en-US" sz="4650" dirty="0"/>
          </a:p>
        </p:txBody>
      </p:sp>
      <p:sp>
        <p:nvSpPr>
          <p:cNvPr id="12" name="Text 10"/>
          <p:cNvSpPr/>
          <p:nvPr/>
        </p:nvSpPr>
        <p:spPr>
          <a:xfrm>
            <a:off x="1143000" y="5925443"/>
            <a:ext cx="16482060" cy="1524000"/>
          </a:xfrm>
          <a:prstGeom prst="rect">
            <a:avLst/>
          </a:prstGeom>
          <a:noFill/>
          <a:ln/>
        </p:spPr>
        <p:txBody>
          <a:bodyPr wrap="square" lIns="25400" tIns="25400" rIns="25400" bIns="25400" rtlCol="0" anchor="t">
            <a:normAutofit/>
          </a:bodyPr>
          <a:lstStyle/>
          <a:p>
            <a:pPr algn="l" indent="0" marL="0">
              <a:lnSpc>
                <a:spcPct val="92857"/>
              </a:lnSpc>
              <a:buNone/>
            </a:pPr>
            <a:r>
              <a:rPr lang="en-US" sz="1950" dirty="0">
                <a:solidFill>
                  <a:srgbClr val="FFFFFF"/>
                </a:solidFill>
                <a:latin typeface="Khula" pitchFamily="34" charset="0"/>
                <a:ea typeface="Khula" pitchFamily="34" charset="-122"/>
                <a:cs typeface="Khula" pitchFamily="34" charset="-120"/>
              </a:rPr>
              <a:t>In Session 1 we defined Prompt, Harness, and Model. You've been using your IDE's built-in harness for 10 weeks. Today you'll build a bounded agent — a multi-step workflow that chains the skills you already have into a full pipeline run, right in your IDE. Then the instructor demos a custom harness — a Python program that orchestrates multiple model calls with clean context and evaluation at each step. You'll also see where you are in the Improving Intelligence Operating System (Stage 3) and what comes next (Stage 4). Then we close the program.</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33500" y="3409950"/>
            <a:ext cx="3473500" cy="533400"/>
          </a:xfrm>
          <a:prstGeom prst="roundRect">
            <a:avLst>
              <a:gd name="adj" fmla="val 50000"/>
            </a:avLst>
          </a:prstGeom>
          <a:solidFill>
            <a:srgbClr val="F5BB41"/>
          </a:solidFill>
          <a:ln/>
        </p:spPr>
      </p:sp>
      <p:sp>
        <p:nvSpPr>
          <p:cNvPr id="3" name="Text 1"/>
          <p:cNvSpPr/>
          <p:nvPr/>
        </p:nvSpPr>
        <p:spPr>
          <a:xfrm>
            <a:off x="1581150" y="3505200"/>
            <a:ext cx="3082405"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CHECK-IN</a:t>
            </a:r>
            <a:endParaRPr lang="en-US" sz="1800" dirty="0"/>
          </a:p>
        </p:txBody>
      </p:sp>
      <p:sp>
        <p:nvSpPr>
          <p:cNvPr id="4" name="Text 2"/>
          <p:cNvSpPr/>
          <p:nvPr/>
        </p:nvSpPr>
        <p:spPr>
          <a:xfrm>
            <a:off x="1333500" y="4362450"/>
            <a:ext cx="1718310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4597D3"/>
                </a:solidFill>
                <a:latin typeface="Poppins" pitchFamily="34" charset="0"/>
                <a:ea typeface="Poppins" pitchFamily="34" charset="-122"/>
                <a:cs typeface="Poppins" pitchFamily="34" charset="-120"/>
              </a:rPr>
              <a:t>CHECK-IN</a:t>
            </a:r>
            <a:endParaRPr lang="en-US" sz="1800" dirty="0"/>
          </a:p>
        </p:txBody>
      </p:sp>
      <p:sp>
        <p:nvSpPr>
          <p:cNvPr id="5" name="Text 3"/>
          <p:cNvSpPr/>
          <p:nvPr/>
        </p:nvSpPr>
        <p:spPr>
          <a:xfrm>
            <a:off x="1333500" y="4895850"/>
            <a:ext cx="16089630" cy="2019300"/>
          </a:xfrm>
          <a:prstGeom prst="rect">
            <a:avLst/>
          </a:prstGeom>
          <a:noFill/>
          <a:ln/>
        </p:spPr>
        <p:txBody>
          <a:bodyPr wrap="square" lIns="25400" tIns="25400" rIns="25400" bIns="25400" rtlCol="0" anchor="t">
            <a:normAutofit/>
          </a:bodyPr>
          <a:lstStyle/>
          <a:p>
            <a:pPr algn="l" indent="0" marL="0">
              <a:lnSpc>
                <a:spcPct val="86667"/>
              </a:lnSpc>
              <a:buNone/>
            </a:pPr>
            <a:r>
              <a:rPr lang="en-US" sz="3000" b="1" spc="-60" kern="0" dirty="0">
                <a:solidFill>
                  <a:srgbClr val="005596"/>
                </a:solidFill>
                <a:latin typeface="Poppins" pitchFamily="34" charset="0"/>
                <a:ea typeface="Poppins" pitchFamily="34" charset="-122"/>
                <a:cs typeface="Poppins" pitchFamily="34" charset="-120"/>
              </a:rPr>
              <a:t>Did anyone enable model invocation on a skill since Session 5? What happened — did the model invoke when it should? Did it stay silent when it shouldn't? And: what's the skill you've run most across the full program? Could you describe its invocation boundary?</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666750"/>
            <a:ext cx="4156621" cy="533400"/>
          </a:xfrm>
          <a:prstGeom prst="roundRect">
            <a:avLst>
              <a:gd name="adj" fmla="val 50000"/>
            </a:avLst>
          </a:prstGeom>
          <a:solidFill>
            <a:srgbClr val="9D1D96"/>
          </a:solidFill>
          <a:ln/>
        </p:spPr>
      </p:sp>
      <p:sp>
        <p:nvSpPr>
          <p:cNvPr id="3" name="Text 1"/>
          <p:cNvSpPr/>
          <p:nvPr/>
        </p:nvSpPr>
        <p:spPr>
          <a:xfrm>
            <a:off x="1390650" y="762000"/>
            <a:ext cx="378601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409700"/>
            <a:ext cx="17602200" cy="499021"/>
          </a:xfrm>
          <a:prstGeom prst="rect">
            <a:avLst/>
          </a:prstGeom>
          <a:noFill/>
          <a:ln/>
        </p:spPr>
        <p:txBody>
          <a:bodyPr wrap="square" lIns="25400" tIns="25400" rIns="25400" bIns="25400" rtlCol="0" anchor="t">
            <a:normAutofit/>
          </a:bodyPr>
          <a:lstStyle/>
          <a:p>
            <a:pPr algn="l" indent="0" marL="0">
              <a:lnSpc>
                <a:spcPct val="74462"/>
              </a:lnSpc>
              <a:buNone/>
            </a:pPr>
            <a:r>
              <a:rPr lang="en-US" sz="3300" b="1" spc="-66" kern="0" dirty="0">
                <a:solidFill>
                  <a:srgbClr val="005596"/>
                </a:solidFill>
                <a:latin typeface="Poppins" pitchFamily="34" charset="0"/>
                <a:ea typeface="Poppins" pitchFamily="34" charset="-122"/>
                <a:cs typeface="Poppins" pitchFamily="34" charset="-120"/>
              </a:rPr>
              <a:t>Session Goals </a:t>
            </a:r>
            <a:pPr algn="l" indent="0" marL="0">
              <a:lnSpc>
                <a:spcPct val="74462"/>
              </a:lnSpc>
              <a:buNone/>
            </a:pPr>
            <a:r>
              <a:rPr lang="en-US" sz="2100" b="1" spc="-66" kern="0" dirty="0">
                <a:solidFill>
                  <a:srgbClr val="005596"/>
                </a:solidFill>
                <a:latin typeface="Poppins" pitchFamily="34" charset="0"/>
                <a:ea typeface="Poppins" pitchFamily="34" charset="-122"/>
                <a:cs typeface="Poppins" pitchFamily="34" charset="-120"/>
              </a:rPr>
              <a:t>(1 of 2)</a:t>
            </a:r>
            <a:endParaRPr lang="en-US" sz="3300" dirty="0"/>
          </a:p>
        </p:txBody>
      </p:sp>
      <p:sp>
        <p:nvSpPr>
          <p:cNvPr id="5" name="Shape 3"/>
          <p:cNvSpPr/>
          <p:nvPr/>
        </p:nvSpPr>
        <p:spPr>
          <a:xfrm>
            <a:off x="1143000" y="2080171"/>
            <a:ext cx="16002000" cy="2135386"/>
          </a:xfrm>
          <a:prstGeom prst="roundRect">
            <a:avLst>
              <a:gd name="adj" fmla="val 7137"/>
            </a:avLst>
          </a:prstGeom>
          <a:ln w="19050">
            <a:solidFill>
              <a:srgbClr val="E3E9EF"/>
            </a:solidFill>
            <a:prstDash val="solid"/>
          </a:ln>
        </p:spPr>
      </p:sp>
      <p:sp>
        <p:nvSpPr>
          <p:cNvPr id="6" name="Text 4"/>
          <p:cNvSpPr/>
          <p:nvPr/>
        </p:nvSpPr>
        <p:spPr>
          <a:xfrm>
            <a:off x="1390650" y="2232571"/>
            <a:ext cx="17057370" cy="268486"/>
          </a:xfrm>
          <a:prstGeom prst="rect">
            <a:avLst/>
          </a:prstGeom>
          <a:noFill/>
          <a:ln/>
        </p:spPr>
        <p:txBody>
          <a:bodyPr wrap="square" lIns="25400" tIns="25400" rIns="25400" bIns="25400" rtlCol="0" anchor="t">
            <a:normAutofit/>
          </a:bodyPr>
          <a:lstStyle/>
          <a:p>
            <a:pPr algn="l" indent="0" marL="0">
              <a:lnSpc>
                <a:spcPct val="73333"/>
              </a:lnSpc>
              <a:buNone/>
            </a:pPr>
            <a:r>
              <a:rPr lang="en-US" sz="1650" b="1" spc="-33" kern="0" dirty="0">
                <a:solidFill>
                  <a:srgbClr val="0E1A26"/>
                </a:solidFill>
                <a:latin typeface="Poppins" pitchFamily="34" charset="0"/>
                <a:ea typeface="Poppins" pitchFamily="34" charset="-122"/>
                <a:cs typeface="Poppins" pitchFamily="34" charset="-120"/>
              </a:rPr>
              <a:t>Goal 1: </a:t>
            </a:r>
            <a:pPr algn="l" indent="0" marL="0">
              <a:lnSpc>
                <a:spcPct val="73333"/>
              </a:lnSpc>
              <a:buNone/>
            </a:pPr>
            <a:r>
              <a:rPr lang="en-US" sz="1650" b="1" spc="-33" kern="0" dirty="0">
                <a:solidFill>
                  <a:srgbClr val="4597D3"/>
                </a:solidFill>
                <a:latin typeface="Poppins" pitchFamily="34" charset="0"/>
                <a:ea typeface="Poppins" pitchFamily="34" charset="-122"/>
                <a:cs typeface="Poppins" pitchFamily="34" charset="-120"/>
              </a:rPr>
              <a:t>Build a bounded agent — chain your existing skills into a multi-step workflow in the IDE</a:t>
            </a:r>
            <a:endParaRPr lang="en-US" sz="1650" dirty="0"/>
          </a:p>
        </p:txBody>
      </p:sp>
      <p:sp>
        <p:nvSpPr>
          <p:cNvPr id="7" name="Shape 5"/>
          <p:cNvSpPr/>
          <p:nvPr/>
        </p:nvSpPr>
        <p:spPr>
          <a:xfrm>
            <a:off x="1390650" y="2539157"/>
            <a:ext cx="5067300" cy="1524000"/>
          </a:xfrm>
          <a:prstGeom prst="roundRect">
            <a:avLst>
              <a:gd name="adj" fmla="val 6250"/>
            </a:avLst>
          </a:prstGeom>
          <a:solidFill>
            <a:srgbClr val="F4F7FA"/>
          </a:solidFill>
          <a:ln/>
        </p:spPr>
      </p:sp>
      <p:sp>
        <p:nvSpPr>
          <p:cNvPr id="8" name="Text 6"/>
          <p:cNvSpPr/>
          <p:nvPr/>
        </p:nvSpPr>
        <p:spPr>
          <a:xfrm>
            <a:off x="1533525" y="2643932"/>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33525" y="3043982"/>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run the full SDLC pipeline — epics-and-stories → plan-story → implement-story → review-implementation — in a single IDE session, with the context window carrying artifacts between steps.</a:t>
            </a:r>
            <a:endParaRPr lang="en-US" sz="1500" dirty="0"/>
          </a:p>
        </p:txBody>
      </p:sp>
      <p:sp>
        <p:nvSpPr>
          <p:cNvPr id="10" name="Shape 8"/>
          <p:cNvSpPr/>
          <p:nvPr/>
        </p:nvSpPr>
        <p:spPr>
          <a:xfrm>
            <a:off x="6610350" y="2539157"/>
            <a:ext cx="5067300" cy="1524000"/>
          </a:xfrm>
          <a:prstGeom prst="roundRect">
            <a:avLst>
              <a:gd name="adj" fmla="val 6250"/>
            </a:avLst>
          </a:prstGeom>
          <a:solidFill>
            <a:srgbClr val="F4F7FA"/>
          </a:solidFill>
          <a:ln/>
        </p:spPr>
      </p:sp>
      <p:sp>
        <p:nvSpPr>
          <p:cNvPr id="11" name="Text 9"/>
          <p:cNvSpPr/>
          <p:nvPr/>
        </p:nvSpPr>
        <p:spPr>
          <a:xfrm>
            <a:off x="6753225" y="2643932"/>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53225" y="3043982"/>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use a workflow prompt to tie together the skills you've already created, running each in sequence and reviewing output at each step, plus evaluation and adversarial agent manually.</a:t>
            </a:r>
            <a:endParaRPr lang="en-US" sz="1500" dirty="0"/>
          </a:p>
        </p:txBody>
      </p:sp>
      <p:sp>
        <p:nvSpPr>
          <p:cNvPr id="13" name="Shape 11"/>
          <p:cNvSpPr/>
          <p:nvPr/>
        </p:nvSpPr>
        <p:spPr>
          <a:xfrm>
            <a:off x="11830050" y="2539157"/>
            <a:ext cx="5067300" cy="1524000"/>
          </a:xfrm>
          <a:prstGeom prst="roundRect">
            <a:avLst>
              <a:gd name="adj" fmla="val 6250"/>
            </a:avLst>
          </a:prstGeom>
          <a:solidFill>
            <a:srgbClr val="F4F7FA"/>
          </a:solidFill>
          <a:ln/>
        </p:spPr>
      </p:sp>
      <p:sp>
        <p:nvSpPr>
          <p:cNvPr id="14" name="Text 12"/>
          <p:cNvSpPr/>
          <p:nvPr/>
        </p:nvSpPr>
        <p:spPr>
          <a:xfrm>
            <a:off x="11972925" y="2643932"/>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1972925" y="3043982"/>
            <a:ext cx="4924997" cy="7239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run review-implementation as the final step, consuming all prior outputs — and see how the context window accumulates and why later steps may degrade.</a:t>
            </a:r>
            <a:endParaRPr lang="en-US" sz="1500" dirty="0"/>
          </a:p>
        </p:txBody>
      </p:sp>
      <p:sp>
        <p:nvSpPr>
          <p:cNvPr id="16" name="Shape 14"/>
          <p:cNvSpPr/>
          <p:nvPr/>
        </p:nvSpPr>
        <p:spPr>
          <a:xfrm>
            <a:off x="1143000" y="4367957"/>
            <a:ext cx="16002000" cy="2135386"/>
          </a:xfrm>
          <a:prstGeom prst="roundRect">
            <a:avLst>
              <a:gd name="adj" fmla="val 7137"/>
            </a:avLst>
          </a:prstGeom>
          <a:ln w="19050">
            <a:solidFill>
              <a:srgbClr val="E3E9EF"/>
            </a:solidFill>
            <a:prstDash val="solid"/>
          </a:ln>
        </p:spPr>
      </p:sp>
      <p:sp>
        <p:nvSpPr>
          <p:cNvPr id="17" name="Text 15"/>
          <p:cNvSpPr/>
          <p:nvPr/>
        </p:nvSpPr>
        <p:spPr>
          <a:xfrm>
            <a:off x="1390650" y="4520357"/>
            <a:ext cx="17057370" cy="268486"/>
          </a:xfrm>
          <a:prstGeom prst="rect">
            <a:avLst/>
          </a:prstGeom>
          <a:noFill/>
          <a:ln/>
        </p:spPr>
        <p:txBody>
          <a:bodyPr wrap="square" lIns="25400" tIns="25400" rIns="25400" bIns="25400" rtlCol="0" anchor="t">
            <a:normAutofit/>
          </a:bodyPr>
          <a:lstStyle/>
          <a:p>
            <a:pPr algn="l" indent="0" marL="0">
              <a:lnSpc>
                <a:spcPct val="73333"/>
              </a:lnSpc>
              <a:buNone/>
            </a:pPr>
            <a:r>
              <a:rPr lang="en-US" sz="1650" b="1" spc="-33" kern="0" dirty="0">
                <a:solidFill>
                  <a:srgbClr val="0E1A26"/>
                </a:solidFill>
                <a:latin typeface="Poppins" pitchFamily="34" charset="0"/>
                <a:ea typeface="Poppins" pitchFamily="34" charset="-122"/>
                <a:cs typeface="Poppins" pitchFamily="34" charset="-120"/>
              </a:rPr>
              <a:t>Goal 2: </a:t>
            </a:r>
            <a:pPr algn="l" indent="0" marL="0">
              <a:lnSpc>
                <a:spcPct val="73333"/>
              </a:lnSpc>
              <a:buNone/>
            </a:pPr>
            <a:r>
              <a:rPr lang="en-US" sz="1650" b="1" spc="-33" kern="0" dirty="0">
                <a:solidFill>
                  <a:srgbClr val="4597D3"/>
                </a:solidFill>
                <a:latin typeface="Poppins" pitchFamily="34" charset="0"/>
                <a:ea typeface="Poppins" pitchFamily="34" charset="-122"/>
                <a:cs typeface="Poppins" pitchFamily="34" charset="-120"/>
              </a:rPr>
              <a:t>See a custom harness demonstrated — the full chain with clean context and evaluation at each step</a:t>
            </a:r>
            <a:endParaRPr lang="en-US" sz="1650" dirty="0"/>
          </a:p>
        </p:txBody>
      </p:sp>
      <p:sp>
        <p:nvSpPr>
          <p:cNvPr id="18" name="Shape 16"/>
          <p:cNvSpPr/>
          <p:nvPr/>
        </p:nvSpPr>
        <p:spPr>
          <a:xfrm>
            <a:off x="1390650" y="4826943"/>
            <a:ext cx="5067300" cy="1524000"/>
          </a:xfrm>
          <a:prstGeom prst="roundRect">
            <a:avLst>
              <a:gd name="adj" fmla="val 6250"/>
            </a:avLst>
          </a:prstGeom>
          <a:solidFill>
            <a:srgbClr val="F4F7FA"/>
          </a:solidFill>
          <a:ln/>
        </p:spPr>
      </p:sp>
      <p:sp>
        <p:nvSpPr>
          <p:cNvPr id="19" name="Text 17"/>
          <p:cNvSpPr/>
          <p:nvPr/>
        </p:nvSpPr>
        <p:spPr>
          <a:xfrm>
            <a:off x="1533525" y="4931718"/>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33525" y="5331768"/>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see your epics-and-stories skill running inside a custom harness, evaluated by a Python script and LLM judge before being passed to the next step — the next horizon.</a:t>
            </a:r>
            <a:endParaRPr lang="en-US" sz="1500" dirty="0"/>
          </a:p>
        </p:txBody>
      </p:sp>
      <p:sp>
        <p:nvSpPr>
          <p:cNvPr id="21" name="Shape 19"/>
          <p:cNvSpPr/>
          <p:nvPr/>
        </p:nvSpPr>
        <p:spPr>
          <a:xfrm>
            <a:off x="6610350" y="4826943"/>
            <a:ext cx="5067300" cy="1524000"/>
          </a:xfrm>
          <a:prstGeom prst="roundRect">
            <a:avLst>
              <a:gd name="adj" fmla="val 6250"/>
            </a:avLst>
          </a:prstGeom>
          <a:solidFill>
            <a:srgbClr val="F4F7FA"/>
          </a:solidFill>
          <a:ln/>
        </p:spPr>
      </p:sp>
      <p:sp>
        <p:nvSpPr>
          <p:cNvPr id="22" name="Text 20"/>
          <p:cNvSpPr/>
          <p:nvPr/>
        </p:nvSpPr>
        <p:spPr>
          <a:xfrm>
            <a:off x="6753225" y="4931718"/>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53225" y="5331768"/>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see plan-story → implement-story running inside the harness, with adversarial agents challenging output at each step. Your skills are the building blocks; the harness is the composition.</a:t>
            </a:r>
            <a:endParaRPr lang="en-US" sz="1500" dirty="0"/>
          </a:p>
        </p:txBody>
      </p:sp>
      <p:sp>
        <p:nvSpPr>
          <p:cNvPr id="24" name="Shape 22"/>
          <p:cNvSpPr/>
          <p:nvPr/>
        </p:nvSpPr>
        <p:spPr>
          <a:xfrm>
            <a:off x="11830050" y="4826943"/>
            <a:ext cx="5067300" cy="1524000"/>
          </a:xfrm>
          <a:prstGeom prst="roundRect">
            <a:avLst>
              <a:gd name="adj" fmla="val 6250"/>
            </a:avLst>
          </a:prstGeom>
          <a:solidFill>
            <a:srgbClr val="F4F7FA"/>
          </a:solidFill>
          <a:ln/>
        </p:spPr>
      </p:sp>
      <p:sp>
        <p:nvSpPr>
          <p:cNvPr id="25" name="Text 23"/>
          <p:cNvSpPr/>
          <p:nvPr/>
        </p:nvSpPr>
        <p:spPr>
          <a:xfrm>
            <a:off x="11972925" y="4931718"/>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1972925" y="5331768"/>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see review-implementation consuming the output of every prior step, evaluated by its own Python script. The full chain, orchestrated and measured — the destination.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666750"/>
            <a:ext cx="4156621" cy="533400"/>
          </a:xfrm>
          <a:prstGeom prst="roundRect">
            <a:avLst>
              <a:gd name="adj" fmla="val 50000"/>
            </a:avLst>
          </a:prstGeom>
          <a:solidFill>
            <a:srgbClr val="9D1D96"/>
          </a:solidFill>
          <a:ln/>
        </p:spPr>
      </p:sp>
      <p:sp>
        <p:nvSpPr>
          <p:cNvPr id="3" name="Text 1"/>
          <p:cNvSpPr/>
          <p:nvPr/>
        </p:nvSpPr>
        <p:spPr>
          <a:xfrm>
            <a:off x="1390650" y="762000"/>
            <a:ext cx="378601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SESSION GOALS</a:t>
            </a:r>
            <a:endParaRPr lang="en-US" sz="1800" dirty="0"/>
          </a:p>
        </p:txBody>
      </p:sp>
      <p:sp>
        <p:nvSpPr>
          <p:cNvPr id="4" name="Text 2"/>
          <p:cNvSpPr/>
          <p:nvPr/>
        </p:nvSpPr>
        <p:spPr>
          <a:xfrm>
            <a:off x="1143000" y="1409700"/>
            <a:ext cx="17602200" cy="499021"/>
          </a:xfrm>
          <a:prstGeom prst="rect">
            <a:avLst/>
          </a:prstGeom>
          <a:noFill/>
          <a:ln/>
        </p:spPr>
        <p:txBody>
          <a:bodyPr wrap="square" lIns="25400" tIns="25400" rIns="25400" bIns="25400" rtlCol="0" anchor="t">
            <a:normAutofit/>
          </a:bodyPr>
          <a:lstStyle/>
          <a:p>
            <a:pPr algn="l" indent="0" marL="0">
              <a:lnSpc>
                <a:spcPct val="74462"/>
              </a:lnSpc>
              <a:buNone/>
            </a:pPr>
            <a:r>
              <a:rPr lang="en-US" sz="3300" b="1" spc="-66" kern="0" dirty="0">
                <a:solidFill>
                  <a:srgbClr val="005596"/>
                </a:solidFill>
                <a:latin typeface="Poppins" pitchFamily="34" charset="0"/>
                <a:ea typeface="Poppins" pitchFamily="34" charset="-122"/>
                <a:cs typeface="Poppins" pitchFamily="34" charset="-120"/>
              </a:rPr>
              <a:t>Session Goals </a:t>
            </a:r>
            <a:pPr algn="l" indent="0" marL="0">
              <a:lnSpc>
                <a:spcPct val="74462"/>
              </a:lnSpc>
              <a:buNone/>
            </a:pPr>
            <a:r>
              <a:rPr lang="en-US" sz="2100" b="1" spc="-66" kern="0" dirty="0">
                <a:solidFill>
                  <a:srgbClr val="005596"/>
                </a:solidFill>
                <a:latin typeface="Poppins" pitchFamily="34" charset="0"/>
                <a:ea typeface="Poppins" pitchFamily="34" charset="-122"/>
                <a:cs typeface="Poppins" pitchFamily="34" charset="-120"/>
              </a:rPr>
              <a:t>(2 of 2)</a:t>
            </a:r>
            <a:endParaRPr lang="en-US" sz="3300" dirty="0"/>
          </a:p>
        </p:txBody>
      </p:sp>
      <p:sp>
        <p:nvSpPr>
          <p:cNvPr id="5" name="Shape 3"/>
          <p:cNvSpPr/>
          <p:nvPr/>
        </p:nvSpPr>
        <p:spPr>
          <a:xfrm>
            <a:off x="1143000" y="2080171"/>
            <a:ext cx="16002000" cy="2135386"/>
          </a:xfrm>
          <a:prstGeom prst="roundRect">
            <a:avLst>
              <a:gd name="adj" fmla="val 7137"/>
            </a:avLst>
          </a:prstGeom>
          <a:ln w="19050">
            <a:solidFill>
              <a:srgbClr val="E3E9EF"/>
            </a:solidFill>
            <a:prstDash val="solid"/>
          </a:ln>
        </p:spPr>
      </p:sp>
      <p:sp>
        <p:nvSpPr>
          <p:cNvPr id="6" name="Text 4"/>
          <p:cNvSpPr/>
          <p:nvPr/>
        </p:nvSpPr>
        <p:spPr>
          <a:xfrm>
            <a:off x="1390650" y="2232571"/>
            <a:ext cx="17057370" cy="268486"/>
          </a:xfrm>
          <a:prstGeom prst="rect">
            <a:avLst/>
          </a:prstGeom>
          <a:noFill/>
          <a:ln/>
        </p:spPr>
        <p:txBody>
          <a:bodyPr wrap="square" lIns="25400" tIns="25400" rIns="25400" bIns="25400" rtlCol="0" anchor="t">
            <a:normAutofit/>
          </a:bodyPr>
          <a:lstStyle/>
          <a:p>
            <a:pPr algn="l" indent="0" marL="0">
              <a:lnSpc>
                <a:spcPct val="73333"/>
              </a:lnSpc>
              <a:buNone/>
            </a:pPr>
            <a:r>
              <a:rPr lang="en-US" sz="1650" b="1" spc="-33" kern="0" dirty="0">
                <a:solidFill>
                  <a:srgbClr val="0E1A26"/>
                </a:solidFill>
                <a:latin typeface="Poppins" pitchFamily="34" charset="0"/>
                <a:ea typeface="Poppins" pitchFamily="34" charset="-122"/>
                <a:cs typeface="Poppins" pitchFamily="34" charset="-120"/>
              </a:rPr>
              <a:t>Goal 3: </a:t>
            </a:r>
            <a:pPr algn="l" indent="0" marL="0">
              <a:lnSpc>
                <a:spcPct val="73333"/>
              </a:lnSpc>
              <a:buNone/>
            </a:pPr>
            <a:r>
              <a:rPr lang="en-US" sz="1650" b="1" spc="-33" kern="0" dirty="0">
                <a:solidFill>
                  <a:srgbClr val="4597D3"/>
                </a:solidFill>
                <a:latin typeface="Poppins" pitchFamily="34" charset="0"/>
                <a:ea typeface="Poppins" pitchFamily="34" charset="-122"/>
                <a:cs typeface="Poppins" pitchFamily="34" charset="-120"/>
              </a:rPr>
              <a:t>Understand the IIOS stage framework — where you are (Stage 3) and what comes next (Stage 4)</a:t>
            </a:r>
            <a:endParaRPr lang="en-US" sz="1650" dirty="0"/>
          </a:p>
        </p:txBody>
      </p:sp>
      <p:sp>
        <p:nvSpPr>
          <p:cNvPr id="7" name="Shape 5"/>
          <p:cNvSpPr/>
          <p:nvPr/>
        </p:nvSpPr>
        <p:spPr>
          <a:xfrm>
            <a:off x="1390650" y="2539157"/>
            <a:ext cx="5067300" cy="1524000"/>
          </a:xfrm>
          <a:prstGeom prst="roundRect">
            <a:avLst>
              <a:gd name="adj" fmla="val 6250"/>
            </a:avLst>
          </a:prstGeom>
          <a:solidFill>
            <a:srgbClr val="F4F7FA"/>
          </a:solidFill>
          <a:ln/>
        </p:spPr>
      </p:sp>
      <p:sp>
        <p:nvSpPr>
          <p:cNvPr id="8" name="Text 6"/>
          <p:cNvSpPr/>
          <p:nvPr/>
        </p:nvSpPr>
        <p:spPr>
          <a:xfrm>
            <a:off x="1533525" y="2643932"/>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9" name="Text 7"/>
          <p:cNvSpPr/>
          <p:nvPr/>
        </p:nvSpPr>
        <p:spPr>
          <a:xfrm>
            <a:off x="1533525" y="3043982"/>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 are at Stage 3 (Task) — you can build, evaluate, and iterate skills for real work. Stage 4 (Workflow) connects those skills into shared, governed workflows. A future Stage 4 DLP takes you there.</a:t>
            </a:r>
            <a:endParaRPr lang="en-US" sz="1500" dirty="0"/>
          </a:p>
        </p:txBody>
      </p:sp>
      <p:sp>
        <p:nvSpPr>
          <p:cNvPr id="10" name="Shape 8"/>
          <p:cNvSpPr/>
          <p:nvPr/>
        </p:nvSpPr>
        <p:spPr>
          <a:xfrm>
            <a:off x="6610350" y="2539157"/>
            <a:ext cx="5067300" cy="1524000"/>
          </a:xfrm>
          <a:prstGeom prst="roundRect">
            <a:avLst>
              <a:gd name="adj" fmla="val 6250"/>
            </a:avLst>
          </a:prstGeom>
          <a:solidFill>
            <a:srgbClr val="F4F7FA"/>
          </a:solidFill>
          <a:ln/>
        </p:spPr>
      </p:sp>
      <p:sp>
        <p:nvSpPr>
          <p:cNvPr id="11" name="Text 9"/>
          <p:cNvSpPr/>
          <p:nvPr/>
        </p:nvSpPr>
        <p:spPr>
          <a:xfrm>
            <a:off x="6753225" y="2643932"/>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12" name="Text 10"/>
          <p:cNvSpPr/>
          <p:nvPr/>
        </p:nvSpPr>
        <p:spPr>
          <a:xfrm>
            <a:off x="6753225" y="3043982"/>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Stage 3 is individual: your skills, your evaluation, your iteration. Stage 4 is team + IT: shared workflows, automated guardrails, audit trails, end-to-end success rates. The effort scales ~10x.</a:t>
            </a:r>
            <a:endParaRPr lang="en-US" sz="1500" dirty="0"/>
          </a:p>
        </p:txBody>
      </p:sp>
      <p:sp>
        <p:nvSpPr>
          <p:cNvPr id="13" name="Shape 11"/>
          <p:cNvSpPr/>
          <p:nvPr/>
        </p:nvSpPr>
        <p:spPr>
          <a:xfrm>
            <a:off x="11830050" y="2539157"/>
            <a:ext cx="5067300" cy="1524000"/>
          </a:xfrm>
          <a:prstGeom prst="roundRect">
            <a:avLst>
              <a:gd name="adj" fmla="val 6250"/>
            </a:avLst>
          </a:prstGeom>
          <a:solidFill>
            <a:srgbClr val="F4F7FA"/>
          </a:solidFill>
          <a:ln/>
        </p:spPr>
      </p:sp>
      <p:sp>
        <p:nvSpPr>
          <p:cNvPr id="14" name="Text 12"/>
          <p:cNvSpPr/>
          <p:nvPr/>
        </p:nvSpPr>
        <p:spPr>
          <a:xfrm>
            <a:off x="11972925" y="2643932"/>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15" name="Text 13"/>
          <p:cNvSpPr/>
          <p:nvPr/>
        </p:nvSpPr>
        <p:spPr>
          <a:xfrm>
            <a:off x="11972925" y="3043982"/>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Stage 3 means you review output one piece at a time, by hand. Stage 4 means quality gates are automated between steps. Your review-implementation skill is Stage 3; a harness with guardrails is Stage 4.</a:t>
            </a:r>
            <a:endParaRPr lang="en-US" sz="1500" dirty="0"/>
          </a:p>
        </p:txBody>
      </p:sp>
      <p:sp>
        <p:nvSpPr>
          <p:cNvPr id="16" name="Shape 14"/>
          <p:cNvSpPr/>
          <p:nvPr/>
        </p:nvSpPr>
        <p:spPr>
          <a:xfrm>
            <a:off x="1143000" y="4367957"/>
            <a:ext cx="16002000" cy="2135386"/>
          </a:xfrm>
          <a:prstGeom prst="roundRect">
            <a:avLst>
              <a:gd name="adj" fmla="val 7137"/>
            </a:avLst>
          </a:prstGeom>
          <a:ln w="19050">
            <a:solidFill>
              <a:srgbClr val="E3E9EF"/>
            </a:solidFill>
            <a:prstDash val="solid"/>
          </a:ln>
        </p:spPr>
      </p:sp>
      <p:sp>
        <p:nvSpPr>
          <p:cNvPr id="17" name="Text 15"/>
          <p:cNvSpPr/>
          <p:nvPr/>
        </p:nvSpPr>
        <p:spPr>
          <a:xfrm>
            <a:off x="1390650" y="4520357"/>
            <a:ext cx="17057370" cy="268486"/>
          </a:xfrm>
          <a:prstGeom prst="rect">
            <a:avLst/>
          </a:prstGeom>
          <a:noFill/>
          <a:ln/>
        </p:spPr>
        <p:txBody>
          <a:bodyPr wrap="square" lIns="25400" tIns="25400" rIns="25400" bIns="25400" rtlCol="0" anchor="t">
            <a:normAutofit/>
          </a:bodyPr>
          <a:lstStyle/>
          <a:p>
            <a:pPr algn="l" indent="0" marL="0">
              <a:lnSpc>
                <a:spcPct val="73333"/>
              </a:lnSpc>
              <a:buNone/>
            </a:pPr>
            <a:r>
              <a:rPr lang="en-US" sz="1650" b="1" spc="-33" kern="0" dirty="0">
                <a:solidFill>
                  <a:srgbClr val="0E1A26"/>
                </a:solidFill>
                <a:latin typeface="Poppins" pitchFamily="34" charset="0"/>
                <a:ea typeface="Poppins" pitchFamily="34" charset="-122"/>
                <a:cs typeface="Poppins" pitchFamily="34" charset="-120"/>
              </a:rPr>
              <a:t>Goal 4: </a:t>
            </a:r>
            <a:pPr algn="l" indent="0" marL="0">
              <a:lnSpc>
                <a:spcPct val="73333"/>
              </a:lnSpc>
              <a:buNone/>
            </a:pPr>
            <a:r>
              <a:rPr lang="en-US" sz="1650" b="1" spc="-33" kern="0" dirty="0">
                <a:solidFill>
                  <a:srgbClr val="4597D3"/>
                </a:solidFill>
                <a:latin typeface="Poppins" pitchFamily="34" charset="0"/>
                <a:ea typeface="Poppins" pitchFamily="34" charset="-122"/>
                <a:cs typeface="Poppins" pitchFamily="34" charset="-120"/>
              </a:rPr>
              <a:t>Complete the capstone, final assessment, and commitment statements</a:t>
            </a:r>
            <a:endParaRPr lang="en-US" sz="1650" dirty="0"/>
          </a:p>
        </p:txBody>
      </p:sp>
      <p:sp>
        <p:nvSpPr>
          <p:cNvPr id="18" name="Shape 16"/>
          <p:cNvSpPr/>
          <p:nvPr/>
        </p:nvSpPr>
        <p:spPr>
          <a:xfrm>
            <a:off x="1390650" y="4826943"/>
            <a:ext cx="5067300" cy="1524000"/>
          </a:xfrm>
          <a:prstGeom prst="roundRect">
            <a:avLst>
              <a:gd name="adj" fmla="val 6250"/>
            </a:avLst>
          </a:prstGeom>
          <a:solidFill>
            <a:srgbClr val="F4F7FA"/>
          </a:solidFill>
          <a:ln/>
        </p:spPr>
      </p:sp>
      <p:sp>
        <p:nvSpPr>
          <p:cNvPr id="19" name="Text 17"/>
          <p:cNvSpPr/>
          <p:nvPr/>
        </p:nvSpPr>
        <p:spPr>
          <a:xfrm>
            <a:off x="1533525" y="4931718"/>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PRODUCT/PROCESS</a:t>
            </a:r>
            <a:endParaRPr lang="en-US" sz="1800" dirty="0"/>
          </a:p>
        </p:txBody>
      </p:sp>
      <p:sp>
        <p:nvSpPr>
          <p:cNvPr id="20" name="Text 18"/>
          <p:cNvSpPr/>
          <p:nvPr/>
        </p:nvSpPr>
        <p:spPr>
          <a:xfrm>
            <a:off x="1533525" y="5331768"/>
            <a:ext cx="4924997" cy="7239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present your best skill to a peer — its RTCC structure, your Python evaluator, your improvement cycles, and one thing you learned from the scores.</a:t>
            </a:r>
            <a:endParaRPr lang="en-US" sz="1500" dirty="0"/>
          </a:p>
        </p:txBody>
      </p:sp>
      <p:sp>
        <p:nvSpPr>
          <p:cNvPr id="21" name="Shape 19"/>
          <p:cNvSpPr/>
          <p:nvPr/>
        </p:nvSpPr>
        <p:spPr>
          <a:xfrm>
            <a:off x="6610350" y="4826943"/>
            <a:ext cx="5067300" cy="1524000"/>
          </a:xfrm>
          <a:prstGeom prst="roundRect">
            <a:avLst>
              <a:gd name="adj" fmla="val 6250"/>
            </a:avLst>
          </a:prstGeom>
          <a:solidFill>
            <a:srgbClr val="F4F7FA"/>
          </a:solidFill>
          <a:ln/>
        </p:spPr>
      </p:sp>
      <p:sp>
        <p:nvSpPr>
          <p:cNvPr id="22" name="Text 20"/>
          <p:cNvSpPr/>
          <p:nvPr/>
        </p:nvSpPr>
        <p:spPr>
          <a:xfrm>
            <a:off x="6753225" y="4931718"/>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DEVELOPMENT</a:t>
            </a:r>
            <a:endParaRPr lang="en-US" sz="1800" dirty="0"/>
          </a:p>
        </p:txBody>
      </p:sp>
      <p:sp>
        <p:nvSpPr>
          <p:cNvPr id="23" name="Text 21"/>
          <p:cNvSpPr/>
          <p:nvPr/>
        </p:nvSpPr>
        <p:spPr>
          <a:xfrm>
            <a:off x="6753225" y="5331768"/>
            <a:ext cx="4924997" cy="9525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present your Plan or implement-story skill (or adversarial agent) with discipline framing — not "it generates code" but "I iterated it 4 times and the evaluator showed EC 3 was hardest to satisfy."</a:t>
            </a:r>
            <a:endParaRPr lang="en-US" sz="1500" dirty="0"/>
          </a:p>
        </p:txBody>
      </p:sp>
      <p:sp>
        <p:nvSpPr>
          <p:cNvPr id="24" name="Shape 22"/>
          <p:cNvSpPr/>
          <p:nvPr/>
        </p:nvSpPr>
        <p:spPr>
          <a:xfrm>
            <a:off x="11830050" y="4826943"/>
            <a:ext cx="5067300" cy="1524000"/>
          </a:xfrm>
          <a:prstGeom prst="roundRect">
            <a:avLst>
              <a:gd name="adj" fmla="val 6250"/>
            </a:avLst>
          </a:prstGeom>
          <a:solidFill>
            <a:srgbClr val="F4F7FA"/>
          </a:solidFill>
          <a:ln/>
        </p:spPr>
      </p:sp>
      <p:sp>
        <p:nvSpPr>
          <p:cNvPr id="25" name="Text 23"/>
          <p:cNvSpPr/>
          <p:nvPr/>
        </p:nvSpPr>
        <p:spPr>
          <a:xfrm>
            <a:off x="11972925" y="4931718"/>
            <a:ext cx="5259705"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72" kern="0" dirty="0">
                <a:solidFill>
                  <a:srgbClr val="005596"/>
                </a:solidFill>
                <a:latin typeface="Poppins" pitchFamily="34" charset="0"/>
                <a:ea typeface="Poppins" pitchFamily="34" charset="-122"/>
                <a:cs typeface="Poppins" pitchFamily="34" charset="-120"/>
              </a:rPr>
              <a:t>TESTING</a:t>
            </a:r>
            <a:endParaRPr lang="en-US" sz="1800" dirty="0"/>
          </a:p>
        </p:txBody>
      </p:sp>
      <p:sp>
        <p:nvSpPr>
          <p:cNvPr id="26" name="Text 24"/>
          <p:cNvSpPr/>
          <p:nvPr/>
        </p:nvSpPr>
        <p:spPr>
          <a:xfrm>
            <a:off x="11972925" y="5331768"/>
            <a:ext cx="4924997" cy="723900"/>
          </a:xfrm>
          <a:prstGeom prst="rect">
            <a:avLst/>
          </a:prstGeom>
          <a:noFill/>
          <a:ln/>
        </p:spPr>
        <p:txBody>
          <a:bodyPr wrap="square" lIns="25400" tIns="25400" rIns="25400" bIns="25400" rtlCol="0" anchor="t">
            <a:normAutofit/>
          </a:bodyPr>
          <a:lstStyle/>
          <a:p>
            <a:pPr algn="l" indent="0" marL="0">
              <a:lnSpc>
                <a:spcPct val="75000"/>
              </a:lnSpc>
              <a:buNone/>
            </a:pPr>
            <a:r>
              <a:rPr lang="en-US" sz="1500" dirty="0">
                <a:solidFill>
                  <a:srgbClr val="0E1A26"/>
                </a:solidFill>
                <a:latin typeface="Khula" pitchFamily="34" charset="0"/>
                <a:ea typeface="Khula" pitchFamily="34" charset="-122"/>
                <a:cs typeface="Khula" pitchFamily="34" charset="-120"/>
              </a:rPr>
              <a:t>You'll present your review-implementation skill with evaluation history and iteration evidence, and state a specific, observable commitment for your next sprint.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579936"/>
            <a:ext cx="3265289" cy="533400"/>
          </a:xfrm>
          <a:prstGeom prst="roundRect">
            <a:avLst>
              <a:gd name="adj" fmla="val 50000"/>
            </a:avLst>
          </a:prstGeom>
          <a:solidFill>
            <a:srgbClr val="005596"/>
          </a:solidFill>
          <a:ln/>
        </p:spPr>
      </p:sp>
      <p:sp>
        <p:nvSpPr>
          <p:cNvPr id="3" name="Text 1"/>
          <p:cNvSpPr/>
          <p:nvPr/>
        </p:nvSpPr>
        <p:spPr>
          <a:xfrm>
            <a:off x="1485900" y="2675186"/>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303836"/>
            <a:ext cx="17392650" cy="518071"/>
          </a:xfrm>
          <a:prstGeom prst="rect">
            <a:avLst/>
          </a:prstGeom>
          <a:noFill/>
          <a:ln/>
        </p:spPr>
        <p:txBody>
          <a:bodyPr wrap="square" lIns="25400" tIns="25400" rIns="25400" bIns="25400" rtlCol="0" anchor="t">
            <a:normAutofit/>
          </a:bodyPr>
          <a:lstStyle/>
          <a:p>
            <a:pPr algn="l" indent="0" marL="0">
              <a:lnSpc>
                <a:spcPct val="80000"/>
              </a:lnSpc>
              <a:buNone/>
            </a:pPr>
            <a:r>
              <a:rPr lang="en-US" sz="3150" b="1" spc="-63" kern="0" dirty="0">
                <a:solidFill>
                  <a:srgbClr val="005596"/>
                </a:solidFill>
                <a:latin typeface="Poppins" pitchFamily="34" charset="0"/>
                <a:ea typeface="Poppins" pitchFamily="34" charset="-122"/>
                <a:cs typeface="Poppins" pitchFamily="34" charset="-120"/>
              </a:rPr>
              <a:t>Bounded Agents: Multi-Step Orchestration in the IDE</a:t>
            </a:r>
            <a:endParaRPr lang="en-US" sz="3150" dirty="0"/>
          </a:p>
        </p:txBody>
      </p:sp>
      <p:sp>
        <p:nvSpPr>
          <p:cNvPr id="5" name="Text 3"/>
          <p:cNvSpPr/>
          <p:nvPr/>
        </p:nvSpPr>
        <p:spPr>
          <a:xfrm>
            <a:off x="1238250" y="3974306"/>
            <a:ext cx="16285845" cy="607516"/>
          </a:xfrm>
          <a:prstGeom prst="rect">
            <a:avLst/>
          </a:prstGeom>
          <a:noFill/>
          <a:ln/>
        </p:spPr>
        <p:txBody>
          <a:bodyPr wrap="square" lIns="25400" tIns="25400" rIns="25400" bIns="25400" rtlCol="0" anchor="t">
            <a:normAutofit/>
          </a:bodyPr>
          <a:lstStyle/>
          <a:p>
            <a:pPr algn="l" indent="0" marL="0">
              <a:lnSpc>
                <a:spcPct val="80811"/>
              </a:lnSpc>
              <a:buNone/>
            </a:pPr>
            <a:r>
              <a:rPr lang="en-US" sz="1725" dirty="0">
                <a:solidFill>
                  <a:srgbClr val="0E1A26"/>
                </a:solidFill>
                <a:latin typeface="Khula" pitchFamily="34" charset="0"/>
                <a:ea typeface="Khula" pitchFamily="34" charset="-122"/>
                <a:cs typeface="Khula" pitchFamily="34" charset="-120"/>
              </a:rPr>
              <a:t>A </a:t>
            </a:r>
            <a:pPr algn="l" indent="0" marL="0">
              <a:lnSpc>
                <a:spcPct val="80811"/>
              </a:lnSpc>
              <a:buNone/>
            </a:pPr>
            <a:r>
              <a:rPr lang="en-US" sz="1725" b="1" dirty="0">
                <a:solidFill>
                  <a:srgbClr val="0E1A26"/>
                </a:solidFill>
                <a:latin typeface="Khula" pitchFamily="34" charset="0"/>
                <a:ea typeface="Khula" pitchFamily="34" charset="-122"/>
                <a:cs typeface="Khula" pitchFamily="34" charset="-120"/>
              </a:rPr>
              <a:t>bounded agent </a:t>
            </a:r>
            <a:pPr algn="l" indent="0" marL="0">
              <a:lnSpc>
                <a:spcPct val="80811"/>
              </a:lnSpc>
              <a:buNone/>
            </a:pPr>
            <a:r>
              <a:rPr lang="en-US" sz="1725" dirty="0">
                <a:solidFill>
                  <a:srgbClr val="0E1A26"/>
                </a:solidFill>
                <a:latin typeface="Khula" pitchFamily="34" charset="0"/>
                <a:ea typeface="Khula" pitchFamily="34" charset="-122"/>
                <a:cs typeface="Khula" pitchFamily="34" charset="-120"/>
              </a:rPr>
              <a:t>is a multi-step workflow that runs within the IDE's built-in harness. You invoke a skill, review the output, invoke the next skill, review that output, and so on. The context window carries the artifacts between steps.</a:t>
            </a:r>
            <a:endParaRPr lang="en-US" sz="1725" dirty="0"/>
          </a:p>
        </p:txBody>
      </p:sp>
      <p:sp>
        <p:nvSpPr>
          <p:cNvPr id="6" name="Shape 4"/>
          <p:cNvSpPr/>
          <p:nvPr/>
        </p:nvSpPr>
        <p:spPr>
          <a:xfrm>
            <a:off x="1238250" y="4734223"/>
            <a:ext cx="7791450" cy="2110680"/>
          </a:xfrm>
          <a:prstGeom prst="roundRect">
            <a:avLst>
              <a:gd name="adj" fmla="val 7220"/>
            </a:avLst>
          </a:prstGeom>
          <a:solidFill>
            <a:srgbClr val="EAF6F1"/>
          </a:solidFill>
          <a:ln/>
        </p:spPr>
      </p:sp>
      <p:sp>
        <p:nvSpPr>
          <p:cNvPr id="7" name="Shape 5"/>
          <p:cNvSpPr/>
          <p:nvPr/>
        </p:nvSpPr>
        <p:spPr>
          <a:xfrm>
            <a:off x="1238250" y="4734223"/>
            <a:ext cx="57150" cy="2110680"/>
          </a:xfrm>
          <a:prstGeom prst="rect">
            <a:avLst/>
          </a:prstGeom>
          <a:solidFill>
            <a:srgbClr val="5BC2A7"/>
          </a:solidFill>
          <a:ln/>
        </p:spPr>
      </p:sp>
      <p:sp>
        <p:nvSpPr>
          <p:cNvPr id="8" name="Text 6"/>
          <p:cNvSpPr/>
          <p:nvPr/>
        </p:nvSpPr>
        <p:spPr>
          <a:xfrm>
            <a:off x="1543050" y="4924723"/>
            <a:ext cx="7962900" cy="352425"/>
          </a:xfrm>
          <a:prstGeom prst="rect">
            <a:avLst/>
          </a:prstGeom>
          <a:noFill/>
          <a:ln/>
        </p:spPr>
        <p:txBody>
          <a:bodyPr wrap="square" lIns="25400" tIns="25400" rIns="25400" bIns="25400" rtlCol="0" anchor="t">
            <a:normAutofit/>
          </a:bodyPr>
          <a:lstStyle/>
          <a:p>
            <a:pPr algn="l" indent="0" marL="0">
              <a:lnSpc>
                <a:spcPct val="100000"/>
              </a:lnSpc>
              <a:buNone/>
            </a:pPr>
            <a:r>
              <a:rPr lang="en-US" sz="1650" b="1" spc="83" kern="0" dirty="0">
                <a:solidFill>
                  <a:srgbClr val="0E1A26"/>
                </a:solidFill>
                <a:latin typeface="Poppins" pitchFamily="34" charset="0"/>
                <a:ea typeface="Poppins" pitchFamily="34" charset="-122"/>
                <a:cs typeface="Poppins" pitchFamily="34" charset="-120"/>
              </a:rPr>
              <a:t>WHAT IT CAN DO</a:t>
            </a:r>
            <a:endParaRPr lang="en-US" sz="1650" dirty="0"/>
          </a:p>
        </p:txBody>
      </p:sp>
      <p:sp>
        <p:nvSpPr>
          <p:cNvPr id="9" name="Text 7"/>
          <p:cNvSpPr/>
          <p:nvPr/>
        </p:nvSpPr>
        <p:spPr>
          <a:xfrm>
            <a:off x="1612583" y="5334298"/>
            <a:ext cx="7245668" cy="1358205"/>
          </a:xfrm>
          <a:prstGeom prst="rect">
            <a:avLst/>
          </a:prstGeom>
          <a:noFill/>
          <a:ln/>
        </p:spPr>
        <p:txBody>
          <a:bodyPr wrap="square" lIns="25400" tIns="25400" rIns="25400" bIns="25400" rtlCol="0" anchor="t">
            <a:normAutofit/>
          </a:bodyPr>
          <a:lstStyle/>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Run the full SDLC pipeline in one session: epics-and-stories → plan-story → implement-story → review-implementation</a:t>
            </a:r>
            <a:endParaRPr lang="en-US" sz="1575" dirty="0"/>
          </a:p>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Run the evaluation script after each step (invoked manually)</a:t>
            </a:r>
            <a:endParaRPr lang="en-US" sz="1575" dirty="0"/>
          </a:p>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Run the adversarial agent after key steps (invoked manually)</a:t>
            </a:r>
            <a:endParaRPr lang="en-US" sz="1575" dirty="0"/>
          </a:p>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Produce a final artifact with all step outputs, scores, and findings</a:t>
            </a:r>
            <a:endParaRPr lang="en-US" sz="1575" dirty="0"/>
          </a:p>
        </p:txBody>
      </p:sp>
      <p:sp>
        <p:nvSpPr>
          <p:cNvPr id="10" name="Shape 8"/>
          <p:cNvSpPr/>
          <p:nvPr/>
        </p:nvSpPr>
        <p:spPr>
          <a:xfrm>
            <a:off x="9258300" y="4734223"/>
            <a:ext cx="7791450" cy="2110680"/>
          </a:xfrm>
          <a:prstGeom prst="roundRect">
            <a:avLst>
              <a:gd name="adj" fmla="val 7220"/>
            </a:avLst>
          </a:prstGeom>
          <a:solidFill>
            <a:srgbClr val="FDEDEE"/>
          </a:solidFill>
          <a:ln/>
        </p:spPr>
      </p:sp>
      <p:sp>
        <p:nvSpPr>
          <p:cNvPr id="11" name="Shape 9"/>
          <p:cNvSpPr/>
          <p:nvPr/>
        </p:nvSpPr>
        <p:spPr>
          <a:xfrm>
            <a:off x="9258300" y="4734223"/>
            <a:ext cx="57150" cy="2110680"/>
          </a:xfrm>
          <a:prstGeom prst="rect">
            <a:avLst/>
          </a:prstGeom>
          <a:solidFill>
            <a:srgbClr val="D9534F"/>
          </a:solidFill>
          <a:ln/>
        </p:spPr>
      </p:sp>
      <p:sp>
        <p:nvSpPr>
          <p:cNvPr id="12" name="Text 10"/>
          <p:cNvSpPr/>
          <p:nvPr/>
        </p:nvSpPr>
        <p:spPr>
          <a:xfrm>
            <a:off x="9563100" y="4924723"/>
            <a:ext cx="7962900" cy="352425"/>
          </a:xfrm>
          <a:prstGeom prst="rect">
            <a:avLst/>
          </a:prstGeom>
          <a:noFill/>
          <a:ln/>
        </p:spPr>
        <p:txBody>
          <a:bodyPr wrap="square" lIns="25400" tIns="25400" rIns="25400" bIns="25400" rtlCol="0" anchor="t">
            <a:normAutofit/>
          </a:bodyPr>
          <a:lstStyle/>
          <a:p>
            <a:pPr algn="l" indent="0" marL="0">
              <a:lnSpc>
                <a:spcPct val="100000"/>
              </a:lnSpc>
              <a:buNone/>
            </a:pPr>
            <a:r>
              <a:rPr lang="en-US" sz="1650" b="1" spc="83" kern="0" dirty="0">
                <a:solidFill>
                  <a:srgbClr val="0E1A26"/>
                </a:solidFill>
                <a:latin typeface="Poppins" pitchFamily="34" charset="0"/>
                <a:ea typeface="Poppins" pitchFamily="34" charset="-122"/>
                <a:cs typeface="Poppins" pitchFamily="34" charset="-120"/>
              </a:rPr>
              <a:t>WHAT IT CAN'T DO (WHY CUSTOM HARNESSES EXIST)</a:t>
            </a:r>
            <a:endParaRPr lang="en-US" sz="1650" dirty="0"/>
          </a:p>
        </p:txBody>
      </p:sp>
      <p:sp>
        <p:nvSpPr>
          <p:cNvPr id="13" name="Text 11"/>
          <p:cNvSpPr/>
          <p:nvPr/>
        </p:nvSpPr>
        <p:spPr>
          <a:xfrm>
            <a:off x="9632633" y="5334298"/>
            <a:ext cx="7245668" cy="1094184"/>
          </a:xfrm>
          <a:prstGeom prst="rect">
            <a:avLst/>
          </a:prstGeom>
          <a:noFill/>
          <a:ln/>
        </p:spPr>
        <p:txBody>
          <a:bodyPr wrap="square" lIns="25400" tIns="25400" rIns="25400" bIns="25400" rtlCol="0" anchor="t">
            <a:normAutofit/>
          </a:bodyPr>
          <a:lstStyle/>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Clean context per step — context accumulates, quality may degrade</a:t>
            </a:r>
            <a:endParaRPr lang="en-US" sz="1575" dirty="0"/>
          </a:p>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Automatic evaluation at each step — you run it manually</a:t>
            </a:r>
            <a:endParaRPr lang="en-US" sz="1575" dirty="0"/>
          </a:p>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Programmatic failure handling — you decide, not the harness</a:t>
            </a:r>
            <a:endParaRPr lang="en-US" sz="1575" dirty="0"/>
          </a:p>
          <a:p>
            <a:pPr algn="l" marL="140017" indent="-140017">
              <a:lnSpc>
                <a:spcPct val="81529"/>
              </a:lnSpc>
              <a:buSzPct val="100000"/>
              <a:buChar char="•"/>
              <a:tabLst>
                <a:tab pos="140017" algn="l"/>
              </a:tabLst>
            </a:pPr>
            <a:r>
              <a:rPr lang="en-US" sz="1575" dirty="0">
                <a:solidFill>
                  <a:srgbClr val="0E1A26"/>
                </a:solidFill>
                <a:latin typeface="Khula" pitchFamily="34" charset="0"/>
                <a:ea typeface="Khula" pitchFamily="34" charset="-122"/>
                <a:cs typeface="Khula" pitchFamily="34" charset="-120"/>
              </a:rPr>
              <a:t>Unattended execution — you're in the loop at every step</a:t>
            </a:r>
            <a:endParaRPr lang="en-US" sz="1575" dirty="0"/>
          </a:p>
        </p:txBody>
      </p:sp>
      <p:sp>
        <p:nvSpPr>
          <p:cNvPr id="14" name="Shape 12"/>
          <p:cNvSpPr/>
          <p:nvPr/>
        </p:nvSpPr>
        <p:spPr>
          <a:xfrm>
            <a:off x="1238250" y="7035403"/>
            <a:ext cx="15811500" cy="671513"/>
          </a:xfrm>
          <a:prstGeom prst="roundRect">
            <a:avLst>
              <a:gd name="adj" fmla="val 22695"/>
            </a:avLst>
          </a:prstGeom>
          <a:solidFill>
            <a:srgbClr val="005596"/>
          </a:solidFill>
          <a:ln/>
          <a:effectLst>
            <a:outerShdw sx="100000" sy="100000" kx="0" ky="0" algn="bl" rotWithShape="0" blurRad="266700" dist="114300" dir="5400000">
              <a:srgbClr val="005596">
                <a:alpha val="28000"/>
              </a:srgbClr>
            </a:outerShdw>
          </a:effectLst>
        </p:spPr>
      </p:sp>
      <p:sp>
        <p:nvSpPr>
          <p:cNvPr id="15" name="Text 13"/>
          <p:cNvSpPr/>
          <p:nvPr/>
        </p:nvSpPr>
        <p:spPr>
          <a:xfrm>
            <a:off x="1524000" y="7206853"/>
            <a:ext cx="16764000" cy="366713"/>
          </a:xfrm>
          <a:prstGeom prst="rect">
            <a:avLst/>
          </a:prstGeom>
          <a:noFill/>
          <a:ln/>
        </p:spPr>
        <p:txBody>
          <a:bodyPr wrap="square" lIns="25400" tIns="25400" rIns="25400" bIns="25400" rtlCol="0" anchor="t">
            <a:normAutofit/>
          </a:bodyPr>
          <a:lstStyle/>
          <a:p>
            <a:pPr algn="l" indent="0" marL="0">
              <a:lnSpc>
                <a:spcPct val="93243"/>
              </a:lnSpc>
              <a:buNone/>
            </a:pPr>
            <a:r>
              <a:rPr lang="en-US" sz="1725" b="1" dirty="0">
                <a:solidFill>
                  <a:srgbClr val="FFFFFF"/>
                </a:solidFill>
                <a:latin typeface="Khula" pitchFamily="34" charset="0"/>
                <a:ea typeface="Khula" pitchFamily="34" charset="-122"/>
                <a:cs typeface="Khula" pitchFamily="34" charset="-120"/>
              </a:rPr>
              <a:t>The bounded agent is real and useful. For many workflows, it's sufficient. The custom harness is what you build when you outgrow it.</a:t>
            </a:r>
            <a:endParaRPr lang="en-US" sz="17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571500"/>
            <a:ext cx="3368873" cy="533400"/>
          </a:xfrm>
          <a:prstGeom prst="roundRect">
            <a:avLst>
              <a:gd name="adj" fmla="val 50000"/>
            </a:avLst>
          </a:prstGeom>
          <a:solidFill>
            <a:srgbClr val="F5BB41"/>
          </a:solidFill>
          <a:ln/>
        </p:spPr>
      </p:sp>
      <p:sp>
        <p:nvSpPr>
          <p:cNvPr id="3" name="Text 1"/>
          <p:cNvSpPr/>
          <p:nvPr/>
        </p:nvSpPr>
        <p:spPr>
          <a:xfrm>
            <a:off x="1485900" y="666750"/>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377404"/>
            <a:ext cx="8303582" cy="432346"/>
          </a:xfrm>
          <a:prstGeom prst="rect">
            <a:avLst/>
          </a:prstGeom>
          <a:noFill/>
          <a:ln/>
        </p:spPr>
        <p:txBody>
          <a:bodyPr wrap="square" lIns="25400" tIns="25400" rIns="25400" bIns="25400" rtlCol="0" anchor="t">
            <a:normAutofit/>
          </a:bodyPr>
          <a:lstStyle/>
          <a:p>
            <a:pPr algn="l" indent="0" marL="0">
              <a:lnSpc>
                <a:spcPct val="75273"/>
              </a:lnSpc>
              <a:buNone/>
            </a:pPr>
            <a:r>
              <a:rPr lang="en-US" sz="2700" b="1" spc="-54" kern="0" dirty="0">
                <a:solidFill>
                  <a:srgbClr val="005596"/>
                </a:solidFill>
                <a:latin typeface="Poppins" pitchFamily="34" charset="0"/>
                <a:ea typeface="Poppins" pitchFamily="34" charset="-122"/>
                <a:cs typeface="Poppins" pitchFamily="34" charset="-120"/>
              </a:rPr>
              <a:t>Bounded Agent — Full SDLC Pipeline in the IDE</a:t>
            </a:r>
            <a:endParaRPr lang="en-US" sz="2700" dirty="0"/>
          </a:p>
        </p:txBody>
      </p:sp>
      <p:sp>
        <p:nvSpPr>
          <p:cNvPr id="5" name="Shape 3"/>
          <p:cNvSpPr/>
          <p:nvPr/>
        </p:nvSpPr>
        <p:spPr>
          <a:xfrm>
            <a:off x="14817179" y="1238250"/>
            <a:ext cx="2232571" cy="533400"/>
          </a:xfrm>
          <a:prstGeom prst="roundRect">
            <a:avLst>
              <a:gd name="adj" fmla="val 50000"/>
            </a:avLst>
          </a:prstGeom>
          <a:solidFill>
            <a:srgbClr val="005596"/>
          </a:solidFill>
          <a:ln/>
        </p:spPr>
      </p:sp>
      <p:sp>
        <p:nvSpPr>
          <p:cNvPr id="6" name="Text 4"/>
          <p:cNvSpPr/>
          <p:nvPr/>
        </p:nvSpPr>
        <p:spPr>
          <a:xfrm>
            <a:off x="15064829" y="1333500"/>
            <a:ext cx="1813471"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30 MINUTES</a:t>
            </a:r>
            <a:endParaRPr lang="en-US" sz="1800" dirty="0"/>
          </a:p>
        </p:txBody>
      </p:sp>
      <p:sp>
        <p:nvSpPr>
          <p:cNvPr id="7" name="Text 5"/>
          <p:cNvSpPr/>
          <p:nvPr/>
        </p:nvSpPr>
        <p:spPr>
          <a:xfrm>
            <a:off x="1200150" y="1905000"/>
            <a:ext cx="8636318" cy="281880"/>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1"/>
              <a:tabLst>
                <a:tab pos="285750" algn="l"/>
              </a:tabLst>
            </a:pPr>
            <a:r>
              <a:rPr lang="en-US" sz="1500" dirty="0">
                <a:solidFill>
                  <a:srgbClr val="0E1A26"/>
                </a:solidFill>
                <a:latin typeface="Khula" pitchFamily="34" charset="0"/>
                <a:ea typeface="Khula" pitchFamily="34" charset="-122"/>
                <a:cs typeface="Khula" pitchFamily="34" charset="-120"/>
              </a:rPr>
              <a:t>Open a fresh session in your IDE (Claude Code, Devin, etc.)</a:t>
            </a:r>
            <a:endParaRPr lang="en-US" sz="1500" dirty="0"/>
          </a:p>
        </p:txBody>
      </p:sp>
      <p:sp>
        <p:nvSpPr>
          <p:cNvPr id="8" name="Text 6"/>
          <p:cNvSpPr/>
          <p:nvPr/>
        </p:nvSpPr>
        <p:spPr>
          <a:xfrm>
            <a:off x="1200150" y="2148780"/>
            <a:ext cx="8636318" cy="310455"/>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2"/>
            </a:pPr>
            <a:r>
              <a:rPr lang="en-US" sz="1500" dirty="0">
                <a:solidFill>
                  <a:srgbClr val="0E1A26"/>
                </a:solidFill>
                <a:latin typeface="Khula" pitchFamily="34" charset="0"/>
                <a:ea typeface="Khula" pitchFamily="34" charset="-122"/>
                <a:cs typeface="Khula" pitchFamily="34" charset="-120"/>
              </a:rPr>
              <a:t>Start with a sample story from </a:t>
            </a:r>
            <a:pPr algn="l" indent="0" marL="0">
              <a:lnSpc>
                <a:spcPct val="80000"/>
              </a:lnSpc>
              <a:buNone/>
            </a:pPr>
            <a:r>
              <a:rPr lang="en-US" sz="1500" dirty="0">
                <a:solidFill>
                  <a:srgbClr val="0E1A26"/>
                </a:solidFill>
                <a:latin typeface="Courier New" pitchFamily="34" charset="0"/>
                <a:ea typeface="Courier New" pitchFamily="34" charset="-122"/>
                <a:cs typeface="Courier New" pitchFamily="34" charset="-120"/>
              </a:rPr>
              <a:t>sample-stories/ </a:t>
            </a:r>
            <a:pPr algn="l" indent="0" marL="0">
              <a:lnSpc>
                <a:spcPct val="80000"/>
              </a:lnSpc>
              <a:buNone/>
            </a:pPr>
            <a:r>
              <a:rPr lang="en-US" sz="1500" dirty="0">
                <a:solidFill>
                  <a:srgbClr val="0E1A26"/>
                </a:solidFill>
                <a:latin typeface="Khula" pitchFamily="34" charset="0"/>
                <a:ea typeface="Khula" pitchFamily="34" charset="-122"/>
                <a:cs typeface="Khula" pitchFamily="34" charset="-120"/>
              </a:rPr>
              <a:t>in the workspace</a:t>
            </a:r>
            <a:endParaRPr lang="en-US" sz="1500" dirty="0"/>
          </a:p>
        </p:txBody>
      </p:sp>
      <p:sp>
        <p:nvSpPr>
          <p:cNvPr id="9" name="Text 7"/>
          <p:cNvSpPr/>
          <p:nvPr/>
        </p:nvSpPr>
        <p:spPr>
          <a:xfrm>
            <a:off x="1200150" y="2421136"/>
            <a:ext cx="8636318" cy="281880"/>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3"/>
              <a:tabLst>
                <a:tab pos="285750" algn="l"/>
              </a:tabLst>
            </a:pPr>
            <a:r>
              <a:rPr lang="en-US" sz="1500" dirty="0">
                <a:solidFill>
                  <a:srgbClr val="0E1A26"/>
                </a:solidFill>
                <a:latin typeface="Khula" pitchFamily="34" charset="0"/>
                <a:ea typeface="Khula" pitchFamily="34" charset="-122"/>
                <a:cs typeface="Khula" pitchFamily="34" charset="-120"/>
              </a:rPr>
              <a:t>Invoke your epics-and-stories skill — review the output (stories with AC)</a:t>
            </a:r>
            <a:endParaRPr lang="en-US" sz="1500" dirty="0"/>
          </a:p>
        </p:txBody>
      </p:sp>
      <p:sp>
        <p:nvSpPr>
          <p:cNvPr id="10" name="Text 8"/>
          <p:cNvSpPr/>
          <p:nvPr/>
        </p:nvSpPr>
        <p:spPr>
          <a:xfrm>
            <a:off x="1200150" y="2664916"/>
            <a:ext cx="8104918" cy="554236"/>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4"/>
            </a:pPr>
            <a:r>
              <a:rPr lang="en-US" sz="1500" dirty="0">
                <a:solidFill>
                  <a:srgbClr val="0E1A26"/>
                </a:solidFill>
                <a:latin typeface="Khula" pitchFamily="34" charset="0"/>
                <a:ea typeface="Khula" pitchFamily="34" charset="-122"/>
                <a:cs typeface="Khula" pitchFamily="34" charset="-120"/>
              </a:rPr>
              <a:t>Run your evaluation script from </a:t>
            </a:r>
            <a:pPr algn="l" indent="0" marL="0">
              <a:lnSpc>
                <a:spcPct val="80000"/>
              </a:lnSpc>
              <a:buNone/>
            </a:pPr>
            <a:r>
              <a:rPr lang="en-US" sz="1500" dirty="0">
                <a:solidFill>
                  <a:srgbClr val="0E1A26"/>
                </a:solidFill>
                <a:latin typeface="Courier New" pitchFamily="34" charset="0"/>
                <a:ea typeface="Courier New" pitchFamily="34" charset="-122"/>
                <a:cs typeface="Courier New" pitchFamily="34" charset="-120"/>
              </a:rPr>
              <a:t>evaluations/ </a:t>
            </a:r>
            <a:pPr algn="l" indent="0" marL="0">
              <a:lnSpc>
                <a:spcPct val="80000"/>
              </a:lnSpc>
              <a:buNone/>
            </a:pPr>
            <a:r>
              <a:rPr lang="en-US" sz="1500" dirty="0">
                <a:solidFill>
                  <a:srgbClr val="0E1A26"/>
                </a:solidFill>
                <a:latin typeface="Khula" pitchFamily="34" charset="0"/>
                <a:ea typeface="Khula" pitchFamily="34" charset="-122"/>
                <a:cs typeface="Khula" pitchFamily="34" charset="-120"/>
              </a:rPr>
              <a:t>against the AC output — note the EC scores</a:t>
            </a:r>
            <a:endParaRPr lang="en-US" sz="1500" dirty="0"/>
          </a:p>
        </p:txBody>
      </p:sp>
      <p:sp>
        <p:nvSpPr>
          <p:cNvPr id="11" name="Text 9"/>
          <p:cNvSpPr/>
          <p:nvPr/>
        </p:nvSpPr>
        <p:spPr>
          <a:xfrm>
            <a:off x="1200150" y="3181052"/>
            <a:ext cx="8636318" cy="281880"/>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5"/>
              <a:tabLst>
                <a:tab pos="285750" algn="l"/>
              </a:tabLst>
            </a:pPr>
            <a:r>
              <a:rPr lang="en-US" sz="1500" dirty="0">
                <a:solidFill>
                  <a:srgbClr val="0E1A26"/>
                </a:solidFill>
                <a:latin typeface="Khula" pitchFamily="34" charset="0"/>
                <a:ea typeface="Khula" pitchFamily="34" charset="-122"/>
                <a:cs typeface="Khula" pitchFamily="34" charset="-120"/>
              </a:rPr>
              <a:t>Invoke your plan-story skill with the story + AC in context — review the plan</a:t>
            </a:r>
            <a:endParaRPr lang="en-US" sz="1500" dirty="0"/>
          </a:p>
        </p:txBody>
      </p:sp>
      <p:sp>
        <p:nvSpPr>
          <p:cNvPr id="12" name="Text 10"/>
          <p:cNvSpPr/>
          <p:nvPr/>
        </p:nvSpPr>
        <p:spPr>
          <a:xfrm>
            <a:off x="9172575" y="1905000"/>
            <a:ext cx="8636318" cy="281880"/>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6"/>
              <a:tabLst>
                <a:tab pos="285750" algn="l"/>
              </a:tabLst>
            </a:pPr>
            <a:r>
              <a:rPr lang="en-US" sz="1500" dirty="0">
                <a:solidFill>
                  <a:srgbClr val="0E1A26"/>
                </a:solidFill>
                <a:latin typeface="Khula" pitchFamily="34" charset="0"/>
                <a:ea typeface="Khula" pitchFamily="34" charset="-122"/>
                <a:cs typeface="Khula" pitchFamily="34" charset="-120"/>
              </a:rPr>
              <a:t>Run your evaluation script against the plan output — note the EC scores</a:t>
            </a:r>
            <a:endParaRPr lang="en-US" sz="1500" dirty="0"/>
          </a:p>
        </p:txBody>
      </p:sp>
      <p:sp>
        <p:nvSpPr>
          <p:cNvPr id="13" name="Text 11"/>
          <p:cNvSpPr/>
          <p:nvPr/>
        </p:nvSpPr>
        <p:spPr>
          <a:xfrm>
            <a:off x="9172575" y="2148780"/>
            <a:ext cx="8636318" cy="281880"/>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7"/>
              <a:tabLst>
                <a:tab pos="285750" algn="l"/>
              </a:tabLst>
            </a:pPr>
            <a:r>
              <a:rPr lang="en-US" sz="1500" dirty="0">
                <a:solidFill>
                  <a:srgbClr val="0E1A26"/>
                </a:solidFill>
                <a:latin typeface="Khula" pitchFamily="34" charset="0"/>
                <a:ea typeface="Khula" pitchFamily="34" charset="-122"/>
                <a:cs typeface="Khula" pitchFamily="34" charset="-120"/>
              </a:rPr>
              <a:t>Invoke your implement-story skill with the plan in context — review the code</a:t>
            </a:r>
            <a:endParaRPr lang="en-US" sz="1500" dirty="0"/>
          </a:p>
        </p:txBody>
      </p:sp>
      <p:sp>
        <p:nvSpPr>
          <p:cNvPr id="14" name="Text 12"/>
          <p:cNvSpPr/>
          <p:nvPr/>
        </p:nvSpPr>
        <p:spPr>
          <a:xfrm>
            <a:off x="9172575" y="2392561"/>
            <a:ext cx="8104918" cy="554236"/>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8"/>
            </a:pPr>
            <a:r>
              <a:rPr lang="en-US" sz="1500" dirty="0">
                <a:solidFill>
                  <a:srgbClr val="0E1A26"/>
                </a:solidFill>
                <a:latin typeface="Khula" pitchFamily="34" charset="0"/>
                <a:ea typeface="Khula" pitchFamily="34" charset="-122"/>
                <a:cs typeface="Khula" pitchFamily="34" charset="-120"/>
              </a:rPr>
              <a:t>Run your adversarial agent from </a:t>
            </a:r>
            <a:pPr algn="l" indent="0" marL="0">
              <a:lnSpc>
                <a:spcPct val="80000"/>
              </a:lnSpc>
              <a:buNone/>
            </a:pPr>
            <a:r>
              <a:rPr lang="en-US" sz="1500" dirty="0">
                <a:solidFill>
                  <a:srgbClr val="0E1A26"/>
                </a:solidFill>
                <a:latin typeface="Courier New" pitchFamily="34" charset="0"/>
                <a:ea typeface="Courier New" pitchFamily="34" charset="-122"/>
                <a:cs typeface="Courier New" pitchFamily="34" charset="-120"/>
              </a:rPr>
              <a:t>adversarial-agents/ </a:t>
            </a:r>
            <a:pPr algn="l" indent="0" marL="0">
              <a:lnSpc>
                <a:spcPct val="80000"/>
              </a:lnSpc>
              <a:buNone/>
            </a:pPr>
            <a:r>
              <a:rPr lang="en-US" sz="1500" dirty="0">
                <a:solidFill>
                  <a:srgbClr val="0E1A26"/>
                </a:solidFill>
                <a:latin typeface="Khula" pitchFamily="34" charset="0"/>
                <a:ea typeface="Khula" pitchFamily="34" charset="-122"/>
                <a:cs typeface="Khula" pitchFamily="34" charset="-120"/>
              </a:rPr>
              <a:t>against the code output — note findings</a:t>
            </a:r>
            <a:endParaRPr lang="en-US" sz="1500" dirty="0"/>
          </a:p>
        </p:txBody>
      </p:sp>
      <p:sp>
        <p:nvSpPr>
          <p:cNvPr id="15" name="Text 13"/>
          <p:cNvSpPr/>
          <p:nvPr/>
        </p:nvSpPr>
        <p:spPr>
          <a:xfrm>
            <a:off x="9172575" y="2908697"/>
            <a:ext cx="8104918" cy="525661"/>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9"/>
              <a:tabLst>
                <a:tab pos="285750" algn="l"/>
              </a:tabLst>
            </a:pPr>
            <a:r>
              <a:rPr lang="en-US" sz="1500" dirty="0">
                <a:solidFill>
                  <a:srgbClr val="0E1A26"/>
                </a:solidFill>
                <a:latin typeface="Khula" pitchFamily="34" charset="0"/>
                <a:ea typeface="Khula" pitchFamily="34" charset="-122"/>
                <a:cs typeface="Khula" pitchFamily="34" charset="-120"/>
              </a:rPr>
              <a:t>Invoke your review-implementation skill with story + AC + plan + code in context — review the review</a:t>
            </a:r>
            <a:endParaRPr lang="en-US" sz="1500" dirty="0"/>
          </a:p>
        </p:txBody>
      </p:sp>
      <p:sp>
        <p:nvSpPr>
          <p:cNvPr id="16" name="Text 14"/>
          <p:cNvSpPr/>
          <p:nvPr/>
        </p:nvSpPr>
        <p:spPr>
          <a:xfrm>
            <a:off x="9172575" y="3396258"/>
            <a:ext cx="8636318" cy="281880"/>
          </a:xfrm>
          <a:prstGeom prst="rect">
            <a:avLst/>
          </a:prstGeom>
          <a:noFill/>
          <a:ln/>
        </p:spPr>
        <p:txBody>
          <a:bodyPr wrap="square" lIns="25400" tIns="25400" rIns="25400" bIns="25400" rtlCol="0" anchor="t">
            <a:normAutofit/>
          </a:bodyPr>
          <a:lstStyle/>
          <a:p>
            <a:pPr algn="l" marL="285750" indent="-285750">
              <a:lnSpc>
                <a:spcPct val="80000"/>
              </a:lnSpc>
              <a:buSzPct val="100000"/>
              <a:buFont typeface="+mj-lt"/>
              <a:buAutoNum type="arabicPeriod" startAt="10"/>
              <a:tabLst>
                <a:tab pos="285750" algn="l"/>
              </a:tabLst>
            </a:pPr>
            <a:r>
              <a:rPr lang="en-US" sz="1500" dirty="0">
                <a:solidFill>
                  <a:srgbClr val="0E1A26"/>
                </a:solidFill>
                <a:latin typeface="Khula" pitchFamily="34" charset="0"/>
                <a:ea typeface="Khula" pitchFamily="34" charset="-122"/>
                <a:cs typeface="Khula" pitchFamily="34" charset="-120"/>
              </a:rPr>
              <a:t>Save the full session output as your bounded agent artifact</a:t>
            </a:r>
            <a:endParaRPr lang="en-US" sz="1500" dirty="0"/>
          </a:p>
        </p:txBody>
      </p:sp>
      <p:sp>
        <p:nvSpPr>
          <p:cNvPr id="17" name="Shape 15"/>
          <p:cNvSpPr/>
          <p:nvPr/>
        </p:nvSpPr>
        <p:spPr>
          <a:xfrm>
            <a:off x="1238250" y="3773388"/>
            <a:ext cx="15811500" cy="1269504"/>
          </a:xfrm>
          <a:prstGeom prst="roundRect">
            <a:avLst>
              <a:gd name="adj" fmla="val 12005"/>
            </a:avLst>
          </a:prstGeom>
          <a:solidFill>
            <a:srgbClr val="005596"/>
          </a:solidFill>
          <a:ln/>
          <a:effectLst>
            <a:outerShdw sx="100000" sy="100000" kx="0" ky="0" algn="bl" rotWithShape="0" blurRad="266700" dist="114300" dir="5400000">
              <a:srgbClr val="005596">
                <a:alpha val="28000"/>
              </a:srgbClr>
            </a:outerShdw>
          </a:effectLst>
        </p:spPr>
      </p:sp>
      <p:sp>
        <p:nvSpPr>
          <p:cNvPr id="18" name="Text 16"/>
          <p:cNvSpPr/>
          <p:nvPr/>
        </p:nvSpPr>
        <p:spPr>
          <a:xfrm>
            <a:off x="1524000" y="3906738"/>
            <a:ext cx="16764000" cy="338138"/>
          </a:xfrm>
          <a:prstGeom prst="rect">
            <a:avLst/>
          </a:prstGeom>
          <a:noFill/>
          <a:ln/>
        </p:spPr>
        <p:txBody>
          <a:bodyPr wrap="square" lIns="25400" tIns="25400" rIns="25400" bIns="25400" rtlCol="0" anchor="t">
            <a:normAutofit/>
          </a:bodyPr>
          <a:lstStyle/>
          <a:p>
            <a:pPr algn="l" indent="0" marL="0">
              <a:lnSpc>
                <a:spcPct val="101613"/>
              </a:lnSpc>
              <a:buNone/>
            </a:pPr>
            <a:r>
              <a:rPr lang="en-US" sz="1575" b="1" spc="95" kern="0" dirty="0">
                <a:solidFill>
                  <a:srgbClr val="F5BB41"/>
                </a:solidFill>
                <a:latin typeface="Poppins" pitchFamily="34" charset="0"/>
                <a:ea typeface="Poppins" pitchFamily="34" charset="-122"/>
                <a:cs typeface="Poppins" pitchFamily="34" charset="-120"/>
              </a:rPr>
              <a:t>YOU'LL KNOW WHEN YOU'RE DONE BECAUSE…</a:t>
            </a:r>
            <a:endParaRPr lang="en-US" sz="1575" dirty="0"/>
          </a:p>
        </p:txBody>
      </p:sp>
      <p:sp>
        <p:nvSpPr>
          <p:cNvPr id="19" name="Text 17"/>
          <p:cNvSpPr/>
          <p:nvPr/>
        </p:nvSpPr>
        <p:spPr>
          <a:xfrm>
            <a:off x="1524000" y="4254401"/>
            <a:ext cx="15697200" cy="502741"/>
          </a:xfrm>
          <a:prstGeom prst="rect">
            <a:avLst/>
          </a:prstGeom>
          <a:noFill/>
          <a:ln/>
        </p:spPr>
        <p:txBody>
          <a:bodyPr wrap="square" lIns="25400" tIns="25400" rIns="25400" bIns="25400" rtlCol="0" anchor="t">
            <a:normAutofit/>
          </a:bodyPr>
          <a:lstStyle/>
          <a:p>
            <a:pPr algn="l" indent="0" marL="0">
              <a:lnSpc>
                <a:spcPct val="76250"/>
              </a:lnSpc>
              <a:buNone/>
            </a:pPr>
            <a:r>
              <a:rPr lang="en-US" sz="1500" dirty="0">
                <a:solidFill>
                  <a:srgbClr val="FFFFFF"/>
                </a:solidFill>
                <a:latin typeface="Khula" pitchFamily="34" charset="0"/>
                <a:ea typeface="Khula" pitchFamily="34" charset="-122"/>
                <a:cs typeface="Khula" pitchFamily="34" charset="-120"/>
              </a:rPr>
              <a:t>You've run all four SDLC skills in sequence in a single IDE session, with evaluation and adversarial review at key steps, and you can point to where context window accumulation affected later steps. You've built a bounded agent — the full pipeline, orchestrated by you, in the IDE harness you already have.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599432"/>
            <a:ext cx="3265289" cy="533400"/>
          </a:xfrm>
          <a:prstGeom prst="roundRect">
            <a:avLst>
              <a:gd name="adj" fmla="val 50000"/>
            </a:avLst>
          </a:prstGeom>
          <a:solidFill>
            <a:srgbClr val="005596"/>
          </a:solidFill>
          <a:ln/>
        </p:spPr>
      </p:sp>
      <p:sp>
        <p:nvSpPr>
          <p:cNvPr id="3" name="Text 1"/>
          <p:cNvSpPr/>
          <p:nvPr/>
        </p:nvSpPr>
        <p:spPr>
          <a:xfrm>
            <a:off x="1485900" y="2694682"/>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323332"/>
            <a:ext cx="17392650"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60" kern="0" dirty="0">
                <a:solidFill>
                  <a:srgbClr val="005596"/>
                </a:solidFill>
                <a:latin typeface="Poppins" pitchFamily="34" charset="0"/>
                <a:ea typeface="Poppins" pitchFamily="34" charset="-122"/>
                <a:cs typeface="Poppins" pitchFamily="34" charset="-120"/>
              </a:rPr>
              <a:t>Context Window Discipline in a Bounded Agent</a:t>
            </a:r>
            <a:endParaRPr lang="en-US" sz="3000" dirty="0"/>
          </a:p>
        </p:txBody>
      </p:sp>
      <p:sp>
        <p:nvSpPr>
          <p:cNvPr id="5" name="Text 3"/>
          <p:cNvSpPr/>
          <p:nvPr/>
        </p:nvSpPr>
        <p:spPr>
          <a:xfrm>
            <a:off x="1238250" y="3971032"/>
            <a:ext cx="16285845" cy="550069"/>
          </a:xfrm>
          <a:prstGeom prst="rect">
            <a:avLst/>
          </a:prstGeom>
          <a:noFill/>
          <a:ln/>
        </p:spPr>
        <p:txBody>
          <a:bodyPr wrap="square" lIns="25400" tIns="25400" rIns="25400" bIns="25400" rtlCol="0" anchor="t">
            <a:normAutofit/>
          </a:bodyPr>
          <a:lstStyle/>
          <a:p>
            <a:pPr algn="l" indent="0" marL="0">
              <a:lnSpc>
                <a:spcPct val="79059"/>
              </a:lnSpc>
              <a:buNone/>
            </a:pPr>
            <a:r>
              <a:rPr lang="en-US" sz="1575" dirty="0">
                <a:solidFill>
                  <a:srgbClr val="0E1A26"/>
                </a:solidFill>
                <a:latin typeface="Khula" pitchFamily="34" charset="0"/>
                <a:ea typeface="Khula" pitchFamily="34" charset="-122"/>
                <a:cs typeface="Khula" pitchFamily="34" charset="-120"/>
              </a:rPr>
              <a:t>You just ran the full pipeline in one session. You likely noticed the later steps didn't produce output as sharp as the earlier ones. That's not a model problem — it's a context window problem.</a:t>
            </a:r>
            <a:endParaRPr lang="en-US" sz="1575" dirty="0"/>
          </a:p>
        </p:txBody>
      </p:sp>
      <p:sp>
        <p:nvSpPr>
          <p:cNvPr id="6" name="Shape 4"/>
          <p:cNvSpPr/>
          <p:nvPr/>
        </p:nvSpPr>
        <p:spPr>
          <a:xfrm>
            <a:off x="1238250" y="4673501"/>
            <a:ext cx="7791450" cy="1918692"/>
          </a:xfrm>
          <a:prstGeom prst="roundRect">
            <a:avLst>
              <a:gd name="adj" fmla="val 7943"/>
            </a:avLst>
          </a:prstGeom>
          <a:solidFill>
            <a:srgbClr val="F4F7FA"/>
          </a:solidFill>
          <a:ln/>
        </p:spPr>
      </p:sp>
      <p:sp>
        <p:nvSpPr>
          <p:cNvPr id="7" name="Text 5"/>
          <p:cNvSpPr/>
          <p:nvPr/>
        </p:nvSpPr>
        <p:spPr>
          <a:xfrm>
            <a:off x="1466850" y="4844951"/>
            <a:ext cx="8067675" cy="323850"/>
          </a:xfrm>
          <a:prstGeom prst="rect">
            <a:avLst/>
          </a:prstGeom>
          <a:noFill/>
          <a:ln/>
        </p:spPr>
        <p:txBody>
          <a:bodyPr wrap="square" lIns="25400" tIns="25400" rIns="25400" bIns="25400" rtlCol="0" anchor="t">
            <a:normAutofit/>
          </a:bodyPr>
          <a:lstStyle/>
          <a:p>
            <a:pPr algn="l" indent="0" marL="0">
              <a:lnSpc>
                <a:spcPct val="100000"/>
              </a:lnSpc>
              <a:buNone/>
            </a:pPr>
            <a:r>
              <a:rPr lang="en-US" sz="1500" b="1" spc="75" kern="0" dirty="0">
                <a:solidFill>
                  <a:srgbClr val="A7A8A9"/>
                </a:solidFill>
                <a:latin typeface="Poppins" pitchFamily="34" charset="0"/>
                <a:ea typeface="Poppins" pitchFamily="34" charset="-122"/>
                <a:cs typeface="Poppins" pitchFamily="34" charset="-120"/>
              </a:rPr>
              <a:t>THE DEGRADATION PATTERN</a:t>
            </a:r>
            <a:endParaRPr lang="en-US" sz="1500" dirty="0"/>
          </a:p>
        </p:txBody>
      </p:sp>
      <p:sp>
        <p:nvSpPr>
          <p:cNvPr id="8" name="Text 6"/>
          <p:cNvSpPr/>
          <p:nvPr/>
        </p:nvSpPr>
        <p:spPr>
          <a:xfrm>
            <a:off x="1530668" y="5206901"/>
            <a:ext cx="7346633" cy="978694"/>
          </a:xfrm>
          <a:prstGeom prst="rect">
            <a:avLst/>
          </a:prstGeom>
          <a:noFill/>
          <a:ln/>
        </p:spPr>
        <p:txBody>
          <a:bodyPr wrap="square" lIns="25400" tIns="25400" rIns="25400" bIns="25400" rtlCol="0" anchor="t">
            <a:normAutofit/>
          </a:bodyPr>
          <a:lstStyle/>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Step 1: clean context window — good output</a:t>
            </a:r>
            <a:endParaRPr lang="en-US" sz="1425" dirty="0"/>
          </a:p>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Step 2: Step 1's output in context — slightly constrained</a:t>
            </a:r>
            <a:endParaRPr lang="en-US" sz="1425" dirty="0"/>
          </a:p>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Step 3: Steps 1+2 in context — noticeable quality loss</a:t>
            </a:r>
            <a:endParaRPr lang="en-US" sz="1425" dirty="0"/>
          </a:p>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Step 4+: quality falls off a cliff on complex inputs</a:t>
            </a:r>
            <a:endParaRPr lang="en-US" sz="1425" dirty="0"/>
          </a:p>
        </p:txBody>
      </p:sp>
      <p:sp>
        <p:nvSpPr>
          <p:cNvPr id="9" name="Shape 7"/>
          <p:cNvSpPr/>
          <p:nvPr/>
        </p:nvSpPr>
        <p:spPr>
          <a:xfrm>
            <a:off x="9258300" y="4673501"/>
            <a:ext cx="7791450" cy="1918692"/>
          </a:xfrm>
          <a:prstGeom prst="roundRect">
            <a:avLst>
              <a:gd name="adj" fmla="val 7943"/>
            </a:avLst>
          </a:prstGeom>
          <a:solidFill>
            <a:srgbClr val="E9F1FA"/>
          </a:solidFill>
          <a:ln w="19050">
            <a:solidFill>
              <a:srgbClr val="005596"/>
            </a:solidFill>
            <a:prstDash val="solid"/>
          </a:ln>
        </p:spPr>
      </p:sp>
      <p:sp>
        <p:nvSpPr>
          <p:cNvPr id="10" name="Text 8"/>
          <p:cNvSpPr/>
          <p:nvPr/>
        </p:nvSpPr>
        <p:spPr>
          <a:xfrm>
            <a:off x="9505950" y="4864001"/>
            <a:ext cx="8025765" cy="323850"/>
          </a:xfrm>
          <a:prstGeom prst="rect">
            <a:avLst/>
          </a:prstGeom>
          <a:noFill/>
          <a:ln/>
        </p:spPr>
        <p:txBody>
          <a:bodyPr wrap="square" lIns="25400" tIns="25400" rIns="25400" bIns="25400" rtlCol="0" anchor="t">
            <a:normAutofit/>
          </a:bodyPr>
          <a:lstStyle/>
          <a:p>
            <a:pPr algn="l" indent="0" marL="0">
              <a:lnSpc>
                <a:spcPct val="100000"/>
              </a:lnSpc>
              <a:buNone/>
            </a:pPr>
            <a:r>
              <a:rPr lang="en-US" sz="1500" b="1" spc="75" kern="0" dirty="0">
                <a:solidFill>
                  <a:srgbClr val="005596"/>
                </a:solidFill>
                <a:latin typeface="Poppins" pitchFamily="34" charset="0"/>
                <a:ea typeface="Poppins" pitchFamily="34" charset="-122"/>
                <a:cs typeface="Poppins" pitchFamily="34" charset="-120"/>
              </a:rPr>
              <a:t>WHAT YOU CAN DO WITHIN THE IDE</a:t>
            </a:r>
            <a:endParaRPr lang="en-US" sz="1500" dirty="0"/>
          </a:p>
        </p:txBody>
      </p:sp>
      <p:sp>
        <p:nvSpPr>
          <p:cNvPr id="11" name="Text 9"/>
          <p:cNvSpPr/>
          <p:nvPr/>
        </p:nvSpPr>
        <p:spPr>
          <a:xfrm>
            <a:off x="9569768" y="5225951"/>
            <a:ext cx="7308533" cy="1213842"/>
          </a:xfrm>
          <a:prstGeom prst="rect">
            <a:avLst/>
          </a:prstGeom>
          <a:noFill/>
          <a:ln/>
        </p:spPr>
        <p:txBody>
          <a:bodyPr wrap="square" lIns="25400" tIns="25400" rIns="25400" bIns="25400" rtlCol="0" anchor="t">
            <a:normAutofit/>
          </a:bodyPr>
          <a:lstStyle/>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Keep each step's output compact — verbose output crowds the next step even more</a:t>
            </a:r>
            <a:endParaRPr lang="en-US" sz="1425" dirty="0"/>
          </a:p>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Run evaluation at each step — catch degradation early, before it compounds</a:t>
            </a:r>
            <a:endParaRPr lang="en-US" sz="1425" dirty="0"/>
          </a:p>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If a step degrades, start fresh with only the prior artifact pasted in — a manual "clean context" workaround</a:t>
            </a:r>
            <a:endParaRPr lang="en-US" sz="1425" dirty="0"/>
          </a:p>
          <a:p>
            <a:pPr algn="l" marL="126683" indent="-126683">
              <a:lnSpc>
                <a:spcPct val="79677"/>
              </a:lnSpc>
              <a:buSzPct val="100000"/>
              <a:buChar char="•"/>
              <a:tabLst>
                <a:tab pos="126683" algn="l"/>
              </a:tabLst>
            </a:pPr>
            <a:r>
              <a:rPr lang="en-US" sz="1425" dirty="0">
                <a:solidFill>
                  <a:srgbClr val="0E1A26"/>
                </a:solidFill>
                <a:latin typeface="Khula" pitchFamily="34" charset="0"/>
                <a:ea typeface="Khula" pitchFamily="34" charset="-122"/>
                <a:cs typeface="Khula" pitchFamily="34" charset="-120"/>
              </a:rPr>
              <a:t>Accept the ceiling: for long pipelines, the window will fill and quality will degrade</a:t>
            </a:r>
            <a:endParaRPr lang="en-US" sz="1425" dirty="0"/>
          </a:p>
        </p:txBody>
      </p:sp>
      <p:sp>
        <p:nvSpPr>
          <p:cNvPr id="12" name="Shape 10"/>
          <p:cNvSpPr/>
          <p:nvPr/>
        </p:nvSpPr>
        <p:spPr>
          <a:xfrm>
            <a:off x="1238250" y="6782693"/>
            <a:ext cx="15811500" cy="904875"/>
          </a:xfrm>
          <a:prstGeom prst="roundRect">
            <a:avLst>
              <a:gd name="adj" fmla="val 16842"/>
            </a:avLst>
          </a:prstGeom>
          <a:solidFill>
            <a:srgbClr val="005596"/>
          </a:solidFill>
          <a:ln/>
          <a:effectLst>
            <a:outerShdw sx="100000" sy="100000" kx="0" ky="0" algn="bl" rotWithShape="0" blurRad="266700" dist="114300" dir="5400000">
              <a:srgbClr val="005596">
                <a:alpha val="28000"/>
              </a:srgbClr>
            </a:outerShdw>
          </a:effectLst>
        </p:spPr>
      </p:sp>
      <p:sp>
        <p:nvSpPr>
          <p:cNvPr id="13" name="Text 11"/>
          <p:cNvSpPr/>
          <p:nvPr/>
        </p:nvSpPr>
        <p:spPr>
          <a:xfrm>
            <a:off x="1524000" y="6935093"/>
            <a:ext cx="15697200" cy="638175"/>
          </a:xfrm>
          <a:prstGeom prst="rect">
            <a:avLst/>
          </a:prstGeom>
          <a:noFill/>
          <a:ln/>
        </p:spPr>
        <p:txBody>
          <a:bodyPr wrap="square" lIns="25400" tIns="25400" rIns="25400" bIns="25400" rtlCol="0" anchor="t">
            <a:normAutofit/>
          </a:bodyPr>
          <a:lstStyle/>
          <a:p>
            <a:pPr algn="l" indent="0" marL="0">
              <a:lnSpc>
                <a:spcPct val="92647"/>
              </a:lnSpc>
              <a:buNone/>
            </a:pPr>
            <a:r>
              <a:rPr lang="en-US" sz="1575" b="1" dirty="0">
                <a:solidFill>
                  <a:srgbClr val="FFFFFF"/>
                </a:solidFill>
                <a:latin typeface="Khula" pitchFamily="34" charset="0"/>
                <a:ea typeface="Khula" pitchFamily="34" charset="-122"/>
                <a:cs typeface="Khula" pitchFamily="34" charset="-120"/>
              </a:rPr>
              <a:t>This is the bounded agent's fundamental limitation. You can manage it, but you can't eliminate it within the IDE harness. The custom harness solves this by giving each step its own clean context — what you're about to see demonstrated.</a:t>
            </a:r>
            <a:endParaRPr lang="en-US" sz="15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509242"/>
            <a:ext cx="3265289" cy="533400"/>
          </a:xfrm>
          <a:prstGeom prst="roundRect">
            <a:avLst>
              <a:gd name="adj" fmla="val 50000"/>
            </a:avLst>
          </a:prstGeom>
          <a:solidFill>
            <a:srgbClr val="005596"/>
          </a:solidFill>
          <a:ln/>
        </p:spPr>
      </p:sp>
      <p:sp>
        <p:nvSpPr>
          <p:cNvPr id="3" name="Text 1"/>
          <p:cNvSpPr/>
          <p:nvPr/>
        </p:nvSpPr>
        <p:spPr>
          <a:xfrm>
            <a:off x="1485900" y="2604492"/>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233142"/>
            <a:ext cx="17392650" cy="495300"/>
          </a:xfrm>
          <a:prstGeom prst="rect">
            <a:avLst/>
          </a:prstGeom>
          <a:noFill/>
          <a:ln/>
        </p:spPr>
        <p:txBody>
          <a:bodyPr wrap="square" lIns="25400" tIns="25400" rIns="25400" bIns="25400" rtlCol="0" anchor="t">
            <a:normAutofit/>
          </a:bodyPr>
          <a:lstStyle/>
          <a:p>
            <a:pPr algn="l" indent="0" marL="0">
              <a:lnSpc>
                <a:spcPct val="80000"/>
              </a:lnSpc>
              <a:buNone/>
            </a:pPr>
            <a:r>
              <a:rPr lang="en-US" sz="3000" b="1" spc="-60" kern="0" dirty="0">
                <a:solidFill>
                  <a:srgbClr val="005596"/>
                </a:solidFill>
                <a:latin typeface="Poppins" pitchFamily="34" charset="0"/>
                <a:ea typeface="Poppins" pitchFamily="34" charset="-122"/>
                <a:cs typeface="Poppins" pitchFamily="34" charset="-120"/>
              </a:rPr>
              <a:t>From Bounded Agent to Custom Harness</a:t>
            </a:r>
            <a:endParaRPr lang="en-US" sz="3000" dirty="0"/>
          </a:p>
        </p:txBody>
      </p:sp>
      <p:sp>
        <p:nvSpPr>
          <p:cNvPr id="5" name="Text 3"/>
          <p:cNvSpPr/>
          <p:nvPr/>
        </p:nvSpPr>
        <p:spPr>
          <a:xfrm>
            <a:off x="1238250" y="3880842"/>
            <a:ext cx="16285845" cy="806053"/>
          </a:xfrm>
          <a:prstGeom prst="rect">
            <a:avLst/>
          </a:prstGeom>
          <a:noFill/>
          <a:ln/>
        </p:spPr>
        <p:txBody>
          <a:bodyPr wrap="square" lIns="25400" tIns="25400" rIns="25400" bIns="25400" rtlCol="0" anchor="t">
            <a:normAutofit/>
          </a:bodyPr>
          <a:lstStyle/>
          <a:p>
            <a:pPr algn="l" indent="0" marL="0">
              <a:lnSpc>
                <a:spcPct val="79059"/>
              </a:lnSpc>
              <a:buNone/>
            </a:pPr>
            <a:r>
              <a:rPr lang="en-US" sz="1575" dirty="0">
                <a:solidFill>
                  <a:srgbClr val="0E1A26"/>
                </a:solidFill>
                <a:latin typeface="Khula" pitchFamily="34" charset="0"/>
                <a:ea typeface="Khula" pitchFamily="34" charset="-122"/>
                <a:cs typeface="Khula" pitchFamily="34" charset="-120"/>
              </a:rPr>
              <a:t>From Session 1: the model can only do what the harness allows. Your IDE's harness manages single-step interactions; a bounded agent chains these together, but the context still accumulates. When you need clean context per step, automatic evaluation gates, programmatic failure handling, or unattended execution, you build a </a:t>
            </a:r>
            <a:pPr algn="l" indent="0" marL="0">
              <a:lnSpc>
                <a:spcPct val="79059"/>
              </a:lnSpc>
              <a:buNone/>
            </a:pPr>
            <a:r>
              <a:rPr lang="en-US" sz="1575" b="1" dirty="0">
                <a:solidFill>
                  <a:srgbClr val="0E1A26"/>
                </a:solidFill>
                <a:latin typeface="Khula" pitchFamily="34" charset="0"/>
                <a:ea typeface="Khula" pitchFamily="34" charset="-122"/>
                <a:cs typeface="Khula" pitchFamily="34" charset="-120"/>
              </a:rPr>
              <a:t>custom harness </a:t>
            </a:r>
            <a:pPr algn="l" indent="0" marL="0">
              <a:lnSpc>
                <a:spcPct val="79059"/>
              </a:lnSpc>
              <a:buNone/>
            </a:pPr>
            <a:r>
              <a:rPr lang="en-US" sz="1575" dirty="0">
                <a:solidFill>
                  <a:srgbClr val="0E1A26"/>
                </a:solidFill>
                <a:latin typeface="Khula" pitchFamily="34" charset="0"/>
                <a:ea typeface="Khula" pitchFamily="34" charset="-122"/>
                <a:cs typeface="Khula" pitchFamily="34" charset="-120"/>
              </a:rPr>
              <a:t>— a Python program that:</a:t>
            </a:r>
            <a:endParaRPr lang="en-US" sz="1575" dirty="0"/>
          </a:p>
        </p:txBody>
      </p:sp>
      <p:sp>
        <p:nvSpPr>
          <p:cNvPr id="6" name="Text 4"/>
          <p:cNvSpPr/>
          <p:nvPr/>
        </p:nvSpPr>
        <p:spPr>
          <a:xfrm>
            <a:off x="1200150" y="4839295"/>
            <a:ext cx="7953375" cy="757833"/>
          </a:xfrm>
          <a:prstGeom prst="rect">
            <a:avLst/>
          </a:prstGeom>
          <a:noFill/>
          <a:ln/>
        </p:spPr>
        <p:txBody>
          <a:bodyPr wrap="square" lIns="25400" tIns="25400" rIns="25400" bIns="25400" rtlCol="0" anchor="t">
            <a:normAutofit/>
          </a:bodyPr>
          <a:lstStyle/>
          <a:p>
            <a:pPr algn="l" marL="285750" indent="-285750">
              <a:lnSpc>
                <a:spcPct val="78750"/>
              </a:lnSpc>
              <a:buSzPct val="100000"/>
              <a:buFont typeface="+mj-lt"/>
              <a:buAutoNum type="arabicPeriod" startAt="1"/>
              <a:tabLst>
                <a:tab pos="285750" algn="l"/>
              </a:tabLst>
            </a:pPr>
            <a:r>
              <a:rPr lang="en-US" sz="1500" dirty="0">
                <a:solidFill>
                  <a:srgbClr val="0E1A26"/>
                </a:solidFill>
                <a:latin typeface="Khula" pitchFamily="34" charset="0"/>
                <a:ea typeface="Khula" pitchFamily="34" charset="-122"/>
                <a:cs typeface="Khula" pitchFamily="34" charset="-120"/>
              </a:rPr>
              <a:t>Calls the model API directly (not through the IDE)</a:t>
            </a:r>
            <a:endParaRPr lang="en-US" sz="1500" dirty="0"/>
          </a:p>
          <a:p>
            <a:pPr algn="l" marL="285750" indent="-285750">
              <a:lnSpc>
                <a:spcPct val="78750"/>
              </a:lnSpc>
              <a:buSzPct val="100000"/>
              <a:buFont typeface="+mj-lt"/>
              <a:buAutoNum type="arabicPeriod" startAt="2"/>
              <a:tabLst>
                <a:tab pos="285750" algn="l"/>
              </a:tabLst>
            </a:pPr>
            <a:r>
              <a:rPr lang="en-US" sz="1500" dirty="0">
                <a:solidFill>
                  <a:srgbClr val="0E1A26"/>
                </a:solidFill>
                <a:latin typeface="Khula" pitchFamily="34" charset="0"/>
                <a:ea typeface="Khula" pitchFamily="34" charset="-122"/>
                <a:cs typeface="Khula" pitchFamily="34" charset="-120"/>
              </a:rPr>
              <a:t>Passes artifacts between steps (the AC output becomes the Plan input)</a:t>
            </a:r>
            <a:endParaRPr lang="en-US" sz="1500" dirty="0"/>
          </a:p>
          <a:p>
            <a:pPr algn="l" marL="285750" indent="-285750">
              <a:lnSpc>
                <a:spcPct val="78750"/>
              </a:lnSpc>
              <a:buSzPct val="100000"/>
              <a:buFont typeface="+mj-lt"/>
              <a:buAutoNum type="arabicPeriod" startAt="3"/>
              <a:tabLst>
                <a:tab pos="285750" algn="l"/>
              </a:tabLst>
            </a:pPr>
            <a:r>
              <a:rPr lang="en-US" sz="1500" dirty="0">
                <a:solidFill>
                  <a:srgbClr val="0E1A26"/>
                </a:solidFill>
                <a:latin typeface="Khula" pitchFamily="34" charset="0"/>
                <a:ea typeface="Khula" pitchFamily="34" charset="-122"/>
                <a:cs typeface="Khula" pitchFamily="34" charset="-120"/>
              </a:rPr>
              <a:t>Runs Python evaluation scripts at each step (from Session 4)</a:t>
            </a:r>
            <a:endParaRPr lang="en-US" sz="1500" dirty="0"/>
          </a:p>
          <a:p>
            <a:pPr algn="l" marL="285750" indent="-285750">
              <a:lnSpc>
                <a:spcPct val="78750"/>
              </a:lnSpc>
              <a:buSzPct val="100000"/>
              <a:buFont typeface="+mj-lt"/>
              <a:buAutoNum type="arabicPeriod" startAt="4"/>
              <a:tabLst>
                <a:tab pos="285750" algn="l"/>
              </a:tabLst>
            </a:pPr>
            <a:r>
              <a:rPr lang="en-US" sz="1500" dirty="0">
                <a:solidFill>
                  <a:srgbClr val="0E1A26"/>
                </a:solidFill>
                <a:latin typeface="Khula" pitchFamily="34" charset="0"/>
                <a:ea typeface="Khula" pitchFamily="34" charset="-122"/>
                <a:cs typeface="Khula" pitchFamily="34" charset="-120"/>
              </a:rPr>
              <a:t>Runs adversarial agents at key points (from Session 5)</a:t>
            </a:r>
            <a:endParaRPr lang="en-US" sz="1500" dirty="0"/>
          </a:p>
          <a:p>
            <a:pPr algn="l" marL="285750" indent="-285750">
              <a:lnSpc>
                <a:spcPct val="78750"/>
              </a:lnSpc>
              <a:buSzPct val="100000"/>
              <a:buFont typeface="+mj-lt"/>
              <a:buAutoNum type="arabicPeriod" startAt="5"/>
              <a:tabLst>
                <a:tab pos="285750" algn="l"/>
              </a:tabLst>
            </a:pPr>
            <a:r>
              <a:rPr lang="en-US" sz="1500" dirty="0">
                <a:solidFill>
                  <a:srgbClr val="0E1A26"/>
                </a:solidFill>
                <a:latin typeface="Khula" pitchFamily="34" charset="0"/>
                <a:ea typeface="Khula" pitchFamily="34" charset="-122"/>
                <a:cs typeface="Khula" pitchFamily="34" charset="-120"/>
              </a:rPr>
              <a:t>Handles failures — retry? halt? notify a human?</a:t>
            </a:r>
            <a:endParaRPr lang="en-US" sz="1500" dirty="0"/>
          </a:p>
          <a:p>
            <a:pPr algn="l" marL="285750" indent="-285750">
              <a:lnSpc>
                <a:spcPct val="78750"/>
              </a:lnSpc>
              <a:buSzPct val="100000"/>
              <a:buFont typeface="+mj-lt"/>
              <a:buAutoNum type="arabicPeriod" startAt="6"/>
              <a:tabLst>
                <a:tab pos="285750" algn="l"/>
              </a:tabLst>
            </a:pPr>
            <a:r>
              <a:rPr lang="en-US" sz="1500" dirty="0">
                <a:solidFill>
                  <a:srgbClr val="0E1A26"/>
                </a:solidFill>
                <a:latin typeface="Khula" pitchFamily="34" charset="0"/>
                <a:ea typeface="Khula" pitchFamily="34" charset="-122"/>
                <a:cs typeface="Khula" pitchFamily="34" charset="-120"/>
              </a:rPr>
              <a:t>Produces a final artifact with evaluation scores at each step</a:t>
            </a:r>
            <a:endParaRPr lang="en-US" sz="1500" dirty="0"/>
          </a:p>
        </p:txBody>
      </p:sp>
      <p:sp>
        <p:nvSpPr>
          <p:cNvPr id="7" name="Shape 5"/>
          <p:cNvSpPr/>
          <p:nvPr/>
        </p:nvSpPr>
        <p:spPr>
          <a:xfrm>
            <a:off x="1238250" y="5749528"/>
            <a:ext cx="15811500" cy="999530"/>
          </a:xfrm>
          <a:prstGeom prst="roundRect">
            <a:avLst>
              <a:gd name="adj" fmla="val 15247"/>
            </a:avLst>
          </a:prstGeom>
          <a:solidFill>
            <a:srgbClr val="F4F7FA"/>
          </a:solidFill>
          <a:ln/>
        </p:spPr>
      </p:sp>
      <p:sp>
        <p:nvSpPr>
          <p:cNvPr id="8" name="Text 6"/>
          <p:cNvSpPr/>
          <p:nvPr/>
        </p:nvSpPr>
        <p:spPr>
          <a:xfrm>
            <a:off x="1485900" y="5901928"/>
            <a:ext cx="15775686" cy="732830"/>
          </a:xfrm>
          <a:prstGeom prst="rect">
            <a:avLst/>
          </a:prstGeom>
          <a:noFill/>
          <a:ln/>
        </p:spPr>
        <p:txBody>
          <a:bodyPr wrap="square" lIns="25400" tIns="25400" rIns="25400" bIns="25400" rtlCol="0" anchor="t">
            <a:normAutofit/>
          </a:bodyPr>
          <a:lstStyle/>
          <a:p>
            <a:pPr algn="l" indent="0" marL="0">
              <a:lnSpc>
                <a:spcPct val="78452"/>
              </a:lnSpc>
              <a:buNone/>
            </a:pPr>
            <a:r>
              <a:rPr lang="en-US" sz="1425" b="1" dirty="0">
                <a:solidFill>
                  <a:srgbClr val="0E1A26"/>
                </a:solidFill>
                <a:latin typeface="Khula" pitchFamily="34" charset="0"/>
                <a:ea typeface="Khula" pitchFamily="34" charset="-122"/>
                <a:cs typeface="Khula" pitchFamily="34" charset="-120"/>
              </a:rPr>
              <a:t>Session 4 → </a:t>
            </a:r>
            <a:pPr algn="l" indent="0" marL="0">
              <a:lnSpc>
                <a:spcPct val="78452"/>
              </a:lnSpc>
              <a:buNone/>
            </a:pPr>
            <a:r>
              <a:rPr lang="en-US" sz="1425" dirty="0">
                <a:solidFill>
                  <a:srgbClr val="0E1A26"/>
                </a:solidFill>
                <a:latin typeface="Khula" pitchFamily="34" charset="0"/>
                <a:ea typeface="Khula" pitchFamily="34" charset="-122"/>
                <a:cs typeface="Khula" pitchFamily="34" charset="-120"/>
              </a:rPr>
              <a:t>Python evaluation scripts that call the model API become custom harnesses that call the model API. </a:t>
            </a:r>
            <a:pPr algn="l" indent="0" marL="0">
              <a:lnSpc>
                <a:spcPct val="78452"/>
              </a:lnSpc>
              <a:buNone/>
            </a:pPr>
            <a:r>
              <a:rPr lang="en-US" sz="1425" b="1" dirty="0">
                <a:solidFill>
                  <a:srgbClr val="0E1A26"/>
                </a:solidFill>
                <a:latin typeface="Khula" pitchFamily="34" charset="0"/>
                <a:ea typeface="Khula" pitchFamily="34" charset="-122"/>
                <a:cs typeface="Khula" pitchFamily="34" charset="-120"/>
              </a:rPr>
              <a:t>Session 5 → </a:t>
            </a:r>
            <a:pPr algn="l" indent="0" marL="0">
              <a:lnSpc>
                <a:spcPct val="78452"/>
              </a:lnSpc>
              <a:buNone/>
            </a:pPr>
            <a:r>
              <a:rPr lang="en-US" sz="1425" dirty="0">
                <a:solidFill>
                  <a:srgbClr val="0E1A26"/>
                </a:solidFill>
                <a:latin typeface="Khula" pitchFamily="34" charset="0"/>
                <a:ea typeface="Khula" pitchFamily="34" charset="-122"/>
                <a:cs typeface="Khula" pitchFamily="34" charset="-120"/>
              </a:rPr>
              <a:t>Adversarial agents that receive another skill's output become custom harnesses that pass output between steps. </a:t>
            </a:r>
            <a:pPr algn="l" indent="0" marL="0">
              <a:lnSpc>
                <a:spcPct val="78452"/>
              </a:lnSpc>
              <a:buNone/>
            </a:pPr>
            <a:r>
              <a:rPr lang="en-US" sz="1425" b="1" dirty="0">
                <a:solidFill>
                  <a:srgbClr val="0E1A26"/>
                </a:solidFill>
                <a:latin typeface="Khula" pitchFamily="34" charset="0"/>
                <a:ea typeface="Khula" pitchFamily="34" charset="-122"/>
                <a:cs typeface="Khula" pitchFamily="34" charset="-120"/>
              </a:rPr>
              <a:t>Session 6 → </a:t>
            </a:r>
            <a:pPr algn="l" indent="0" marL="0">
              <a:lnSpc>
                <a:spcPct val="78452"/>
              </a:lnSpc>
              <a:buNone/>
            </a:pPr>
            <a:r>
              <a:rPr lang="en-US" sz="1425" dirty="0">
                <a:solidFill>
                  <a:srgbClr val="0E1A26"/>
                </a:solidFill>
                <a:latin typeface="Khula" pitchFamily="34" charset="0"/>
                <a:ea typeface="Khula" pitchFamily="34" charset="-122"/>
                <a:cs typeface="Khula" pitchFamily="34" charset="-120"/>
              </a:rPr>
              <a:t>the harness ties it all together — you see it demonstrated today.</a:t>
            </a:r>
            <a:endParaRPr lang="en-US" sz="1425" dirty="0"/>
          </a:p>
        </p:txBody>
      </p:sp>
      <p:sp>
        <p:nvSpPr>
          <p:cNvPr id="9" name="Shape 7"/>
          <p:cNvSpPr/>
          <p:nvPr/>
        </p:nvSpPr>
        <p:spPr>
          <a:xfrm>
            <a:off x="1238250" y="6939558"/>
            <a:ext cx="15811500" cy="838200"/>
          </a:xfrm>
          <a:prstGeom prst="roundRect">
            <a:avLst>
              <a:gd name="adj" fmla="val 18182"/>
            </a:avLst>
          </a:prstGeom>
          <a:solidFill>
            <a:srgbClr val="005596"/>
          </a:solidFill>
          <a:ln/>
          <a:effectLst>
            <a:outerShdw sx="100000" sy="100000" kx="0" ky="0" algn="bl" rotWithShape="0" blurRad="266700" dist="114300" dir="5400000">
              <a:srgbClr val="005596">
                <a:alpha val="28000"/>
              </a:srgbClr>
            </a:outerShdw>
          </a:effectLst>
        </p:spPr>
      </p:sp>
      <p:sp>
        <p:nvSpPr>
          <p:cNvPr id="10" name="Text 8"/>
          <p:cNvSpPr/>
          <p:nvPr/>
        </p:nvSpPr>
        <p:spPr>
          <a:xfrm>
            <a:off x="1504950" y="7072908"/>
            <a:ext cx="15736443" cy="609600"/>
          </a:xfrm>
          <a:prstGeom prst="rect">
            <a:avLst/>
          </a:prstGeom>
          <a:noFill/>
          <a:ln/>
        </p:spPr>
        <p:txBody>
          <a:bodyPr wrap="square" lIns="25400" tIns="25400" rIns="25400" bIns="25400" rtlCol="0" anchor="t">
            <a:normAutofit/>
          </a:bodyPr>
          <a:lstStyle/>
          <a:p>
            <a:pPr algn="l" indent="0" marL="0">
              <a:lnSpc>
                <a:spcPct val="93750"/>
              </a:lnSpc>
              <a:buNone/>
            </a:pPr>
            <a:r>
              <a:rPr lang="en-US" sz="1500" b="1" dirty="0">
                <a:solidFill>
                  <a:srgbClr val="FFFFFF"/>
                </a:solidFill>
                <a:latin typeface="Khula" pitchFamily="34" charset="0"/>
                <a:ea typeface="Khula" pitchFamily="34" charset="-122"/>
                <a:cs typeface="Khula" pitchFamily="34" charset="-120"/>
              </a:rPr>
              <a:t>The custom harness doesn't replace your bounded agent — it's what you build when you outgrow it. Bounded agent is Stage 3, buildable today. Custom harness is Stage 4, demoed now but built in a future program.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166193"/>
            <a:ext cx="2927747" cy="533400"/>
          </a:xfrm>
          <a:prstGeom prst="roundRect">
            <a:avLst>
              <a:gd name="adj" fmla="val 50000"/>
            </a:avLst>
          </a:prstGeom>
          <a:solidFill>
            <a:srgbClr val="5BC2A7"/>
          </a:solidFill>
          <a:ln/>
        </p:spPr>
      </p:sp>
      <p:sp>
        <p:nvSpPr>
          <p:cNvPr id="3" name="Text 1"/>
          <p:cNvSpPr/>
          <p:nvPr/>
        </p:nvSpPr>
        <p:spPr>
          <a:xfrm>
            <a:off x="1485900" y="2261443"/>
            <a:ext cx="2520279"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DEMO</a:t>
            </a:r>
            <a:endParaRPr lang="en-US" sz="1800" dirty="0"/>
          </a:p>
        </p:txBody>
      </p:sp>
      <p:sp>
        <p:nvSpPr>
          <p:cNvPr id="4" name="Text 2"/>
          <p:cNvSpPr/>
          <p:nvPr/>
        </p:nvSpPr>
        <p:spPr>
          <a:xfrm>
            <a:off x="1238250" y="3004393"/>
            <a:ext cx="17392650" cy="520005"/>
          </a:xfrm>
          <a:prstGeom prst="rect">
            <a:avLst/>
          </a:prstGeom>
          <a:noFill/>
          <a:ln/>
        </p:spPr>
        <p:txBody>
          <a:bodyPr wrap="square" lIns="25400" tIns="25400" rIns="25400" bIns="25400" rtlCol="0" anchor="t">
            <a:normAutofit/>
          </a:bodyPr>
          <a:lstStyle/>
          <a:p>
            <a:pPr algn="l" indent="0" marL="0">
              <a:lnSpc>
                <a:spcPct val="73333"/>
              </a:lnSpc>
              <a:buNone/>
            </a:pPr>
            <a:r>
              <a:rPr lang="en-US" sz="3450" b="1" spc="-69" kern="0" dirty="0">
                <a:solidFill>
                  <a:srgbClr val="005596"/>
                </a:solidFill>
                <a:latin typeface="Poppins" pitchFamily="34" charset="0"/>
                <a:ea typeface="Poppins" pitchFamily="34" charset="-122"/>
                <a:cs typeface="Poppins" pitchFamily="34" charset="-120"/>
              </a:rPr>
              <a:t>Demo: Custom Harness — The Full Chain</a:t>
            </a:r>
            <a:endParaRPr lang="en-US" sz="3450" dirty="0"/>
          </a:p>
        </p:txBody>
      </p:sp>
      <p:sp>
        <p:nvSpPr>
          <p:cNvPr id="5" name="Text 3"/>
          <p:cNvSpPr/>
          <p:nvPr/>
        </p:nvSpPr>
        <p:spPr>
          <a:xfrm>
            <a:off x="1238250" y="3791099"/>
            <a:ext cx="1739265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90" kern="0" dirty="0">
                <a:solidFill>
                  <a:srgbClr val="A7A8A9"/>
                </a:solidFill>
                <a:latin typeface="Poppins" pitchFamily="34" charset="0"/>
                <a:ea typeface="Poppins" pitchFamily="34" charset="-122"/>
                <a:cs typeface="Poppins" pitchFamily="34" charset="-120"/>
              </a:rPr>
              <a:t>DESCRIPTION</a:t>
            </a:r>
            <a:endParaRPr lang="en-US" sz="1800" dirty="0"/>
          </a:p>
        </p:txBody>
      </p:sp>
      <p:sp>
        <p:nvSpPr>
          <p:cNvPr id="6" name="Text 4"/>
          <p:cNvSpPr/>
          <p:nvPr/>
        </p:nvSpPr>
        <p:spPr>
          <a:xfrm>
            <a:off x="1238250" y="4248299"/>
            <a:ext cx="16187738" cy="1211461"/>
          </a:xfrm>
          <a:prstGeom prst="rect">
            <a:avLst/>
          </a:prstGeom>
          <a:noFill/>
          <a:ln/>
        </p:spPr>
        <p:txBody>
          <a:bodyPr wrap="square" lIns="25400" tIns="25400" rIns="25400" bIns="25400" rtlCol="0" anchor="t">
            <a:normAutofit/>
          </a:bodyPr>
          <a:lstStyle/>
          <a:p>
            <a:pPr algn="l" indent="0" marL="0">
              <a:lnSpc>
                <a:spcPct val="88000"/>
              </a:lnSpc>
              <a:buNone/>
            </a:pPr>
            <a:r>
              <a:rPr lang="en-US" sz="1650" dirty="0">
                <a:solidFill>
                  <a:srgbClr val="0E1A26"/>
                </a:solidFill>
                <a:latin typeface="Khula" pitchFamily="34" charset="0"/>
                <a:ea typeface="Khula" pitchFamily="34" charset="-122"/>
                <a:cs typeface="Khula" pitchFamily="34" charset="-120"/>
              </a:rPr>
              <a:t>The instructor demonstrates a custom harness (Python program) that implements the full chain: Story → epics-and-stories → plan-story → implement-story → review-implementation. The harness calls the model API at each step, runs a Python evaluation script (Session 4) after each step, runs an adversarial agent (Session 5) at key points, and produces a final artifact with evaluation scores at each step. This demo requires an API key and is instructor-led — participants observe, they do not build this in the session.</a:t>
            </a:r>
            <a:endParaRPr lang="en-US" sz="1650" dirty="0"/>
          </a:p>
        </p:txBody>
      </p:sp>
      <p:sp>
        <p:nvSpPr>
          <p:cNvPr id="7" name="Shape 5"/>
          <p:cNvSpPr/>
          <p:nvPr/>
        </p:nvSpPr>
        <p:spPr>
          <a:xfrm>
            <a:off x="1238250" y="5936010"/>
            <a:ext cx="15811500" cy="2184797"/>
          </a:xfrm>
          <a:prstGeom prst="roundRect">
            <a:avLst>
              <a:gd name="adj" fmla="val 6975"/>
            </a:avLst>
          </a:prstGeom>
          <a:solidFill>
            <a:srgbClr val="EAF6F1"/>
          </a:solidFill>
          <a:ln/>
        </p:spPr>
      </p:sp>
      <p:sp>
        <p:nvSpPr>
          <p:cNvPr id="8" name="Shape 6"/>
          <p:cNvSpPr/>
          <p:nvPr/>
        </p:nvSpPr>
        <p:spPr>
          <a:xfrm>
            <a:off x="1238250" y="5936010"/>
            <a:ext cx="57150" cy="2184797"/>
          </a:xfrm>
          <a:prstGeom prst="rect">
            <a:avLst/>
          </a:prstGeom>
          <a:solidFill>
            <a:srgbClr val="5BC2A7"/>
          </a:solidFill>
          <a:ln/>
        </p:spPr>
      </p:sp>
      <p:sp>
        <p:nvSpPr>
          <p:cNvPr id="9" name="Text 7"/>
          <p:cNvSpPr/>
          <p:nvPr/>
        </p:nvSpPr>
        <p:spPr>
          <a:xfrm>
            <a:off x="1638300" y="6164610"/>
            <a:ext cx="16575405" cy="366713"/>
          </a:xfrm>
          <a:prstGeom prst="rect">
            <a:avLst/>
          </a:prstGeom>
          <a:noFill/>
          <a:ln/>
        </p:spPr>
        <p:txBody>
          <a:bodyPr wrap="square" lIns="25400" tIns="25400" rIns="25400" bIns="25400" rtlCol="0" anchor="t">
            <a:normAutofit/>
          </a:bodyPr>
          <a:lstStyle/>
          <a:p>
            <a:pPr algn="l" indent="0" marL="0">
              <a:lnSpc>
                <a:spcPct val="101471"/>
              </a:lnSpc>
              <a:buNone/>
            </a:pPr>
            <a:r>
              <a:rPr lang="en-US" sz="1725" b="1" spc="86" kern="0" dirty="0">
                <a:solidFill>
                  <a:srgbClr val="0E1A26"/>
                </a:solidFill>
                <a:latin typeface="Poppins" pitchFamily="34" charset="0"/>
                <a:ea typeface="Poppins" pitchFamily="34" charset="-122"/>
                <a:cs typeface="Poppins" pitchFamily="34" charset="-120"/>
              </a:rPr>
              <a:t>WHAT TO FOCUS ON</a:t>
            </a:r>
            <a:endParaRPr lang="en-US" sz="1725" dirty="0"/>
          </a:p>
        </p:txBody>
      </p:sp>
      <p:sp>
        <p:nvSpPr>
          <p:cNvPr id="10" name="Text 8"/>
          <p:cNvSpPr/>
          <p:nvPr/>
        </p:nvSpPr>
        <p:spPr>
          <a:xfrm>
            <a:off x="1638300" y="6588472"/>
            <a:ext cx="15520607" cy="1141809"/>
          </a:xfrm>
          <a:prstGeom prst="rect">
            <a:avLst/>
          </a:prstGeom>
          <a:noFill/>
          <a:ln/>
        </p:spPr>
        <p:txBody>
          <a:bodyPr wrap="square" lIns="25400" tIns="25400" rIns="25400" bIns="25400" rtlCol="0" anchor="t">
            <a:normAutofit/>
          </a:bodyPr>
          <a:lstStyle/>
          <a:p>
            <a:pPr algn="l" indent="0" marL="0">
              <a:lnSpc>
                <a:spcPct val="85235"/>
              </a:lnSpc>
              <a:buNone/>
            </a:pPr>
            <a:r>
              <a:rPr lang="en-US" sz="1575" dirty="0">
                <a:solidFill>
                  <a:srgbClr val="0E1A26"/>
                </a:solidFill>
                <a:latin typeface="Khula" pitchFamily="34" charset="0"/>
                <a:ea typeface="Khula" pitchFamily="34" charset="-122"/>
                <a:cs typeface="Khula" pitchFamily="34" charset="-120"/>
              </a:rPr>
              <a:t>Each step is a separate API call with its own clean context — the problem you just experienced in the bounded agent lab doesn't happen here. The evaluation script runs after each step — below threshold, the harness can retry or flag for human review. The adversarial agent challenges output before it's passed on. The harness moves YAML artifacts between steps — stories.yaml, plan.yaml, review.yaml — making the data flow explicit and inspectable. The final artifact holds every step's output, score, and adversarial finding in one document. This is what production AI workflow integration looks like.</a:t>
            </a:r>
            <a:endParaRPr lang="en-US" sz="15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47750" y="666750"/>
            <a:ext cx="4918025" cy="533400"/>
          </a:xfrm>
          <a:prstGeom prst="roundRect">
            <a:avLst>
              <a:gd name="adj" fmla="val 50000"/>
            </a:avLst>
          </a:prstGeom>
          <a:solidFill>
            <a:srgbClr val="9D1D96"/>
          </a:solidFill>
          <a:ln/>
        </p:spPr>
      </p:sp>
      <p:sp>
        <p:nvSpPr>
          <p:cNvPr id="3" name="Text 1"/>
          <p:cNvSpPr/>
          <p:nvPr/>
        </p:nvSpPr>
        <p:spPr>
          <a:xfrm>
            <a:off x="1295400" y="762000"/>
            <a:ext cx="4570266"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COMPARE/CONTRAST</a:t>
            </a:r>
            <a:endParaRPr lang="en-US" sz="1800" dirty="0"/>
          </a:p>
        </p:txBody>
      </p:sp>
      <p:sp>
        <p:nvSpPr>
          <p:cNvPr id="4" name="Text 2"/>
          <p:cNvSpPr/>
          <p:nvPr/>
        </p:nvSpPr>
        <p:spPr>
          <a:xfrm>
            <a:off x="1047750" y="1390650"/>
            <a:ext cx="17811750" cy="472380"/>
          </a:xfrm>
          <a:prstGeom prst="rect">
            <a:avLst/>
          </a:prstGeom>
          <a:noFill/>
          <a:ln/>
        </p:spPr>
        <p:txBody>
          <a:bodyPr wrap="square" lIns="25400" tIns="25400" rIns="25400" bIns="25400" rtlCol="0" anchor="t">
            <a:normAutofit/>
          </a:bodyPr>
          <a:lstStyle/>
          <a:p>
            <a:pPr algn="l" indent="0" marL="0">
              <a:lnSpc>
                <a:spcPct val="80000"/>
              </a:lnSpc>
              <a:buNone/>
            </a:pPr>
            <a:r>
              <a:rPr lang="en-US" sz="2850" b="1" spc="-57" kern="0" dirty="0">
                <a:solidFill>
                  <a:srgbClr val="005596"/>
                </a:solidFill>
                <a:latin typeface="Poppins" pitchFamily="34" charset="0"/>
                <a:ea typeface="Poppins" pitchFamily="34" charset="-122"/>
                <a:cs typeface="Poppins" pitchFamily="34" charset="-120"/>
              </a:rPr>
              <a:t>IDE Harness vs. Bounded Agent vs. Custom Harness</a:t>
            </a:r>
            <a:endParaRPr lang="en-US" sz="2850" dirty="0"/>
          </a:p>
        </p:txBody>
      </p:sp>
      <p:sp>
        <p:nvSpPr>
          <p:cNvPr id="5" name="Text 3"/>
          <p:cNvSpPr/>
          <p:nvPr/>
        </p:nvSpPr>
        <p:spPr>
          <a:xfrm>
            <a:off x="1047750" y="2034480"/>
            <a:ext cx="5467807" cy="309563"/>
          </a:xfrm>
          <a:prstGeom prst="rect">
            <a:avLst/>
          </a:prstGeom>
          <a:noFill/>
          <a:ln/>
        </p:spPr>
        <p:txBody>
          <a:bodyPr wrap="square" lIns="25400" tIns="25400" rIns="25400" bIns="25400" rtlCol="0" anchor="t">
            <a:normAutofit/>
          </a:bodyPr>
          <a:lstStyle/>
          <a:p>
            <a:pPr algn="l" indent="0" marL="0">
              <a:lnSpc>
                <a:spcPct val="98276"/>
              </a:lnSpc>
              <a:buNone/>
            </a:pPr>
            <a:r>
              <a:rPr lang="en-US" sz="1425" b="1" spc="57" kern="0" dirty="0">
                <a:solidFill>
                  <a:srgbClr val="A7A8A9"/>
                </a:solidFill>
                <a:latin typeface="Poppins" pitchFamily="34" charset="0"/>
                <a:ea typeface="Poppins" pitchFamily="34" charset="-122"/>
                <a:cs typeface="Poppins" pitchFamily="34" charset="-120"/>
              </a:rPr>
              <a:t>IDE HARNESS (SESSIONS 1-5)</a:t>
            </a:r>
            <a:endParaRPr lang="en-US" sz="1425" dirty="0"/>
          </a:p>
        </p:txBody>
      </p:sp>
      <p:sp>
        <p:nvSpPr>
          <p:cNvPr id="6" name="Text 4"/>
          <p:cNvSpPr/>
          <p:nvPr/>
        </p:nvSpPr>
        <p:spPr>
          <a:xfrm>
            <a:off x="6489650" y="2034480"/>
            <a:ext cx="5467807" cy="309563"/>
          </a:xfrm>
          <a:prstGeom prst="rect">
            <a:avLst/>
          </a:prstGeom>
          <a:noFill/>
          <a:ln/>
        </p:spPr>
        <p:txBody>
          <a:bodyPr wrap="square" lIns="25400" tIns="25400" rIns="25400" bIns="25400" rtlCol="0" anchor="t">
            <a:normAutofit/>
          </a:bodyPr>
          <a:lstStyle/>
          <a:p>
            <a:pPr algn="l" indent="0" marL="0">
              <a:lnSpc>
                <a:spcPct val="98276"/>
              </a:lnSpc>
              <a:buNone/>
            </a:pPr>
            <a:r>
              <a:rPr lang="en-US" sz="1425" b="1" spc="57" kern="0" dirty="0">
                <a:solidFill>
                  <a:srgbClr val="F5BB41"/>
                </a:solidFill>
                <a:latin typeface="Poppins" pitchFamily="34" charset="0"/>
                <a:ea typeface="Poppins" pitchFamily="34" charset="-122"/>
                <a:cs typeface="Poppins" pitchFamily="34" charset="-120"/>
              </a:rPr>
              <a:t>BOUNDED AGENT (SESSION 6 LAB)</a:t>
            </a:r>
            <a:endParaRPr lang="en-US" sz="1425" dirty="0"/>
          </a:p>
        </p:txBody>
      </p:sp>
      <p:sp>
        <p:nvSpPr>
          <p:cNvPr id="7" name="Text 5"/>
          <p:cNvSpPr/>
          <p:nvPr/>
        </p:nvSpPr>
        <p:spPr>
          <a:xfrm>
            <a:off x="11931551" y="2034480"/>
            <a:ext cx="5467807" cy="309563"/>
          </a:xfrm>
          <a:prstGeom prst="rect">
            <a:avLst/>
          </a:prstGeom>
          <a:noFill/>
          <a:ln/>
        </p:spPr>
        <p:txBody>
          <a:bodyPr wrap="square" lIns="25400" tIns="25400" rIns="25400" bIns="25400" rtlCol="0" anchor="t">
            <a:normAutofit/>
          </a:bodyPr>
          <a:lstStyle/>
          <a:p>
            <a:pPr algn="l" indent="0" marL="0">
              <a:lnSpc>
                <a:spcPct val="98276"/>
              </a:lnSpc>
              <a:buNone/>
            </a:pPr>
            <a:r>
              <a:rPr lang="en-US" sz="1425" b="1" spc="57" kern="0" dirty="0">
                <a:solidFill>
                  <a:srgbClr val="005596"/>
                </a:solidFill>
                <a:latin typeface="Poppins" pitchFamily="34" charset="0"/>
                <a:ea typeface="Poppins" pitchFamily="34" charset="-122"/>
                <a:cs typeface="Poppins" pitchFamily="34" charset="-120"/>
              </a:rPr>
              <a:t>CUSTOM HARNESS (SESSION 6 DEMO)</a:t>
            </a:r>
            <a:endParaRPr lang="en-US" sz="1425" dirty="0"/>
          </a:p>
        </p:txBody>
      </p:sp>
      <p:sp>
        <p:nvSpPr>
          <p:cNvPr id="8" name="Shape 6"/>
          <p:cNvSpPr/>
          <p:nvPr/>
        </p:nvSpPr>
        <p:spPr>
          <a:xfrm>
            <a:off x="1047750" y="2534543"/>
            <a:ext cx="5308550" cy="504825"/>
          </a:xfrm>
          <a:prstGeom prst="roundRect">
            <a:avLst>
              <a:gd name="adj" fmla="val 18868"/>
            </a:avLst>
          </a:prstGeom>
          <a:solidFill>
            <a:srgbClr val="F4F7FA"/>
          </a:solidFill>
          <a:ln/>
        </p:spPr>
      </p:sp>
      <p:sp>
        <p:nvSpPr>
          <p:cNvPr id="9" name="Text 7"/>
          <p:cNvSpPr/>
          <p:nvPr/>
        </p:nvSpPr>
        <p:spPr>
          <a:xfrm>
            <a:off x="1219200" y="26583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Single-step: you invoke a skill, get output</a:t>
            </a:r>
            <a:endParaRPr lang="en-US" sz="1350" dirty="0"/>
          </a:p>
        </p:txBody>
      </p:sp>
      <p:sp>
        <p:nvSpPr>
          <p:cNvPr id="10" name="Shape 8"/>
          <p:cNvSpPr/>
          <p:nvPr/>
        </p:nvSpPr>
        <p:spPr>
          <a:xfrm>
            <a:off x="6489650" y="2534543"/>
            <a:ext cx="5308550" cy="504825"/>
          </a:xfrm>
          <a:prstGeom prst="roundRect">
            <a:avLst>
              <a:gd name="adj" fmla="val 18868"/>
            </a:avLst>
          </a:prstGeom>
          <a:solidFill>
            <a:srgbClr val="FEF3DE"/>
          </a:solidFill>
          <a:ln/>
        </p:spPr>
      </p:sp>
      <p:sp>
        <p:nvSpPr>
          <p:cNvPr id="11" name="Text 9"/>
          <p:cNvSpPr/>
          <p:nvPr/>
        </p:nvSpPr>
        <p:spPr>
          <a:xfrm>
            <a:off x="6661100" y="26583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Multi-step: you chain skills in sequence, review at each step</a:t>
            </a:r>
            <a:endParaRPr lang="en-US" sz="1350" dirty="0"/>
          </a:p>
        </p:txBody>
      </p:sp>
      <p:sp>
        <p:nvSpPr>
          <p:cNvPr id="12" name="Shape 10"/>
          <p:cNvSpPr/>
          <p:nvPr/>
        </p:nvSpPr>
        <p:spPr>
          <a:xfrm>
            <a:off x="11931551" y="2534543"/>
            <a:ext cx="5308550" cy="504825"/>
          </a:xfrm>
          <a:prstGeom prst="roundRect">
            <a:avLst>
              <a:gd name="adj" fmla="val 18868"/>
            </a:avLst>
          </a:prstGeom>
          <a:solidFill>
            <a:srgbClr val="E9F1FA"/>
          </a:solidFill>
          <a:ln/>
        </p:spPr>
      </p:sp>
      <p:sp>
        <p:nvSpPr>
          <p:cNvPr id="13" name="Text 11"/>
          <p:cNvSpPr/>
          <p:nvPr/>
        </p:nvSpPr>
        <p:spPr>
          <a:xfrm>
            <a:off x="12103001" y="26583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0E1A26"/>
                </a:solidFill>
                <a:latin typeface="Khula" pitchFamily="34" charset="0"/>
                <a:ea typeface="Khula" pitchFamily="34" charset="-122"/>
                <a:cs typeface="Khula" pitchFamily="34" charset="-120"/>
              </a:rPr>
              <a:t>Multi-step: harness orchestrates the full chain</a:t>
            </a:r>
            <a:endParaRPr lang="en-US" sz="1350" dirty="0"/>
          </a:p>
        </p:txBody>
      </p:sp>
      <p:sp>
        <p:nvSpPr>
          <p:cNvPr id="14" name="Shape 12"/>
          <p:cNvSpPr/>
          <p:nvPr/>
        </p:nvSpPr>
        <p:spPr>
          <a:xfrm>
            <a:off x="1047750" y="3125093"/>
            <a:ext cx="5308550" cy="504825"/>
          </a:xfrm>
          <a:prstGeom prst="roundRect">
            <a:avLst>
              <a:gd name="adj" fmla="val 18868"/>
            </a:avLst>
          </a:prstGeom>
          <a:solidFill>
            <a:srgbClr val="F4F7FA"/>
          </a:solidFill>
          <a:ln/>
        </p:spPr>
      </p:sp>
      <p:sp>
        <p:nvSpPr>
          <p:cNvPr id="15" name="Text 13"/>
          <p:cNvSpPr/>
          <p:nvPr/>
        </p:nvSpPr>
        <p:spPr>
          <a:xfrm>
            <a:off x="1219200" y="32489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Clean context per invocation</a:t>
            </a:r>
            <a:endParaRPr lang="en-US" sz="1350" dirty="0"/>
          </a:p>
        </p:txBody>
      </p:sp>
      <p:sp>
        <p:nvSpPr>
          <p:cNvPr id="16" name="Shape 14"/>
          <p:cNvSpPr/>
          <p:nvPr/>
        </p:nvSpPr>
        <p:spPr>
          <a:xfrm>
            <a:off x="6489650" y="3125093"/>
            <a:ext cx="5308550" cy="504825"/>
          </a:xfrm>
          <a:prstGeom prst="roundRect">
            <a:avLst>
              <a:gd name="adj" fmla="val 18868"/>
            </a:avLst>
          </a:prstGeom>
          <a:solidFill>
            <a:srgbClr val="FEF3DE"/>
          </a:solidFill>
          <a:ln/>
        </p:spPr>
      </p:sp>
      <p:sp>
        <p:nvSpPr>
          <p:cNvPr id="17" name="Text 15"/>
          <p:cNvSpPr/>
          <p:nvPr/>
        </p:nvSpPr>
        <p:spPr>
          <a:xfrm>
            <a:off x="6661100" y="32489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Context accumulates across the session — quality degrades</a:t>
            </a:r>
            <a:endParaRPr lang="en-US" sz="1350" dirty="0"/>
          </a:p>
        </p:txBody>
      </p:sp>
      <p:sp>
        <p:nvSpPr>
          <p:cNvPr id="18" name="Shape 16"/>
          <p:cNvSpPr/>
          <p:nvPr/>
        </p:nvSpPr>
        <p:spPr>
          <a:xfrm>
            <a:off x="11931551" y="3125093"/>
            <a:ext cx="5308550" cy="504825"/>
          </a:xfrm>
          <a:prstGeom prst="roundRect">
            <a:avLst>
              <a:gd name="adj" fmla="val 18868"/>
            </a:avLst>
          </a:prstGeom>
          <a:solidFill>
            <a:srgbClr val="E9F1FA"/>
          </a:solidFill>
          <a:ln/>
        </p:spPr>
      </p:sp>
      <p:sp>
        <p:nvSpPr>
          <p:cNvPr id="19" name="Text 17"/>
          <p:cNvSpPr/>
          <p:nvPr/>
        </p:nvSpPr>
        <p:spPr>
          <a:xfrm>
            <a:off x="12103001" y="32489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0E1A26"/>
                </a:solidFill>
                <a:latin typeface="Khula" pitchFamily="34" charset="0"/>
                <a:ea typeface="Khula" pitchFamily="34" charset="-122"/>
                <a:cs typeface="Khula" pitchFamily="34" charset="-120"/>
              </a:rPr>
              <a:t>Each step gets a clean context — no accumulation</a:t>
            </a:r>
            <a:endParaRPr lang="en-US" sz="1350" dirty="0"/>
          </a:p>
        </p:txBody>
      </p:sp>
      <p:sp>
        <p:nvSpPr>
          <p:cNvPr id="20" name="Shape 18"/>
          <p:cNvSpPr/>
          <p:nvPr/>
        </p:nvSpPr>
        <p:spPr>
          <a:xfrm>
            <a:off x="1047750" y="3715643"/>
            <a:ext cx="5308550" cy="504825"/>
          </a:xfrm>
          <a:prstGeom prst="roundRect">
            <a:avLst>
              <a:gd name="adj" fmla="val 18868"/>
            </a:avLst>
          </a:prstGeom>
          <a:solidFill>
            <a:srgbClr val="F4F7FA"/>
          </a:solidFill>
          <a:ln/>
        </p:spPr>
      </p:sp>
      <p:sp>
        <p:nvSpPr>
          <p:cNvPr id="21" name="Text 19"/>
          <p:cNvSpPr/>
          <p:nvPr/>
        </p:nvSpPr>
        <p:spPr>
          <a:xfrm>
            <a:off x="1219200" y="38394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Evaluation runs when you decide to run it</a:t>
            </a:r>
            <a:endParaRPr lang="en-US" sz="1350" dirty="0"/>
          </a:p>
        </p:txBody>
      </p:sp>
      <p:sp>
        <p:nvSpPr>
          <p:cNvPr id="22" name="Shape 20"/>
          <p:cNvSpPr/>
          <p:nvPr/>
        </p:nvSpPr>
        <p:spPr>
          <a:xfrm>
            <a:off x="6489650" y="3715643"/>
            <a:ext cx="5308550" cy="504825"/>
          </a:xfrm>
          <a:prstGeom prst="roundRect">
            <a:avLst>
              <a:gd name="adj" fmla="val 18868"/>
            </a:avLst>
          </a:prstGeom>
          <a:solidFill>
            <a:srgbClr val="FEF3DE"/>
          </a:solidFill>
          <a:ln/>
        </p:spPr>
      </p:sp>
      <p:sp>
        <p:nvSpPr>
          <p:cNvPr id="23" name="Text 21"/>
          <p:cNvSpPr/>
          <p:nvPr/>
        </p:nvSpPr>
        <p:spPr>
          <a:xfrm>
            <a:off x="6661100" y="38394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Evaluation runs when you decide to run it</a:t>
            </a:r>
            <a:endParaRPr lang="en-US" sz="1350" dirty="0"/>
          </a:p>
        </p:txBody>
      </p:sp>
      <p:sp>
        <p:nvSpPr>
          <p:cNvPr id="24" name="Shape 22"/>
          <p:cNvSpPr/>
          <p:nvPr/>
        </p:nvSpPr>
        <p:spPr>
          <a:xfrm>
            <a:off x="11931551" y="3715643"/>
            <a:ext cx="5308550" cy="504825"/>
          </a:xfrm>
          <a:prstGeom prst="roundRect">
            <a:avLst>
              <a:gd name="adj" fmla="val 18868"/>
            </a:avLst>
          </a:prstGeom>
          <a:solidFill>
            <a:srgbClr val="E9F1FA"/>
          </a:solidFill>
          <a:ln/>
        </p:spPr>
      </p:sp>
      <p:sp>
        <p:nvSpPr>
          <p:cNvPr id="25" name="Text 23"/>
          <p:cNvSpPr/>
          <p:nvPr/>
        </p:nvSpPr>
        <p:spPr>
          <a:xfrm>
            <a:off x="12103001" y="38394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0E1A26"/>
                </a:solidFill>
                <a:latin typeface="Khula" pitchFamily="34" charset="0"/>
                <a:ea typeface="Khula" pitchFamily="34" charset="-122"/>
                <a:cs typeface="Khula" pitchFamily="34" charset="-120"/>
              </a:rPr>
              <a:t>Evaluation runs automatically at each step</a:t>
            </a:r>
            <a:endParaRPr lang="en-US" sz="1350" dirty="0"/>
          </a:p>
        </p:txBody>
      </p:sp>
      <p:sp>
        <p:nvSpPr>
          <p:cNvPr id="26" name="Shape 24"/>
          <p:cNvSpPr/>
          <p:nvPr/>
        </p:nvSpPr>
        <p:spPr>
          <a:xfrm>
            <a:off x="1047750" y="4306193"/>
            <a:ext cx="5308550" cy="504825"/>
          </a:xfrm>
          <a:prstGeom prst="roundRect">
            <a:avLst>
              <a:gd name="adj" fmla="val 18868"/>
            </a:avLst>
          </a:prstGeom>
          <a:solidFill>
            <a:srgbClr val="F4F7FA"/>
          </a:solidFill>
          <a:ln/>
        </p:spPr>
      </p:sp>
      <p:sp>
        <p:nvSpPr>
          <p:cNvPr id="27" name="Text 25"/>
          <p:cNvSpPr/>
          <p:nvPr/>
        </p:nvSpPr>
        <p:spPr>
          <a:xfrm>
            <a:off x="1219200" y="44300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You manually pass output to the next skill</a:t>
            </a:r>
            <a:endParaRPr lang="en-US" sz="1350" dirty="0"/>
          </a:p>
        </p:txBody>
      </p:sp>
      <p:sp>
        <p:nvSpPr>
          <p:cNvPr id="28" name="Shape 26"/>
          <p:cNvSpPr/>
          <p:nvPr/>
        </p:nvSpPr>
        <p:spPr>
          <a:xfrm>
            <a:off x="6489650" y="4306193"/>
            <a:ext cx="5308550" cy="504825"/>
          </a:xfrm>
          <a:prstGeom prst="roundRect">
            <a:avLst>
              <a:gd name="adj" fmla="val 18868"/>
            </a:avLst>
          </a:prstGeom>
          <a:solidFill>
            <a:srgbClr val="FEF3DE"/>
          </a:solidFill>
          <a:ln/>
        </p:spPr>
      </p:sp>
      <p:sp>
        <p:nvSpPr>
          <p:cNvPr id="29" name="Text 27"/>
          <p:cNvSpPr/>
          <p:nvPr/>
        </p:nvSpPr>
        <p:spPr>
          <a:xfrm>
            <a:off x="6661100" y="44300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Context window carries artifacts between steps</a:t>
            </a:r>
            <a:endParaRPr lang="en-US" sz="1350" dirty="0"/>
          </a:p>
        </p:txBody>
      </p:sp>
      <p:sp>
        <p:nvSpPr>
          <p:cNvPr id="30" name="Shape 28"/>
          <p:cNvSpPr/>
          <p:nvPr/>
        </p:nvSpPr>
        <p:spPr>
          <a:xfrm>
            <a:off x="11931551" y="4306193"/>
            <a:ext cx="5308550" cy="504825"/>
          </a:xfrm>
          <a:prstGeom prst="roundRect">
            <a:avLst>
              <a:gd name="adj" fmla="val 18868"/>
            </a:avLst>
          </a:prstGeom>
          <a:solidFill>
            <a:srgbClr val="E9F1FA"/>
          </a:solidFill>
          <a:ln/>
        </p:spPr>
      </p:sp>
      <p:sp>
        <p:nvSpPr>
          <p:cNvPr id="31" name="Text 29"/>
          <p:cNvSpPr/>
          <p:nvPr/>
        </p:nvSpPr>
        <p:spPr>
          <a:xfrm>
            <a:off x="12103001" y="44300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0E1A26"/>
                </a:solidFill>
                <a:latin typeface="Khula" pitchFamily="34" charset="0"/>
                <a:ea typeface="Khula" pitchFamily="34" charset="-122"/>
                <a:cs typeface="Khula" pitchFamily="34" charset="-120"/>
              </a:rPr>
              <a:t>Harness passes artifacts between steps automatically</a:t>
            </a:r>
            <a:endParaRPr lang="en-US" sz="1350" dirty="0"/>
          </a:p>
        </p:txBody>
      </p:sp>
      <p:sp>
        <p:nvSpPr>
          <p:cNvPr id="32" name="Shape 30"/>
          <p:cNvSpPr/>
          <p:nvPr/>
        </p:nvSpPr>
        <p:spPr>
          <a:xfrm>
            <a:off x="1047750" y="4896743"/>
            <a:ext cx="5308550" cy="504825"/>
          </a:xfrm>
          <a:prstGeom prst="roundRect">
            <a:avLst>
              <a:gd name="adj" fmla="val 18868"/>
            </a:avLst>
          </a:prstGeom>
          <a:solidFill>
            <a:srgbClr val="F4F7FA"/>
          </a:solidFill>
          <a:ln/>
        </p:spPr>
      </p:sp>
      <p:sp>
        <p:nvSpPr>
          <p:cNvPr id="33" name="Text 31"/>
          <p:cNvSpPr/>
          <p:nvPr/>
        </p:nvSpPr>
        <p:spPr>
          <a:xfrm>
            <a:off x="1219200" y="50205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No programmatic failure handling</a:t>
            </a:r>
            <a:endParaRPr lang="en-US" sz="1350" dirty="0"/>
          </a:p>
        </p:txBody>
      </p:sp>
      <p:sp>
        <p:nvSpPr>
          <p:cNvPr id="34" name="Shape 32"/>
          <p:cNvSpPr/>
          <p:nvPr/>
        </p:nvSpPr>
        <p:spPr>
          <a:xfrm>
            <a:off x="6489650" y="4896743"/>
            <a:ext cx="5308550" cy="504825"/>
          </a:xfrm>
          <a:prstGeom prst="roundRect">
            <a:avLst>
              <a:gd name="adj" fmla="val 18868"/>
            </a:avLst>
          </a:prstGeom>
          <a:solidFill>
            <a:srgbClr val="FEF3DE"/>
          </a:solidFill>
          <a:ln/>
        </p:spPr>
      </p:sp>
      <p:sp>
        <p:nvSpPr>
          <p:cNvPr id="35" name="Text 33"/>
          <p:cNvSpPr/>
          <p:nvPr/>
        </p:nvSpPr>
        <p:spPr>
          <a:xfrm>
            <a:off x="6661100" y="50205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You decide what to do at each failure</a:t>
            </a:r>
            <a:endParaRPr lang="en-US" sz="1350" dirty="0"/>
          </a:p>
        </p:txBody>
      </p:sp>
      <p:sp>
        <p:nvSpPr>
          <p:cNvPr id="36" name="Shape 34"/>
          <p:cNvSpPr/>
          <p:nvPr/>
        </p:nvSpPr>
        <p:spPr>
          <a:xfrm>
            <a:off x="11931551" y="4896743"/>
            <a:ext cx="5308550" cy="504825"/>
          </a:xfrm>
          <a:prstGeom prst="roundRect">
            <a:avLst>
              <a:gd name="adj" fmla="val 18868"/>
            </a:avLst>
          </a:prstGeom>
          <a:solidFill>
            <a:srgbClr val="E9F1FA"/>
          </a:solidFill>
          <a:ln/>
        </p:spPr>
      </p:sp>
      <p:sp>
        <p:nvSpPr>
          <p:cNvPr id="37" name="Text 35"/>
          <p:cNvSpPr/>
          <p:nvPr/>
        </p:nvSpPr>
        <p:spPr>
          <a:xfrm>
            <a:off x="12103001" y="502056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0E1A26"/>
                </a:solidFill>
                <a:latin typeface="Khula" pitchFamily="34" charset="0"/>
                <a:ea typeface="Khula" pitchFamily="34" charset="-122"/>
                <a:cs typeface="Khula" pitchFamily="34" charset="-120"/>
              </a:rPr>
              <a:t>Harness can retry, halt, or notify on evaluation failure</a:t>
            </a:r>
            <a:endParaRPr lang="en-US" sz="1350" dirty="0"/>
          </a:p>
        </p:txBody>
      </p:sp>
      <p:sp>
        <p:nvSpPr>
          <p:cNvPr id="38" name="Shape 36"/>
          <p:cNvSpPr/>
          <p:nvPr/>
        </p:nvSpPr>
        <p:spPr>
          <a:xfrm>
            <a:off x="1047750" y="5487293"/>
            <a:ext cx="5308550" cy="504825"/>
          </a:xfrm>
          <a:prstGeom prst="roundRect">
            <a:avLst>
              <a:gd name="adj" fmla="val 18868"/>
            </a:avLst>
          </a:prstGeom>
          <a:solidFill>
            <a:srgbClr val="F4F7FA"/>
          </a:solidFill>
          <a:ln/>
        </p:spPr>
      </p:sp>
      <p:sp>
        <p:nvSpPr>
          <p:cNvPr id="39" name="Text 37"/>
          <p:cNvSpPr/>
          <p:nvPr/>
        </p:nvSpPr>
        <p:spPr>
          <a:xfrm>
            <a:off x="1219200" y="56111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You're in the loop at every step</a:t>
            </a:r>
            <a:endParaRPr lang="en-US" sz="1350" dirty="0"/>
          </a:p>
        </p:txBody>
      </p:sp>
      <p:sp>
        <p:nvSpPr>
          <p:cNvPr id="40" name="Shape 38"/>
          <p:cNvSpPr/>
          <p:nvPr/>
        </p:nvSpPr>
        <p:spPr>
          <a:xfrm>
            <a:off x="6489650" y="5487293"/>
            <a:ext cx="5308550" cy="504825"/>
          </a:xfrm>
          <a:prstGeom prst="roundRect">
            <a:avLst>
              <a:gd name="adj" fmla="val 18868"/>
            </a:avLst>
          </a:prstGeom>
          <a:solidFill>
            <a:srgbClr val="FEF3DE"/>
          </a:solidFill>
          <a:ln/>
        </p:spPr>
      </p:sp>
      <p:sp>
        <p:nvSpPr>
          <p:cNvPr id="41" name="Text 39"/>
          <p:cNvSpPr/>
          <p:nvPr/>
        </p:nvSpPr>
        <p:spPr>
          <a:xfrm>
            <a:off x="6661100" y="56111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dirty="0">
                <a:solidFill>
                  <a:srgbClr val="0E1A26"/>
                </a:solidFill>
                <a:latin typeface="Khula" pitchFamily="34" charset="0"/>
                <a:ea typeface="Khula" pitchFamily="34" charset="-122"/>
                <a:cs typeface="Khula" pitchFamily="34" charset="-120"/>
              </a:rPr>
              <a:t>You're in the loop at every step</a:t>
            </a:r>
            <a:endParaRPr lang="en-US" sz="1350" dirty="0"/>
          </a:p>
        </p:txBody>
      </p:sp>
      <p:sp>
        <p:nvSpPr>
          <p:cNvPr id="42" name="Shape 40"/>
          <p:cNvSpPr/>
          <p:nvPr/>
        </p:nvSpPr>
        <p:spPr>
          <a:xfrm>
            <a:off x="11931551" y="5487293"/>
            <a:ext cx="5308550" cy="504825"/>
          </a:xfrm>
          <a:prstGeom prst="roundRect">
            <a:avLst>
              <a:gd name="adj" fmla="val 18868"/>
            </a:avLst>
          </a:prstGeom>
          <a:solidFill>
            <a:srgbClr val="E9F1FA"/>
          </a:solidFill>
          <a:ln/>
        </p:spPr>
      </p:sp>
      <p:sp>
        <p:nvSpPr>
          <p:cNvPr id="43" name="Text 41"/>
          <p:cNvSpPr/>
          <p:nvPr/>
        </p:nvSpPr>
        <p:spPr>
          <a:xfrm>
            <a:off x="12103001" y="5611118"/>
            <a:ext cx="5124907"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0E1A26"/>
                </a:solidFill>
                <a:latin typeface="Khula" pitchFamily="34" charset="0"/>
                <a:ea typeface="Khula" pitchFamily="34" charset="-122"/>
                <a:cs typeface="Khula" pitchFamily="34" charset="-120"/>
              </a:rPr>
              <a:t>Unattended execution possible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3059757"/>
            <a:ext cx="3265289" cy="533400"/>
          </a:xfrm>
          <a:prstGeom prst="roundRect">
            <a:avLst>
              <a:gd name="adj" fmla="val 50000"/>
            </a:avLst>
          </a:prstGeom>
          <a:solidFill>
            <a:srgbClr val="005596"/>
          </a:solidFill>
          <a:ln/>
        </p:spPr>
      </p:sp>
      <p:sp>
        <p:nvSpPr>
          <p:cNvPr id="3" name="Text 1"/>
          <p:cNvSpPr/>
          <p:nvPr/>
        </p:nvSpPr>
        <p:spPr>
          <a:xfrm>
            <a:off x="1485900" y="3155007"/>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726507"/>
            <a:ext cx="17392650" cy="449461"/>
          </a:xfrm>
          <a:prstGeom prst="rect">
            <a:avLst/>
          </a:prstGeom>
          <a:noFill/>
          <a:ln/>
        </p:spPr>
        <p:txBody>
          <a:bodyPr wrap="square" lIns="25400" tIns="25400" rIns="25400" bIns="25400" rtlCol="0" anchor="t">
            <a:normAutofit/>
          </a:bodyPr>
          <a:lstStyle/>
          <a:p>
            <a:pPr algn="l" indent="0" marL="0">
              <a:lnSpc>
                <a:spcPct val="78545"/>
              </a:lnSpc>
              <a:buNone/>
            </a:pPr>
            <a:r>
              <a:rPr lang="en-US" sz="2700" b="1" spc="-54" kern="0" dirty="0">
                <a:solidFill>
                  <a:srgbClr val="005596"/>
                </a:solidFill>
                <a:latin typeface="Poppins" pitchFamily="34" charset="0"/>
                <a:ea typeface="Poppins" pitchFamily="34" charset="-122"/>
                <a:cs typeface="Poppins" pitchFamily="34" charset="-120"/>
              </a:rPr>
              <a:t>The Intelligence OS: Stage 3 (Where You Are)</a:t>
            </a:r>
            <a:endParaRPr lang="en-US" sz="2700" dirty="0"/>
          </a:p>
        </p:txBody>
      </p:sp>
      <p:sp>
        <p:nvSpPr>
          <p:cNvPr id="5" name="Text 3"/>
          <p:cNvSpPr/>
          <p:nvPr/>
        </p:nvSpPr>
        <p:spPr>
          <a:xfrm>
            <a:off x="1238250" y="4271218"/>
            <a:ext cx="17392650" cy="266105"/>
          </a:xfrm>
          <a:prstGeom prst="rect">
            <a:avLst/>
          </a:prstGeom>
          <a:noFill/>
          <a:ln/>
        </p:spPr>
        <p:txBody>
          <a:bodyPr wrap="square" lIns="25400" tIns="25400" rIns="25400" bIns="25400" rtlCol="0" anchor="t">
            <a:normAutofit/>
          </a:bodyPr>
          <a:lstStyle/>
          <a:p>
            <a:pPr algn="l" indent="0" marL="0">
              <a:lnSpc>
                <a:spcPct val="77226"/>
              </a:lnSpc>
              <a:buNone/>
            </a:pPr>
            <a:r>
              <a:rPr lang="en-US" sz="1425" dirty="0">
                <a:solidFill>
                  <a:srgbClr val="0E1A26"/>
                </a:solidFill>
                <a:latin typeface="Khula" pitchFamily="34" charset="0"/>
                <a:ea typeface="Khula" pitchFamily="34" charset="-122"/>
                <a:cs typeface="Khula" pitchFamily="34" charset="-120"/>
              </a:rPr>
              <a:t>The Improving Intelligence Operating System (IIOS) is Improving's framework for AI maturity, with artifact-based certification criteria at each stage.</a:t>
            </a:r>
            <a:endParaRPr lang="en-US" sz="1425" dirty="0"/>
          </a:p>
        </p:txBody>
      </p:sp>
      <p:sp>
        <p:nvSpPr>
          <p:cNvPr id="6" name="Shape 4"/>
          <p:cNvSpPr/>
          <p:nvPr/>
        </p:nvSpPr>
        <p:spPr>
          <a:xfrm>
            <a:off x="1238250" y="4632573"/>
            <a:ext cx="7810500" cy="1136749"/>
          </a:xfrm>
          <a:prstGeom prst="roundRect">
            <a:avLst>
              <a:gd name="adj" fmla="val 13407"/>
            </a:avLst>
          </a:prstGeom>
          <a:solidFill>
            <a:srgbClr val="F4F7FA"/>
          </a:solidFill>
          <a:ln/>
        </p:spPr>
      </p:sp>
      <p:sp>
        <p:nvSpPr>
          <p:cNvPr id="7" name="Text 5"/>
          <p:cNvSpPr/>
          <p:nvPr/>
        </p:nvSpPr>
        <p:spPr>
          <a:xfrm>
            <a:off x="1447800" y="4784973"/>
            <a:ext cx="8130540" cy="323850"/>
          </a:xfrm>
          <a:prstGeom prst="rect">
            <a:avLst/>
          </a:prstGeom>
          <a:noFill/>
          <a:ln/>
        </p:spPr>
        <p:txBody>
          <a:bodyPr wrap="square" lIns="25400" tIns="25400" rIns="25400" bIns="25400" rtlCol="0" anchor="t">
            <a:normAutofit/>
          </a:bodyPr>
          <a:lstStyle/>
          <a:p>
            <a:pPr algn="l" indent="0" marL="0">
              <a:lnSpc>
                <a:spcPct val="100000"/>
              </a:lnSpc>
              <a:buNone/>
            </a:pPr>
            <a:r>
              <a:rPr lang="en-US" sz="1500" b="1" spc="75" kern="0" dirty="0">
                <a:solidFill>
                  <a:srgbClr val="A7A8A9"/>
                </a:solidFill>
                <a:latin typeface="Poppins" pitchFamily="34" charset="0"/>
                <a:ea typeface="Poppins" pitchFamily="34" charset="-122"/>
                <a:cs typeface="Poppins" pitchFamily="34" charset="-120"/>
              </a:rPr>
              <a:t>STAGE 2: OFF THE SHELF</a:t>
            </a:r>
            <a:endParaRPr lang="en-US" sz="1500" dirty="0"/>
          </a:p>
        </p:txBody>
      </p:sp>
      <p:sp>
        <p:nvSpPr>
          <p:cNvPr id="8" name="Text 6"/>
          <p:cNvSpPr/>
          <p:nvPr/>
        </p:nvSpPr>
        <p:spPr>
          <a:xfrm>
            <a:off x="1447800" y="5146923"/>
            <a:ext cx="7613142" cy="469999"/>
          </a:xfrm>
          <a:prstGeom prst="rect">
            <a:avLst/>
          </a:prstGeom>
          <a:noFill/>
          <a:ln/>
        </p:spPr>
        <p:txBody>
          <a:bodyPr wrap="square" lIns="25400" tIns="25400" rIns="25400" bIns="25400" rtlCol="0" anchor="t">
            <a:normAutofit/>
          </a:bodyPr>
          <a:lstStyle/>
          <a:p>
            <a:pPr algn="l" indent="0" marL="0">
              <a:lnSpc>
                <a:spcPct val="78207"/>
              </a:lnSpc>
              <a:buNone/>
            </a:pPr>
            <a:r>
              <a:rPr lang="en-US" sz="1350" dirty="0">
                <a:solidFill>
                  <a:srgbClr val="0E1A26"/>
                </a:solidFill>
                <a:latin typeface="Khula" pitchFamily="34" charset="0"/>
                <a:ea typeface="Khula" pitchFamily="34" charset="-122"/>
                <a:cs typeface="Khula" pitchFamily="34" charset="-120"/>
              </a:rPr>
              <a:t>Using AI tools as-is (Copilot, ChatGPT, Claude Code). Producing with AI but not measuring. No structured prompt framework.</a:t>
            </a:r>
            <a:endParaRPr lang="en-US" sz="1350" dirty="0"/>
          </a:p>
        </p:txBody>
      </p:sp>
      <p:sp>
        <p:nvSpPr>
          <p:cNvPr id="9" name="Shape 7"/>
          <p:cNvSpPr/>
          <p:nvPr/>
        </p:nvSpPr>
        <p:spPr>
          <a:xfrm>
            <a:off x="9239250" y="4632573"/>
            <a:ext cx="7810500" cy="1136749"/>
          </a:xfrm>
          <a:prstGeom prst="roundRect">
            <a:avLst>
              <a:gd name="adj" fmla="val 13407"/>
            </a:avLst>
          </a:prstGeom>
          <a:solidFill>
            <a:srgbClr val="E9F1FA"/>
          </a:solidFill>
          <a:ln w="19050">
            <a:solidFill>
              <a:srgbClr val="005596"/>
            </a:solidFill>
            <a:prstDash val="solid"/>
          </a:ln>
        </p:spPr>
      </p:sp>
      <p:sp>
        <p:nvSpPr>
          <p:cNvPr id="10" name="Text 8"/>
          <p:cNvSpPr/>
          <p:nvPr/>
        </p:nvSpPr>
        <p:spPr>
          <a:xfrm>
            <a:off x="9467850" y="4804023"/>
            <a:ext cx="8088630" cy="323850"/>
          </a:xfrm>
          <a:prstGeom prst="rect">
            <a:avLst/>
          </a:prstGeom>
          <a:noFill/>
          <a:ln/>
        </p:spPr>
        <p:txBody>
          <a:bodyPr wrap="square" lIns="25400" tIns="25400" rIns="25400" bIns="25400" rtlCol="0" anchor="t">
            <a:normAutofit/>
          </a:bodyPr>
          <a:lstStyle/>
          <a:p>
            <a:pPr algn="l" indent="0" marL="0">
              <a:lnSpc>
                <a:spcPct val="100000"/>
              </a:lnSpc>
              <a:buNone/>
            </a:pPr>
            <a:r>
              <a:rPr lang="en-US" sz="1500" b="1" spc="75" kern="0" dirty="0">
                <a:solidFill>
                  <a:srgbClr val="005596"/>
                </a:solidFill>
                <a:latin typeface="Poppins" pitchFamily="34" charset="0"/>
                <a:ea typeface="Poppins" pitchFamily="34" charset="-122"/>
                <a:cs typeface="Poppins" pitchFamily="34" charset="-120"/>
              </a:rPr>
              <a:t>STAGE 3: TASK — WHERE YOU ARE</a:t>
            </a:r>
            <a:endParaRPr lang="en-US" sz="1500" dirty="0"/>
          </a:p>
        </p:txBody>
      </p:sp>
      <p:sp>
        <p:nvSpPr>
          <p:cNvPr id="11" name="Text 9"/>
          <p:cNvSpPr/>
          <p:nvPr/>
        </p:nvSpPr>
        <p:spPr>
          <a:xfrm>
            <a:off x="9467850" y="5165973"/>
            <a:ext cx="7573899" cy="469999"/>
          </a:xfrm>
          <a:prstGeom prst="rect">
            <a:avLst/>
          </a:prstGeom>
          <a:noFill/>
          <a:ln/>
        </p:spPr>
        <p:txBody>
          <a:bodyPr wrap="square" lIns="25400" tIns="25400" rIns="25400" bIns="25400" rtlCol="0" anchor="t">
            <a:normAutofit/>
          </a:bodyPr>
          <a:lstStyle/>
          <a:p>
            <a:pPr algn="l" indent="0" marL="0">
              <a:lnSpc>
                <a:spcPct val="78207"/>
              </a:lnSpc>
              <a:buNone/>
            </a:pPr>
            <a:r>
              <a:rPr lang="en-US" sz="1350" dirty="0">
                <a:solidFill>
                  <a:srgbClr val="0E1A26"/>
                </a:solidFill>
                <a:latin typeface="Khula" pitchFamily="34" charset="0"/>
                <a:ea typeface="Khula" pitchFamily="34" charset="-122"/>
                <a:cs typeface="Khula" pitchFamily="34" charset="-120"/>
              </a:rPr>
              <a:t>Giving AI a defined task with real context. Crafting prompts deliberately. Measuring improvement from prompt changes.</a:t>
            </a:r>
            <a:endParaRPr lang="en-US" sz="1350" dirty="0"/>
          </a:p>
        </p:txBody>
      </p:sp>
      <p:sp>
        <p:nvSpPr>
          <p:cNvPr id="12" name="Shape 10"/>
          <p:cNvSpPr/>
          <p:nvPr/>
        </p:nvSpPr>
        <p:spPr>
          <a:xfrm>
            <a:off x="1238250" y="5902672"/>
            <a:ext cx="15811500" cy="686395"/>
          </a:xfrm>
          <a:prstGeom prst="roundRect">
            <a:avLst>
              <a:gd name="adj" fmla="val 13877"/>
            </a:avLst>
          </a:prstGeom>
          <a:solidFill>
            <a:srgbClr val="F4F7FA"/>
          </a:solidFill>
          <a:ln/>
        </p:spPr>
      </p:sp>
      <p:sp>
        <p:nvSpPr>
          <p:cNvPr id="13" name="Text 11"/>
          <p:cNvSpPr/>
          <p:nvPr/>
        </p:nvSpPr>
        <p:spPr>
          <a:xfrm>
            <a:off x="1447800" y="6026497"/>
            <a:ext cx="15854172" cy="476845"/>
          </a:xfrm>
          <a:prstGeom prst="rect">
            <a:avLst/>
          </a:prstGeom>
          <a:noFill/>
          <a:ln/>
        </p:spPr>
        <p:txBody>
          <a:bodyPr wrap="square" lIns="25400" tIns="25400" rIns="25400" bIns="25400" rtlCol="0" anchor="t">
            <a:normAutofit/>
          </a:bodyPr>
          <a:lstStyle/>
          <a:p>
            <a:pPr algn="l" indent="0" marL="0">
              <a:lnSpc>
                <a:spcPct val="79448"/>
              </a:lnSpc>
              <a:buNone/>
            </a:pPr>
            <a:r>
              <a:rPr lang="en-US" sz="1350" dirty="0">
                <a:solidFill>
                  <a:srgbClr val="0E1A26"/>
                </a:solidFill>
                <a:latin typeface="Khula" pitchFamily="34" charset="0"/>
                <a:ea typeface="Khula" pitchFamily="34" charset="-122"/>
                <a:cs typeface="Khula" pitchFamily="34" charset="-120"/>
              </a:rPr>
              <a:t>You are at Stage 3 because you can: build skills using RTCC (WHO/WHAT/WHY/HOW), not ad-hoc prompting · write Evaluation Criteria (EC) before building · run Python evaluation scripts with LLM judges · iterate with 3+ documented cycles · build adversarial agents that challenge output · make deliberate model invocation decisions · build bounded agents that chain skills into multi-step workflows.</a:t>
            </a:r>
            <a:endParaRPr lang="en-US" sz="1350" dirty="0"/>
          </a:p>
        </p:txBody>
      </p:sp>
      <p:sp>
        <p:nvSpPr>
          <p:cNvPr id="14" name="Shape 12"/>
          <p:cNvSpPr/>
          <p:nvPr/>
        </p:nvSpPr>
        <p:spPr>
          <a:xfrm>
            <a:off x="1238250" y="6722418"/>
            <a:ext cx="15811500" cy="504825"/>
          </a:xfrm>
          <a:prstGeom prst="roundRect">
            <a:avLst>
              <a:gd name="adj" fmla="val 30189"/>
            </a:avLst>
          </a:prstGeom>
          <a:solidFill>
            <a:srgbClr val="005596"/>
          </a:solidFill>
          <a:ln/>
          <a:effectLst>
            <a:outerShdw sx="100000" sy="100000" kx="0" ky="0" algn="bl" rotWithShape="0" blurRad="266700" dist="114300" dir="5400000">
              <a:srgbClr val="005596">
                <a:alpha val="28000"/>
              </a:srgbClr>
            </a:outerShdw>
          </a:effectLst>
        </p:spPr>
      </p:sp>
      <p:sp>
        <p:nvSpPr>
          <p:cNvPr id="15" name="Text 13"/>
          <p:cNvSpPr/>
          <p:nvPr/>
        </p:nvSpPr>
        <p:spPr>
          <a:xfrm>
            <a:off x="1485900" y="6846243"/>
            <a:ext cx="16847820"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FFFFFF"/>
                </a:solidFill>
                <a:latin typeface="Khula" pitchFamily="34" charset="0"/>
                <a:ea typeface="Khula" pitchFamily="34" charset="-122"/>
                <a:cs typeface="Khula" pitchFamily="34" charset="-120"/>
              </a:rPr>
              <a:t>The Stage 3 ceiling: everything is still personal. Reviewing is done by a human, one piece at a time. To compound, the team has to reconcile personal agents into shared workflows — that's Stage 4.</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3231356"/>
            <a:ext cx="3265289" cy="533400"/>
          </a:xfrm>
          <a:prstGeom prst="roundRect">
            <a:avLst>
              <a:gd name="adj" fmla="val 50000"/>
            </a:avLst>
          </a:prstGeom>
          <a:solidFill>
            <a:srgbClr val="005596"/>
          </a:solidFill>
          <a:ln/>
        </p:spPr>
      </p:sp>
      <p:sp>
        <p:nvSpPr>
          <p:cNvPr id="3" name="Text 1"/>
          <p:cNvSpPr/>
          <p:nvPr/>
        </p:nvSpPr>
        <p:spPr>
          <a:xfrm>
            <a:off x="1485900" y="3326606"/>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898106"/>
            <a:ext cx="17392650" cy="426690"/>
          </a:xfrm>
          <a:prstGeom prst="rect">
            <a:avLst/>
          </a:prstGeom>
          <a:noFill/>
          <a:ln/>
        </p:spPr>
        <p:txBody>
          <a:bodyPr wrap="square" lIns="25400" tIns="25400" rIns="25400" bIns="25400" rtlCol="0" anchor="t">
            <a:normAutofit/>
          </a:bodyPr>
          <a:lstStyle/>
          <a:p>
            <a:pPr algn="l" indent="0" marL="0">
              <a:lnSpc>
                <a:spcPct val="80000"/>
              </a:lnSpc>
              <a:buNone/>
            </a:pPr>
            <a:r>
              <a:rPr lang="en-US" sz="2550" b="1" spc="-51" kern="0" dirty="0">
                <a:solidFill>
                  <a:srgbClr val="005596"/>
                </a:solidFill>
                <a:latin typeface="Poppins" pitchFamily="34" charset="0"/>
                <a:ea typeface="Poppins" pitchFamily="34" charset="-122"/>
                <a:cs typeface="Poppins" pitchFamily="34" charset="-120"/>
              </a:rPr>
              <a:t>Stage 4 (What Comes Next)</a:t>
            </a:r>
            <a:endParaRPr lang="en-US" sz="2550" dirty="0"/>
          </a:p>
        </p:txBody>
      </p:sp>
      <p:sp>
        <p:nvSpPr>
          <p:cNvPr id="5" name="Text 3"/>
          <p:cNvSpPr/>
          <p:nvPr/>
        </p:nvSpPr>
        <p:spPr>
          <a:xfrm>
            <a:off x="1238250" y="4420046"/>
            <a:ext cx="16285845" cy="433090"/>
          </a:xfrm>
          <a:prstGeom prst="rect">
            <a:avLst/>
          </a:prstGeom>
          <a:noFill/>
          <a:ln/>
        </p:spPr>
        <p:txBody>
          <a:bodyPr wrap="square" lIns="25400" tIns="25400" rIns="25400" bIns="25400" rtlCol="0" anchor="t">
            <a:normAutofit/>
          </a:bodyPr>
          <a:lstStyle/>
          <a:p>
            <a:pPr algn="l" indent="0" marL="0">
              <a:lnSpc>
                <a:spcPct val="76815"/>
              </a:lnSpc>
              <a:buNone/>
            </a:pPr>
            <a:r>
              <a:rPr lang="en-US" sz="1275" dirty="0">
                <a:solidFill>
                  <a:srgbClr val="0E1A26"/>
                </a:solidFill>
                <a:latin typeface="Khula" pitchFamily="34" charset="0"/>
                <a:ea typeface="Khula" pitchFamily="34" charset="-122"/>
                <a:cs typeface="Khula" pitchFamily="34" charset="-120"/>
              </a:rPr>
              <a:t>Stage 4: Workflow — chaining multiple AI steps into a repeatable process with deterministic validation, adversarial agents, governance rules, and human punch-out points. The custom harness demo you just saw is what Stage 4 looks like in practice.</a:t>
            </a:r>
            <a:endParaRPr lang="en-US" sz="1275" dirty="0"/>
          </a:p>
        </p:txBody>
      </p:sp>
      <p:sp>
        <p:nvSpPr>
          <p:cNvPr id="6" name="Text 4"/>
          <p:cNvSpPr/>
          <p:nvPr/>
        </p:nvSpPr>
        <p:spPr>
          <a:xfrm>
            <a:off x="1322070" y="4948386"/>
            <a:ext cx="7984712" cy="403622"/>
          </a:xfrm>
          <a:prstGeom prst="rect">
            <a:avLst/>
          </a:prstGeom>
          <a:noFill/>
          <a:ln/>
        </p:spPr>
        <p:txBody>
          <a:bodyPr wrap="square" lIns="25400" tIns="25400" rIns="25400" bIns="25400" rtlCol="0" anchor="t">
            <a:normAutofit/>
          </a:bodyPr>
          <a:lstStyle/>
          <a:p>
            <a:pPr algn="l" marL="106680" indent="-106680">
              <a:lnSpc>
                <a:spcPct val="73846"/>
              </a:lnSpc>
              <a:buSzPct val="100000"/>
              <a:buChar char="•"/>
            </a:pPr>
            <a:r>
              <a:rPr lang="en-US" sz="1200" b="1" dirty="0">
                <a:solidFill>
                  <a:srgbClr val="0E1A26"/>
                </a:solidFill>
                <a:latin typeface="Khula" pitchFamily="34" charset="0"/>
                <a:ea typeface="Khula" pitchFamily="34" charset="-122"/>
                <a:cs typeface="Khula" pitchFamily="34" charset="-120"/>
              </a:rPr>
              <a:t>Automated harness or runner script </a:t>
            </a:r>
            <a:pPr algn="l" indent="0" marL="0">
              <a:lnSpc>
                <a:spcPct val="73846"/>
              </a:lnSpc>
              <a:buNone/>
            </a:pPr>
            <a:r>
              <a:rPr lang="en-US" sz="1200" dirty="0">
                <a:solidFill>
                  <a:srgbClr val="0E1A26"/>
                </a:solidFill>
                <a:latin typeface="Khula" pitchFamily="34" charset="0"/>
                <a:ea typeface="Khula" pitchFamily="34" charset="-122"/>
                <a:cs typeface="Khula" pitchFamily="34" charset="-120"/>
              </a:rPr>
              <a:t>— a program that executes end-to-end. A human typing each step is Stage 2, not Stage 4.</a:t>
            </a:r>
            <a:endParaRPr lang="en-US" sz="1200" dirty="0"/>
          </a:p>
        </p:txBody>
      </p:sp>
      <p:sp>
        <p:nvSpPr>
          <p:cNvPr id="7" name="Text 5"/>
          <p:cNvSpPr/>
          <p:nvPr/>
        </p:nvSpPr>
        <p:spPr>
          <a:xfrm>
            <a:off x="1322070" y="5313908"/>
            <a:ext cx="7984712" cy="403622"/>
          </a:xfrm>
          <a:prstGeom prst="rect">
            <a:avLst/>
          </a:prstGeom>
          <a:noFill/>
          <a:ln/>
        </p:spPr>
        <p:txBody>
          <a:bodyPr wrap="square" lIns="25400" tIns="25400" rIns="25400" bIns="25400" rtlCol="0" anchor="t">
            <a:normAutofit/>
          </a:bodyPr>
          <a:lstStyle/>
          <a:p>
            <a:pPr algn="l" marL="106680" indent="-106680">
              <a:lnSpc>
                <a:spcPct val="73846"/>
              </a:lnSpc>
              <a:buSzPct val="100000"/>
              <a:buChar char="•"/>
            </a:pPr>
            <a:r>
              <a:rPr lang="en-US" sz="1200" b="1" dirty="0">
                <a:solidFill>
                  <a:srgbClr val="0E1A26"/>
                </a:solidFill>
                <a:latin typeface="Khula" pitchFamily="34" charset="0"/>
                <a:ea typeface="Khula" pitchFamily="34" charset="-122"/>
                <a:cs typeface="Khula" pitchFamily="34" charset="-120"/>
              </a:rPr>
              <a:t>Guardrails between steps </a:t>
            </a:r>
            <a:pPr algn="l" indent="0" marL="0">
              <a:lnSpc>
                <a:spcPct val="73846"/>
              </a:lnSpc>
              <a:buNone/>
            </a:pPr>
            <a:r>
              <a:rPr lang="en-US" sz="1200" dirty="0">
                <a:solidFill>
                  <a:srgbClr val="0E1A26"/>
                </a:solidFill>
                <a:latin typeface="Khula" pitchFamily="34" charset="0"/>
                <a:ea typeface="Khula" pitchFamily="34" charset="-122"/>
                <a:cs typeface="Khula" pitchFamily="34" charset="-120"/>
              </a:rPr>
              <a:t>— adversarial review agents AND deterministic hooks validating structure, content, format.</a:t>
            </a:r>
            <a:endParaRPr lang="en-US" sz="1200" dirty="0"/>
          </a:p>
        </p:txBody>
      </p:sp>
      <p:sp>
        <p:nvSpPr>
          <p:cNvPr id="8" name="Text 6"/>
          <p:cNvSpPr/>
          <p:nvPr/>
        </p:nvSpPr>
        <p:spPr>
          <a:xfrm>
            <a:off x="9294495" y="4948386"/>
            <a:ext cx="8520113" cy="220861"/>
          </a:xfrm>
          <a:prstGeom prst="rect">
            <a:avLst/>
          </a:prstGeom>
          <a:noFill/>
          <a:ln/>
        </p:spPr>
        <p:txBody>
          <a:bodyPr wrap="square" lIns="25400" tIns="25400" rIns="25400" bIns="25400" rtlCol="0" anchor="t">
            <a:normAutofit/>
          </a:bodyPr>
          <a:lstStyle/>
          <a:p>
            <a:pPr algn="l" marL="106680" indent="-106680">
              <a:lnSpc>
                <a:spcPct val="73846"/>
              </a:lnSpc>
              <a:buSzPct val="100000"/>
              <a:buChar char="•"/>
            </a:pPr>
            <a:r>
              <a:rPr lang="en-US" sz="1200" b="1" dirty="0">
                <a:solidFill>
                  <a:srgbClr val="0E1A26"/>
                </a:solidFill>
                <a:latin typeface="Khula" pitchFamily="34" charset="0"/>
                <a:ea typeface="Khula" pitchFamily="34" charset="-122"/>
                <a:cs typeface="Khula" pitchFamily="34" charset="-120"/>
              </a:rPr>
              <a:t>Human punch-out points </a:t>
            </a:r>
            <a:pPr algn="l" indent="0" marL="0">
              <a:lnSpc>
                <a:spcPct val="73846"/>
              </a:lnSpc>
              <a:buNone/>
            </a:pPr>
            <a:r>
              <a:rPr lang="en-US" sz="1200" dirty="0">
                <a:solidFill>
                  <a:srgbClr val="0E1A26"/>
                </a:solidFill>
                <a:latin typeface="Khula" pitchFamily="34" charset="0"/>
                <a:ea typeface="Khula" pitchFamily="34" charset="-122"/>
                <a:cs typeface="Khula" pitchFamily="34" charset="-120"/>
              </a:rPr>
              <a:t>— explicitly defined, tested for bypass.</a:t>
            </a:r>
            <a:endParaRPr lang="en-US" sz="1200" dirty="0"/>
          </a:p>
        </p:txBody>
      </p:sp>
      <p:sp>
        <p:nvSpPr>
          <p:cNvPr id="9" name="Text 7"/>
          <p:cNvSpPr/>
          <p:nvPr/>
        </p:nvSpPr>
        <p:spPr>
          <a:xfrm>
            <a:off x="9294495" y="5131147"/>
            <a:ext cx="8520113" cy="220861"/>
          </a:xfrm>
          <a:prstGeom prst="rect">
            <a:avLst/>
          </a:prstGeom>
          <a:noFill/>
          <a:ln/>
        </p:spPr>
        <p:txBody>
          <a:bodyPr wrap="square" lIns="25400" tIns="25400" rIns="25400" bIns="25400" rtlCol="0" anchor="t">
            <a:normAutofit/>
          </a:bodyPr>
          <a:lstStyle/>
          <a:p>
            <a:pPr algn="l" marL="106680" indent="-106680">
              <a:lnSpc>
                <a:spcPct val="73846"/>
              </a:lnSpc>
              <a:buSzPct val="100000"/>
              <a:buChar char="•"/>
            </a:pPr>
            <a:r>
              <a:rPr lang="en-US" sz="1200" b="1" dirty="0">
                <a:solidFill>
                  <a:srgbClr val="0E1A26"/>
                </a:solidFill>
                <a:latin typeface="Khula" pitchFamily="34" charset="0"/>
                <a:ea typeface="Khula" pitchFamily="34" charset="-122"/>
                <a:cs typeface="Khula" pitchFamily="34" charset="-120"/>
              </a:rPr>
              <a:t>End-to-end success rate </a:t>
            </a:r>
            <a:pPr algn="l" indent="0" marL="0">
              <a:lnSpc>
                <a:spcPct val="73846"/>
              </a:lnSpc>
              <a:buNone/>
            </a:pPr>
            <a:r>
              <a:rPr lang="en-US" sz="1200" dirty="0">
                <a:solidFill>
                  <a:srgbClr val="0E1A26"/>
                </a:solidFill>
                <a:latin typeface="Khula" pitchFamily="34" charset="0"/>
                <a:ea typeface="Khula" pitchFamily="34" charset="-122"/>
                <a:cs typeface="Khula" pitchFamily="34" charset="-120"/>
              </a:rPr>
              <a:t>— at 95% per-step, a 20-step pipeline completes correctly only ~36% of the time.</a:t>
            </a:r>
            <a:endParaRPr lang="en-US" sz="1200" dirty="0"/>
          </a:p>
        </p:txBody>
      </p:sp>
      <p:sp>
        <p:nvSpPr>
          <p:cNvPr id="10" name="Text 8"/>
          <p:cNvSpPr/>
          <p:nvPr/>
        </p:nvSpPr>
        <p:spPr>
          <a:xfrm>
            <a:off x="9294495" y="5313908"/>
            <a:ext cx="8520113" cy="220861"/>
          </a:xfrm>
          <a:prstGeom prst="rect">
            <a:avLst/>
          </a:prstGeom>
          <a:noFill/>
          <a:ln/>
        </p:spPr>
        <p:txBody>
          <a:bodyPr wrap="square" lIns="25400" tIns="25400" rIns="25400" bIns="25400" rtlCol="0" anchor="t">
            <a:normAutofit/>
          </a:bodyPr>
          <a:lstStyle/>
          <a:p>
            <a:pPr algn="l" marL="106680" indent="-106680">
              <a:lnSpc>
                <a:spcPct val="73846"/>
              </a:lnSpc>
              <a:buSzPct val="100000"/>
              <a:buChar char="•"/>
            </a:pPr>
            <a:r>
              <a:rPr lang="en-US" sz="1200" b="1" dirty="0">
                <a:solidFill>
                  <a:srgbClr val="0E1A26"/>
                </a:solidFill>
                <a:latin typeface="Khula" pitchFamily="34" charset="0"/>
                <a:ea typeface="Khula" pitchFamily="34" charset="-122"/>
                <a:cs typeface="Khula" pitchFamily="34" charset="-120"/>
              </a:rPr>
              <a:t>Audit trail </a:t>
            </a:r>
            <a:pPr algn="l" indent="0" marL="0">
              <a:lnSpc>
                <a:spcPct val="73846"/>
              </a:lnSpc>
              <a:buNone/>
            </a:pPr>
            <a:r>
              <a:rPr lang="en-US" sz="1200" dirty="0">
                <a:solidFill>
                  <a:srgbClr val="0E1A26"/>
                </a:solidFill>
                <a:latin typeface="Khula" pitchFamily="34" charset="0"/>
                <a:ea typeface="Khula" pitchFamily="34" charset="-122"/>
                <a:cs typeface="Khula" pitchFamily="34" charset="-120"/>
              </a:rPr>
              <a:t>— every failure traceable to its origin step, with per-step model and token/cost data.</a:t>
            </a:r>
            <a:endParaRPr lang="en-US" sz="1200" dirty="0"/>
          </a:p>
        </p:txBody>
      </p:sp>
      <p:sp>
        <p:nvSpPr>
          <p:cNvPr id="11" name="Text 9"/>
          <p:cNvSpPr/>
          <p:nvPr/>
        </p:nvSpPr>
        <p:spPr>
          <a:xfrm>
            <a:off x="9294495" y="5496669"/>
            <a:ext cx="8520113" cy="220861"/>
          </a:xfrm>
          <a:prstGeom prst="rect">
            <a:avLst/>
          </a:prstGeom>
          <a:noFill/>
          <a:ln/>
        </p:spPr>
        <p:txBody>
          <a:bodyPr wrap="square" lIns="25400" tIns="25400" rIns="25400" bIns="25400" rtlCol="0" anchor="t">
            <a:normAutofit/>
          </a:bodyPr>
          <a:lstStyle/>
          <a:p>
            <a:pPr algn="l" marL="106680" indent="-106680">
              <a:lnSpc>
                <a:spcPct val="73846"/>
              </a:lnSpc>
              <a:buSzPct val="100000"/>
              <a:buChar char="•"/>
            </a:pPr>
            <a:r>
              <a:rPr lang="en-US" sz="1200" b="1" dirty="0">
                <a:solidFill>
                  <a:srgbClr val="0E1A26"/>
                </a:solidFill>
                <a:latin typeface="Khula" pitchFamily="34" charset="0"/>
                <a:ea typeface="Khula" pitchFamily="34" charset="-122"/>
                <a:cs typeface="Khula" pitchFamily="34" charset="-120"/>
              </a:rPr>
              <a:t>Team coordination with IT oversight </a:t>
            </a:r>
            <a:pPr algn="l" indent="0" marL="0">
              <a:lnSpc>
                <a:spcPct val="73846"/>
              </a:lnSpc>
              <a:buNone/>
            </a:pPr>
            <a:r>
              <a:rPr lang="en-US" sz="1200" dirty="0">
                <a:solidFill>
                  <a:srgbClr val="0E1A26"/>
                </a:solidFill>
                <a:latin typeface="Khula" pitchFamily="34" charset="0"/>
                <a:ea typeface="Khula" pitchFamily="34" charset="-122"/>
                <a:cs typeface="Khula" pitchFamily="34" charset="-120"/>
              </a:rPr>
              <a:t>— personal agents reconciled into shared workflows.</a:t>
            </a:r>
            <a:endParaRPr lang="en-US" sz="1200" dirty="0"/>
          </a:p>
        </p:txBody>
      </p:sp>
      <p:sp>
        <p:nvSpPr>
          <p:cNvPr id="12" name="Shape 10"/>
          <p:cNvSpPr/>
          <p:nvPr/>
        </p:nvSpPr>
        <p:spPr>
          <a:xfrm>
            <a:off x="1238250" y="5812780"/>
            <a:ext cx="15811500" cy="623590"/>
          </a:xfrm>
          <a:prstGeom prst="roundRect">
            <a:avLst>
              <a:gd name="adj" fmla="val 15274"/>
            </a:avLst>
          </a:prstGeom>
          <a:solidFill>
            <a:srgbClr val="E9F1FA"/>
          </a:solidFill>
          <a:ln w="19050">
            <a:solidFill>
              <a:srgbClr val="005596"/>
            </a:solidFill>
            <a:prstDash val="solid"/>
          </a:ln>
        </p:spPr>
      </p:sp>
      <p:sp>
        <p:nvSpPr>
          <p:cNvPr id="13" name="Text 11"/>
          <p:cNvSpPr/>
          <p:nvPr/>
        </p:nvSpPr>
        <p:spPr>
          <a:xfrm>
            <a:off x="1447800" y="5927080"/>
            <a:ext cx="15854172" cy="433090"/>
          </a:xfrm>
          <a:prstGeom prst="rect">
            <a:avLst/>
          </a:prstGeom>
          <a:noFill/>
          <a:ln/>
        </p:spPr>
        <p:txBody>
          <a:bodyPr wrap="square" lIns="25400" tIns="25400" rIns="25400" bIns="25400" rtlCol="0" anchor="t">
            <a:normAutofit/>
          </a:bodyPr>
          <a:lstStyle/>
          <a:p>
            <a:pPr algn="l" indent="0" marL="0">
              <a:lnSpc>
                <a:spcPct val="76815"/>
              </a:lnSpc>
              <a:buNone/>
            </a:pPr>
            <a:r>
              <a:rPr lang="en-US" sz="1275" b="1" dirty="0">
                <a:solidFill>
                  <a:srgbClr val="0E1A26"/>
                </a:solidFill>
                <a:latin typeface="Khula" pitchFamily="34" charset="0"/>
                <a:ea typeface="Khula" pitchFamily="34" charset="-122"/>
                <a:cs typeface="Khula" pitchFamily="34" charset="-120"/>
              </a:rPr>
              <a:t>The effort scales ~10x, from Stage 3 (~18h) to Stage 4 (~172h). This is not a small step — it is a different kind of work. That's why a future Stage 4 Deep Learning Program — a separate course — covers building the harness, guardrails, punch-out testing, end-to-end success math, audit trails, and IT coordination.</a:t>
            </a:r>
            <a:endParaRPr lang="en-US" sz="1275" dirty="0"/>
          </a:p>
        </p:txBody>
      </p:sp>
      <p:sp>
        <p:nvSpPr>
          <p:cNvPr id="14" name="Shape 12"/>
          <p:cNvSpPr/>
          <p:nvPr/>
        </p:nvSpPr>
        <p:spPr>
          <a:xfrm>
            <a:off x="1238250" y="6569720"/>
            <a:ext cx="15811500" cy="485775"/>
          </a:xfrm>
          <a:prstGeom prst="roundRect">
            <a:avLst>
              <a:gd name="adj" fmla="val 31373"/>
            </a:avLst>
          </a:prstGeom>
          <a:solidFill>
            <a:srgbClr val="005596"/>
          </a:solidFill>
          <a:ln/>
          <a:effectLst>
            <a:outerShdw sx="100000" sy="100000" kx="0" ky="0" algn="bl" rotWithShape="0" blurRad="266700" dist="114300" dir="5400000">
              <a:srgbClr val="005596">
                <a:alpha val="28000"/>
              </a:srgbClr>
            </a:outerShdw>
          </a:effectLst>
        </p:spPr>
      </p:sp>
      <p:sp>
        <p:nvSpPr>
          <p:cNvPr id="15" name="Text 13"/>
          <p:cNvSpPr/>
          <p:nvPr/>
        </p:nvSpPr>
        <p:spPr>
          <a:xfrm>
            <a:off x="1466850" y="6684020"/>
            <a:ext cx="16889730" cy="295275"/>
          </a:xfrm>
          <a:prstGeom prst="rect">
            <a:avLst/>
          </a:prstGeom>
          <a:noFill/>
          <a:ln/>
        </p:spPr>
        <p:txBody>
          <a:bodyPr wrap="square" lIns="25400" tIns="25400" rIns="25400" bIns="25400" rtlCol="0" anchor="t">
            <a:normAutofit/>
          </a:bodyPr>
          <a:lstStyle/>
          <a:p>
            <a:pPr algn="l" indent="0" marL="0">
              <a:lnSpc>
                <a:spcPct val="93103"/>
              </a:lnSpc>
              <a:buNone/>
            </a:pPr>
            <a:r>
              <a:rPr lang="en-US" sz="1350" b="1" dirty="0">
                <a:solidFill>
                  <a:srgbClr val="FFFFFF"/>
                </a:solidFill>
                <a:latin typeface="Khula" pitchFamily="34" charset="0"/>
                <a:ea typeface="Khula" pitchFamily="34" charset="-122"/>
                <a:cs typeface="Khula" pitchFamily="34" charset="-120"/>
              </a:rPr>
              <a:t>The key takeaway: you leave this program at Stage 3. That is a real, significant achievement. Stage 4 is the next horizon, not the next session.</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329607"/>
            <a:ext cx="3265289" cy="533400"/>
          </a:xfrm>
          <a:prstGeom prst="roundRect">
            <a:avLst>
              <a:gd name="adj" fmla="val 50000"/>
            </a:avLst>
          </a:prstGeom>
          <a:solidFill>
            <a:srgbClr val="005596"/>
          </a:solidFill>
          <a:ln/>
        </p:spPr>
      </p:sp>
      <p:sp>
        <p:nvSpPr>
          <p:cNvPr id="3" name="Text 1"/>
          <p:cNvSpPr/>
          <p:nvPr/>
        </p:nvSpPr>
        <p:spPr>
          <a:xfrm>
            <a:off x="1485900" y="2424857"/>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110657"/>
            <a:ext cx="17392650" cy="540990"/>
          </a:xfrm>
          <a:prstGeom prst="rect">
            <a:avLst/>
          </a:prstGeom>
          <a:noFill/>
          <a:ln/>
        </p:spPr>
        <p:txBody>
          <a:bodyPr wrap="square" lIns="25400" tIns="25400" rIns="25400" bIns="25400" rtlCol="0" anchor="t">
            <a:normAutofit/>
          </a:bodyPr>
          <a:lstStyle/>
          <a:p>
            <a:pPr algn="l" indent="0" marL="0">
              <a:lnSpc>
                <a:spcPct val="81231"/>
              </a:lnSpc>
              <a:buNone/>
            </a:pPr>
            <a:r>
              <a:rPr lang="en-US" sz="3300" b="1" spc="-66" kern="0" dirty="0">
                <a:solidFill>
                  <a:srgbClr val="005596"/>
                </a:solidFill>
                <a:latin typeface="Poppins" pitchFamily="34" charset="0"/>
                <a:ea typeface="Poppins" pitchFamily="34" charset="-122"/>
                <a:cs typeface="Poppins" pitchFamily="34" charset="-120"/>
              </a:rPr>
              <a:t>Capstone: Artifact Showcase</a:t>
            </a:r>
            <a:endParaRPr lang="en-US" sz="3300" dirty="0"/>
          </a:p>
        </p:txBody>
      </p:sp>
      <p:sp>
        <p:nvSpPr>
          <p:cNvPr id="5" name="Text 3"/>
          <p:cNvSpPr/>
          <p:nvPr/>
        </p:nvSpPr>
        <p:spPr>
          <a:xfrm>
            <a:off x="1238250" y="3861197"/>
            <a:ext cx="17392650" cy="333821"/>
          </a:xfrm>
          <a:prstGeom prst="rect">
            <a:avLst/>
          </a:prstGeom>
          <a:noFill/>
          <a:ln/>
        </p:spPr>
        <p:txBody>
          <a:bodyPr wrap="square" lIns="25400" tIns="25400" rIns="25400" bIns="25400" rtlCol="0" anchor="t">
            <a:normAutofit/>
          </a:bodyPr>
          <a:lstStyle/>
          <a:p>
            <a:pPr algn="l" indent="0" marL="0">
              <a:lnSpc>
                <a:spcPct val="83919"/>
              </a:lnSpc>
              <a:buNone/>
            </a:pPr>
            <a:r>
              <a:rPr lang="en-US" sz="1725" dirty="0">
                <a:solidFill>
                  <a:srgbClr val="0E1A26"/>
                </a:solidFill>
                <a:latin typeface="Khula" pitchFamily="34" charset="0"/>
                <a:ea typeface="Khula" pitchFamily="34" charset="-122"/>
                <a:cs typeface="Khula" pitchFamily="34" charset="-120"/>
              </a:rPr>
              <a:t>In pairs, each participant presents three things to their partner:</a:t>
            </a:r>
            <a:endParaRPr lang="en-US" sz="1725" dirty="0"/>
          </a:p>
        </p:txBody>
      </p:sp>
      <p:sp>
        <p:nvSpPr>
          <p:cNvPr id="6" name="Shape 4"/>
          <p:cNvSpPr/>
          <p:nvPr/>
        </p:nvSpPr>
        <p:spPr>
          <a:xfrm>
            <a:off x="1238250" y="4404568"/>
            <a:ext cx="15811500" cy="609600"/>
          </a:xfrm>
          <a:prstGeom prst="roundRect">
            <a:avLst>
              <a:gd name="adj" fmla="val 15625"/>
            </a:avLst>
          </a:prstGeom>
          <a:solidFill>
            <a:srgbClr val="F4F7FA"/>
          </a:solidFill>
          <a:ln/>
        </p:spPr>
      </p:sp>
      <p:sp>
        <p:nvSpPr>
          <p:cNvPr id="7" name="Text 5"/>
          <p:cNvSpPr/>
          <p:nvPr/>
        </p:nvSpPr>
        <p:spPr>
          <a:xfrm>
            <a:off x="1466850" y="4537918"/>
            <a:ext cx="15828645" cy="381000"/>
          </a:xfrm>
          <a:prstGeom prst="rect">
            <a:avLst/>
          </a:prstGeom>
          <a:noFill/>
          <a:ln/>
        </p:spPr>
        <p:txBody>
          <a:bodyPr wrap="square" lIns="25400" tIns="25400" rIns="25400" bIns="25400" rtlCol="0" anchor="t">
            <a:normAutofit/>
          </a:bodyPr>
          <a:lstStyle/>
          <a:p>
            <a:pPr algn="l" indent="0" marL="0">
              <a:lnSpc>
                <a:spcPct val="92308"/>
              </a:lnSpc>
              <a:buNone/>
            </a:pPr>
            <a:r>
              <a:rPr lang="en-US" sz="1650" b="1" dirty="0">
                <a:solidFill>
                  <a:srgbClr val="005596"/>
                </a:solidFill>
                <a:latin typeface="Poppins" pitchFamily="34" charset="0"/>
                <a:ea typeface="Poppins" pitchFamily="34" charset="-122"/>
                <a:cs typeface="Poppins" pitchFamily="34" charset="-120"/>
              </a:rPr>
              <a:t>1. Their most-used skill — </a:t>
            </a:r>
            <a:pPr algn="l" indent="0" marL="0">
              <a:lnSpc>
                <a:spcPct val="92308"/>
              </a:lnSpc>
              <a:buNone/>
            </a:pPr>
            <a:r>
              <a:rPr lang="en-US" sz="1650" dirty="0">
                <a:solidFill>
                  <a:srgbClr val="0E1A26"/>
                </a:solidFill>
                <a:latin typeface="Khula" pitchFamily="34" charset="0"/>
                <a:ea typeface="Khula" pitchFamily="34" charset="-122"/>
                <a:cs typeface="Khula" pitchFamily="34" charset="-120"/>
              </a:rPr>
              <a:t>what it does, how it's structured using RTCC, what the Python evaluator showed, one improvement cycle they documented.</a:t>
            </a:r>
            <a:endParaRPr lang="en-US" sz="1200" dirty="0"/>
          </a:p>
        </p:txBody>
      </p:sp>
      <p:sp>
        <p:nvSpPr>
          <p:cNvPr id="8" name="Shape 6"/>
          <p:cNvSpPr/>
          <p:nvPr/>
        </p:nvSpPr>
        <p:spPr>
          <a:xfrm>
            <a:off x="1238250" y="5109418"/>
            <a:ext cx="15811500" cy="609600"/>
          </a:xfrm>
          <a:prstGeom prst="roundRect">
            <a:avLst>
              <a:gd name="adj" fmla="val 15625"/>
            </a:avLst>
          </a:prstGeom>
          <a:solidFill>
            <a:srgbClr val="F4F7FA"/>
          </a:solidFill>
          <a:ln/>
        </p:spPr>
      </p:sp>
      <p:sp>
        <p:nvSpPr>
          <p:cNvPr id="9" name="Text 7"/>
          <p:cNvSpPr/>
          <p:nvPr/>
        </p:nvSpPr>
        <p:spPr>
          <a:xfrm>
            <a:off x="1466850" y="5242768"/>
            <a:ext cx="15828645" cy="381000"/>
          </a:xfrm>
          <a:prstGeom prst="rect">
            <a:avLst/>
          </a:prstGeom>
          <a:noFill/>
          <a:ln/>
        </p:spPr>
        <p:txBody>
          <a:bodyPr wrap="square" lIns="25400" tIns="25400" rIns="25400" bIns="25400" rtlCol="0" anchor="t">
            <a:normAutofit/>
          </a:bodyPr>
          <a:lstStyle/>
          <a:p>
            <a:pPr algn="l" indent="0" marL="0">
              <a:lnSpc>
                <a:spcPct val="92308"/>
              </a:lnSpc>
              <a:buNone/>
            </a:pPr>
            <a:r>
              <a:rPr lang="en-US" sz="1650" b="1" dirty="0">
                <a:solidFill>
                  <a:srgbClr val="005596"/>
                </a:solidFill>
                <a:latin typeface="Poppins" pitchFamily="34" charset="0"/>
                <a:ea typeface="Poppins" pitchFamily="34" charset="-122"/>
                <a:cs typeface="Poppins" pitchFamily="34" charset="-120"/>
              </a:rPr>
              <a:t>2. Their evaluator — </a:t>
            </a:r>
            <a:pPr algn="l" indent="0" marL="0">
              <a:lnSpc>
                <a:spcPct val="92308"/>
              </a:lnSpc>
              <a:buNone/>
            </a:pPr>
            <a:r>
              <a:rPr lang="en-US" sz="1650" dirty="0">
                <a:solidFill>
                  <a:srgbClr val="0E1A26"/>
                </a:solidFill>
                <a:latin typeface="Khula" pitchFamily="34" charset="0"/>
                <a:ea typeface="Khula" pitchFamily="34" charset="-122"/>
                <a:cs typeface="Khula" pitchFamily="34" charset="-120"/>
              </a:rPr>
              <a:t>what the EC are, how many iterations it's tracked, one thing they learned from the scores that surprised them.</a:t>
            </a:r>
            <a:endParaRPr lang="en-US" sz="1200" dirty="0"/>
          </a:p>
        </p:txBody>
      </p:sp>
      <p:sp>
        <p:nvSpPr>
          <p:cNvPr id="10" name="Shape 8"/>
          <p:cNvSpPr/>
          <p:nvPr/>
        </p:nvSpPr>
        <p:spPr>
          <a:xfrm>
            <a:off x="1238250" y="5814268"/>
            <a:ext cx="15811500" cy="923925"/>
          </a:xfrm>
          <a:prstGeom prst="roundRect">
            <a:avLst>
              <a:gd name="adj" fmla="val 10309"/>
            </a:avLst>
          </a:prstGeom>
          <a:solidFill>
            <a:srgbClr val="F4F7FA"/>
          </a:solidFill>
          <a:ln/>
        </p:spPr>
      </p:sp>
      <p:sp>
        <p:nvSpPr>
          <p:cNvPr id="11" name="Text 9"/>
          <p:cNvSpPr/>
          <p:nvPr/>
        </p:nvSpPr>
        <p:spPr>
          <a:xfrm>
            <a:off x="1466850" y="5947618"/>
            <a:ext cx="15828645" cy="695325"/>
          </a:xfrm>
          <a:prstGeom prst="rect">
            <a:avLst/>
          </a:prstGeom>
          <a:noFill/>
          <a:ln/>
        </p:spPr>
        <p:txBody>
          <a:bodyPr wrap="square" lIns="25400" tIns="25400" rIns="25400" bIns="25400" rtlCol="0" anchor="t">
            <a:normAutofit/>
          </a:bodyPr>
          <a:lstStyle/>
          <a:p>
            <a:pPr algn="l" indent="0" marL="0">
              <a:lnSpc>
                <a:spcPct val="92308"/>
              </a:lnSpc>
              <a:buNone/>
            </a:pPr>
            <a:r>
              <a:rPr lang="en-US" sz="1650" b="1" dirty="0">
                <a:solidFill>
                  <a:srgbClr val="005596"/>
                </a:solidFill>
                <a:latin typeface="Poppins" pitchFamily="34" charset="0"/>
                <a:ea typeface="Poppins" pitchFamily="34" charset="-122"/>
                <a:cs typeface="Poppins" pitchFamily="34" charset="-120"/>
              </a:rPr>
              <a:t>3. One skill with model invocation, an adversarial agent, or their bounded agent run — </a:t>
            </a:r>
            <a:pPr algn="l" indent="0" marL="0">
              <a:lnSpc>
                <a:spcPct val="92308"/>
              </a:lnSpc>
              <a:buNone/>
            </a:pPr>
            <a:r>
              <a:rPr lang="en-US" sz="1650" dirty="0">
                <a:solidFill>
                  <a:srgbClr val="0E1A26"/>
                </a:solidFill>
                <a:latin typeface="Khula" pitchFamily="34" charset="0"/>
                <a:ea typeface="Khula" pitchFamily="34" charset="-122"/>
                <a:cs typeface="Khula" pitchFamily="34" charset="-120"/>
              </a:rPr>
              <a:t>what it does, its invocation boundary or scope, where context window constraints showed up.</a:t>
            </a:r>
            <a:endParaRPr lang="en-US" sz="1200" dirty="0"/>
          </a:p>
        </p:txBody>
      </p:sp>
      <p:sp>
        <p:nvSpPr>
          <p:cNvPr id="12" name="Shape 10"/>
          <p:cNvSpPr/>
          <p:nvPr/>
        </p:nvSpPr>
        <p:spPr>
          <a:xfrm>
            <a:off x="1238250" y="6985843"/>
            <a:ext cx="15811500" cy="971550"/>
          </a:xfrm>
          <a:prstGeom prst="roundRect">
            <a:avLst>
              <a:gd name="adj" fmla="val 15686"/>
            </a:avLst>
          </a:prstGeom>
          <a:solidFill>
            <a:srgbClr val="005596"/>
          </a:solidFill>
          <a:ln/>
          <a:effectLst>
            <a:outerShdw sx="100000" sy="100000" kx="0" ky="0" algn="bl" rotWithShape="0" blurRad="266700" dist="114300" dir="5400000">
              <a:srgbClr val="005596">
                <a:alpha val="28000"/>
              </a:srgbClr>
            </a:outerShdw>
          </a:effectLst>
        </p:spPr>
      </p:sp>
      <p:sp>
        <p:nvSpPr>
          <p:cNvPr id="13" name="Text 11"/>
          <p:cNvSpPr/>
          <p:nvPr/>
        </p:nvSpPr>
        <p:spPr>
          <a:xfrm>
            <a:off x="1524000" y="7157293"/>
            <a:ext cx="15697200" cy="666750"/>
          </a:xfrm>
          <a:prstGeom prst="rect">
            <a:avLst/>
          </a:prstGeom>
          <a:noFill/>
          <a:ln/>
        </p:spPr>
        <p:txBody>
          <a:bodyPr wrap="square" lIns="25400" tIns="25400" rIns="25400" bIns="25400" rtlCol="0" anchor="t">
            <a:normAutofit/>
          </a:bodyPr>
          <a:lstStyle/>
          <a:p>
            <a:pPr algn="l" indent="0" marL="0">
              <a:lnSpc>
                <a:spcPct val="94286"/>
              </a:lnSpc>
              <a:buNone/>
            </a:pPr>
            <a:r>
              <a:rPr lang="en-US" sz="1650" b="1" dirty="0">
                <a:solidFill>
                  <a:srgbClr val="FFFFFF"/>
                </a:solidFill>
                <a:latin typeface="Khula" pitchFamily="34" charset="0"/>
                <a:ea typeface="Khula" pitchFamily="34" charset="-122"/>
                <a:cs typeface="Khula" pitchFamily="34" charset="-120"/>
              </a:rPr>
              <a:t>Partners ask one question each: "What would you do differently if you started this over?" This is peer learning, not a formal presentation — if you can't explain what you built and why it's better, you don't own it yet.</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666750"/>
            <a:ext cx="3368873" cy="533400"/>
          </a:xfrm>
          <a:prstGeom prst="roundRect">
            <a:avLst>
              <a:gd name="adj" fmla="val 50000"/>
            </a:avLst>
          </a:prstGeom>
          <a:solidFill>
            <a:srgbClr val="F5BB41"/>
          </a:solidFill>
          <a:ln/>
        </p:spPr>
      </p:sp>
      <p:sp>
        <p:nvSpPr>
          <p:cNvPr id="3" name="Text 1"/>
          <p:cNvSpPr/>
          <p:nvPr/>
        </p:nvSpPr>
        <p:spPr>
          <a:xfrm>
            <a:off x="1485900" y="762000"/>
            <a:ext cx="297464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0E1A26"/>
                </a:solidFill>
                <a:latin typeface="Poppins" pitchFamily="34" charset="0"/>
                <a:ea typeface="Poppins" pitchFamily="34" charset="-122"/>
                <a:cs typeface="Poppins" pitchFamily="34" charset="-120"/>
              </a:rPr>
              <a:t>SLIDE TYPE — EXERCISE</a:t>
            </a:r>
            <a:endParaRPr lang="en-US" sz="1800" dirty="0"/>
          </a:p>
        </p:txBody>
      </p:sp>
      <p:sp>
        <p:nvSpPr>
          <p:cNvPr id="4" name="Text 2"/>
          <p:cNvSpPr/>
          <p:nvPr/>
        </p:nvSpPr>
        <p:spPr>
          <a:xfrm>
            <a:off x="1238250" y="1466850"/>
            <a:ext cx="8326338" cy="476250"/>
          </a:xfrm>
          <a:prstGeom prst="rect">
            <a:avLst/>
          </a:prstGeom>
          <a:noFill/>
          <a:ln/>
        </p:spPr>
        <p:txBody>
          <a:bodyPr wrap="square" lIns="25400" tIns="25400" rIns="25400" bIns="25400" rtlCol="0" anchor="t">
            <a:normAutofit/>
          </a:bodyPr>
          <a:lstStyle/>
          <a:p>
            <a:pPr algn="l" indent="0" marL="0">
              <a:lnSpc>
                <a:spcPct val="76667"/>
              </a:lnSpc>
              <a:buNone/>
            </a:pPr>
            <a:r>
              <a:rPr lang="en-US" sz="3000" b="1" spc="-60" kern="0" dirty="0">
                <a:solidFill>
                  <a:srgbClr val="005596"/>
                </a:solidFill>
                <a:latin typeface="Poppins" pitchFamily="34" charset="0"/>
                <a:ea typeface="Poppins" pitchFamily="34" charset="-122"/>
                <a:cs typeface="Poppins" pitchFamily="34" charset="-120"/>
              </a:rPr>
              <a:t>Capstone Artifact Showcase (Peer Pairs)</a:t>
            </a:r>
            <a:endParaRPr lang="en-US" sz="3000" dirty="0"/>
          </a:p>
        </p:txBody>
      </p:sp>
      <p:sp>
        <p:nvSpPr>
          <p:cNvPr id="5" name="Shape 3"/>
          <p:cNvSpPr/>
          <p:nvPr/>
        </p:nvSpPr>
        <p:spPr>
          <a:xfrm>
            <a:off x="14817179" y="1371600"/>
            <a:ext cx="2232571" cy="533400"/>
          </a:xfrm>
          <a:prstGeom prst="roundRect">
            <a:avLst>
              <a:gd name="adj" fmla="val 50000"/>
            </a:avLst>
          </a:prstGeom>
          <a:solidFill>
            <a:srgbClr val="005596"/>
          </a:solidFill>
          <a:ln/>
        </p:spPr>
      </p:sp>
      <p:sp>
        <p:nvSpPr>
          <p:cNvPr id="6" name="Text 4"/>
          <p:cNvSpPr/>
          <p:nvPr/>
        </p:nvSpPr>
        <p:spPr>
          <a:xfrm>
            <a:off x="15064829" y="1466850"/>
            <a:ext cx="1813471"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 30 MINUTES</a:t>
            </a:r>
            <a:endParaRPr lang="en-US" sz="1800" dirty="0"/>
          </a:p>
        </p:txBody>
      </p:sp>
      <p:sp>
        <p:nvSpPr>
          <p:cNvPr id="7" name="Text 5"/>
          <p:cNvSpPr/>
          <p:nvPr/>
        </p:nvSpPr>
        <p:spPr>
          <a:xfrm>
            <a:off x="1181100" y="2076450"/>
            <a:ext cx="15944850" cy="1848148"/>
          </a:xfrm>
          <a:prstGeom prst="rect">
            <a:avLst/>
          </a:prstGeom>
          <a:noFill/>
          <a:ln/>
        </p:spPr>
        <p:txBody>
          <a:bodyPr wrap="square" lIns="25400" tIns="25400" rIns="25400" bIns="25400" rtlCol="0" anchor="t">
            <a:normAutofit/>
          </a:bodyPr>
          <a:lstStyle/>
          <a:p>
            <a:pPr algn="l" marL="342900" indent="-342900">
              <a:lnSpc>
                <a:spcPct val="81231"/>
              </a:lnSpc>
              <a:buSzPct val="100000"/>
              <a:buFont typeface="+mj-lt"/>
              <a:buAutoNum type="arabicPeriod" startAt="1"/>
              <a:tabLst>
                <a:tab pos="342900" algn="l"/>
              </a:tabLst>
            </a:pPr>
            <a:r>
              <a:rPr lang="en-US" sz="1800" dirty="0">
                <a:solidFill>
                  <a:srgbClr val="0E1A26"/>
                </a:solidFill>
                <a:latin typeface="Khula" pitchFamily="34" charset="0"/>
                <a:ea typeface="Khula" pitchFamily="34" charset="-122"/>
                <a:cs typeface="Khula" pitchFamily="34" charset="-120"/>
              </a:rPr>
              <a:t>Pair up with another participant</a:t>
            </a:r>
            <a:endParaRPr lang="en-US" sz="1800" dirty="0"/>
          </a:p>
          <a:p>
            <a:pPr algn="l" marL="342900" indent="-342900">
              <a:lnSpc>
                <a:spcPct val="81231"/>
              </a:lnSpc>
              <a:buSzPct val="100000"/>
              <a:buFont typeface="+mj-lt"/>
              <a:buAutoNum type="arabicPeriod" startAt="2"/>
              <a:tabLst>
                <a:tab pos="342900" algn="l"/>
              </a:tabLst>
            </a:pPr>
            <a:r>
              <a:rPr lang="en-US" sz="1800" dirty="0">
                <a:solidFill>
                  <a:srgbClr val="0E1A26"/>
                </a:solidFill>
                <a:latin typeface="Khula" pitchFamily="34" charset="0"/>
                <a:ea typeface="Khula" pitchFamily="34" charset="-122"/>
                <a:cs typeface="Khula" pitchFamily="34" charset="-120"/>
              </a:rPr>
              <a:t>Present your most-used skill: RTCC structure, Python evaluator, one improvement cycle</a:t>
            </a:r>
            <a:endParaRPr lang="en-US" sz="1800" dirty="0"/>
          </a:p>
          <a:p>
            <a:pPr algn="l" marL="342900" indent="-342900">
              <a:lnSpc>
                <a:spcPct val="81231"/>
              </a:lnSpc>
              <a:buSzPct val="100000"/>
              <a:buFont typeface="+mj-lt"/>
              <a:buAutoNum type="arabicPeriod" startAt="3"/>
              <a:tabLst>
                <a:tab pos="342900" algn="l"/>
              </a:tabLst>
            </a:pPr>
            <a:r>
              <a:rPr lang="en-US" sz="1800" dirty="0">
                <a:solidFill>
                  <a:srgbClr val="0E1A26"/>
                </a:solidFill>
                <a:latin typeface="Khula" pitchFamily="34" charset="0"/>
                <a:ea typeface="Khula" pitchFamily="34" charset="-122"/>
                <a:cs typeface="Khula" pitchFamily="34" charset="-120"/>
              </a:rPr>
              <a:t>Present your evaluator: EC, iteration count, one surprising finding from the scores</a:t>
            </a:r>
            <a:endParaRPr lang="en-US" sz="1800" dirty="0"/>
          </a:p>
          <a:p>
            <a:pPr algn="l" marL="342900" indent="-342900">
              <a:lnSpc>
                <a:spcPct val="81231"/>
              </a:lnSpc>
              <a:buSzPct val="100000"/>
              <a:buFont typeface="+mj-lt"/>
              <a:buAutoNum type="arabicPeriod" startAt="4"/>
              <a:tabLst>
                <a:tab pos="342900" algn="l"/>
              </a:tabLst>
            </a:pPr>
            <a:r>
              <a:rPr lang="en-US" sz="1800" dirty="0">
                <a:solidFill>
                  <a:srgbClr val="0E1A26"/>
                </a:solidFill>
                <a:latin typeface="Khula" pitchFamily="34" charset="0"/>
                <a:ea typeface="Khula" pitchFamily="34" charset="-122"/>
                <a:cs typeface="Khula" pitchFamily="34" charset="-120"/>
              </a:rPr>
              <a:t>Present one of: a skill with model invocation enabled, an adversarial agent, or your bounded agent run</a:t>
            </a:r>
            <a:endParaRPr lang="en-US" sz="1800" dirty="0"/>
          </a:p>
          <a:p>
            <a:pPr algn="l" marL="342900" indent="-342900">
              <a:lnSpc>
                <a:spcPct val="81231"/>
              </a:lnSpc>
              <a:buSzPct val="100000"/>
              <a:buFont typeface="+mj-lt"/>
              <a:buAutoNum type="arabicPeriod" startAt="5"/>
              <a:tabLst>
                <a:tab pos="342900" algn="l"/>
              </a:tabLst>
            </a:pPr>
            <a:r>
              <a:rPr lang="en-US" sz="1800" dirty="0">
                <a:solidFill>
                  <a:srgbClr val="0E1A26"/>
                </a:solidFill>
                <a:latin typeface="Khula" pitchFamily="34" charset="0"/>
                <a:ea typeface="Khula" pitchFamily="34" charset="-122"/>
                <a:cs typeface="Khula" pitchFamily="34" charset="-120"/>
              </a:rPr>
              <a:t>Your partner asks: "What would you do differently if you started this over?"</a:t>
            </a:r>
            <a:endParaRPr lang="en-US" sz="1800" dirty="0"/>
          </a:p>
          <a:p>
            <a:pPr algn="l" marL="342900" indent="-342900">
              <a:lnSpc>
                <a:spcPct val="81231"/>
              </a:lnSpc>
              <a:buSzPct val="100000"/>
              <a:buFont typeface="+mj-lt"/>
              <a:buAutoNum type="arabicPeriod" startAt="6"/>
              <a:tabLst>
                <a:tab pos="342900" algn="l"/>
              </a:tabLst>
            </a:pPr>
            <a:r>
              <a:rPr lang="en-US" sz="1800" dirty="0">
                <a:solidFill>
                  <a:srgbClr val="0E1A26"/>
                </a:solidFill>
                <a:latin typeface="Khula" pitchFamily="34" charset="0"/>
                <a:ea typeface="Khula" pitchFamily="34" charset="-122"/>
                <a:cs typeface="Khula" pitchFamily="34" charset="-120"/>
              </a:rPr>
              <a:t>Switch roles</a:t>
            </a:r>
            <a:endParaRPr lang="en-US" sz="1800" dirty="0"/>
          </a:p>
        </p:txBody>
      </p:sp>
      <p:sp>
        <p:nvSpPr>
          <p:cNvPr id="8" name="Shape 6"/>
          <p:cNvSpPr/>
          <p:nvPr/>
        </p:nvSpPr>
        <p:spPr>
          <a:xfrm>
            <a:off x="1238250" y="4057948"/>
            <a:ext cx="15811500" cy="1543050"/>
          </a:xfrm>
          <a:prstGeom prst="roundRect">
            <a:avLst>
              <a:gd name="adj" fmla="val 9877"/>
            </a:avLst>
          </a:prstGeom>
          <a:solidFill>
            <a:srgbClr val="005596"/>
          </a:solidFill>
          <a:ln/>
          <a:effectLst>
            <a:outerShdw sx="100000" sy="100000" kx="0" ky="0" algn="bl" rotWithShape="0" blurRad="266700" dist="114300" dir="5400000">
              <a:srgbClr val="005596">
                <a:alpha val="28000"/>
              </a:srgbClr>
            </a:outerShdw>
          </a:effectLst>
        </p:spPr>
      </p:sp>
      <p:sp>
        <p:nvSpPr>
          <p:cNvPr id="9" name="Text 7"/>
          <p:cNvSpPr/>
          <p:nvPr/>
        </p:nvSpPr>
        <p:spPr>
          <a:xfrm>
            <a:off x="1543050" y="4229398"/>
            <a:ext cx="16722090" cy="381000"/>
          </a:xfrm>
          <a:prstGeom prst="rect">
            <a:avLst/>
          </a:prstGeom>
          <a:noFill/>
          <a:ln/>
        </p:spPr>
        <p:txBody>
          <a:bodyPr wrap="square" lIns="25400" tIns="25400" rIns="25400" bIns="25400" rtlCol="0" anchor="t">
            <a:normAutofit/>
          </a:bodyPr>
          <a:lstStyle/>
          <a:p>
            <a:pPr algn="l" indent="0" marL="0">
              <a:lnSpc>
                <a:spcPct val="102857"/>
              </a:lnSpc>
              <a:buNone/>
            </a:pPr>
            <a:r>
              <a:rPr lang="en-US" sz="1800" b="1" spc="108" kern="0" dirty="0">
                <a:solidFill>
                  <a:srgbClr val="F5BB41"/>
                </a:solidFill>
                <a:latin typeface="Poppins" pitchFamily="34" charset="0"/>
                <a:ea typeface="Poppins" pitchFamily="34" charset="-122"/>
                <a:cs typeface="Poppins" pitchFamily="34" charset="-120"/>
              </a:rPr>
              <a:t>YOU'LL KNOW WHEN YOU'RE DONE BECAUSE…</a:t>
            </a:r>
            <a:endParaRPr lang="en-US" sz="1800" dirty="0"/>
          </a:p>
        </p:txBody>
      </p:sp>
      <p:sp>
        <p:nvSpPr>
          <p:cNvPr id="10" name="Text 8"/>
          <p:cNvSpPr/>
          <p:nvPr/>
        </p:nvSpPr>
        <p:spPr>
          <a:xfrm>
            <a:off x="1543050" y="4629448"/>
            <a:ext cx="15657957" cy="609600"/>
          </a:xfrm>
          <a:prstGeom prst="rect">
            <a:avLst/>
          </a:prstGeom>
          <a:noFill/>
          <a:ln/>
        </p:spPr>
        <p:txBody>
          <a:bodyPr wrap="square" lIns="25400" tIns="25400" rIns="25400" bIns="25400" rtlCol="0" anchor="t">
            <a:normAutofit/>
          </a:bodyPr>
          <a:lstStyle/>
          <a:p>
            <a:pPr algn="l" indent="0" marL="0">
              <a:lnSpc>
                <a:spcPct val="76923"/>
              </a:lnSpc>
              <a:buNone/>
            </a:pPr>
            <a:r>
              <a:rPr lang="en-US" sz="1800" dirty="0">
                <a:solidFill>
                  <a:srgbClr val="FFFFFF"/>
                </a:solidFill>
                <a:latin typeface="Khula" pitchFamily="34" charset="0"/>
                <a:ea typeface="Khula" pitchFamily="34" charset="-122"/>
                <a:cs typeface="Khula" pitchFamily="34" charset="-120"/>
              </a:rPr>
              <a:t>You've presented your work to a peer with discipline framing (not just "it generates X" but "I iterated it N times and the evaluator showed…"), and you've heard your partner's presentation and asked them the question.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238250" y="2349996"/>
            <a:ext cx="3265289" cy="533400"/>
          </a:xfrm>
          <a:prstGeom prst="roundRect">
            <a:avLst>
              <a:gd name="adj" fmla="val 50000"/>
            </a:avLst>
          </a:prstGeom>
          <a:solidFill>
            <a:srgbClr val="005596"/>
          </a:solidFill>
          <a:ln/>
        </p:spPr>
      </p:sp>
      <p:sp>
        <p:nvSpPr>
          <p:cNvPr id="3" name="Text 1"/>
          <p:cNvSpPr/>
          <p:nvPr/>
        </p:nvSpPr>
        <p:spPr>
          <a:xfrm>
            <a:off x="1485900" y="2445246"/>
            <a:ext cx="2867948"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LECTURE</a:t>
            </a:r>
            <a:endParaRPr lang="en-US" sz="1800" dirty="0"/>
          </a:p>
        </p:txBody>
      </p:sp>
      <p:sp>
        <p:nvSpPr>
          <p:cNvPr id="4" name="Text 2"/>
          <p:cNvSpPr/>
          <p:nvPr/>
        </p:nvSpPr>
        <p:spPr>
          <a:xfrm>
            <a:off x="1238250" y="3131046"/>
            <a:ext cx="17392650" cy="518071"/>
          </a:xfrm>
          <a:prstGeom prst="rect">
            <a:avLst/>
          </a:prstGeom>
          <a:noFill/>
          <a:ln/>
        </p:spPr>
        <p:txBody>
          <a:bodyPr wrap="square" lIns="25400" tIns="25400" rIns="25400" bIns="25400" rtlCol="0" anchor="t">
            <a:normAutofit/>
          </a:bodyPr>
          <a:lstStyle/>
          <a:p>
            <a:pPr algn="l" indent="0" marL="0">
              <a:lnSpc>
                <a:spcPct val="80000"/>
              </a:lnSpc>
              <a:buNone/>
            </a:pPr>
            <a:r>
              <a:rPr lang="en-US" sz="3150" b="1" spc="-63" kern="0" dirty="0">
                <a:solidFill>
                  <a:srgbClr val="005596"/>
                </a:solidFill>
                <a:latin typeface="Poppins" pitchFamily="34" charset="0"/>
                <a:ea typeface="Poppins" pitchFamily="34" charset="-122"/>
                <a:cs typeface="Poppins" pitchFamily="34" charset="-120"/>
              </a:rPr>
              <a:t>Final Assessment + Commitment Statements</a:t>
            </a:r>
            <a:endParaRPr lang="en-US" sz="3150" dirty="0"/>
          </a:p>
        </p:txBody>
      </p:sp>
      <p:sp>
        <p:nvSpPr>
          <p:cNvPr id="5" name="Shape 3"/>
          <p:cNvSpPr/>
          <p:nvPr/>
        </p:nvSpPr>
        <p:spPr>
          <a:xfrm>
            <a:off x="1238250" y="3858667"/>
            <a:ext cx="15811500" cy="1324570"/>
          </a:xfrm>
          <a:prstGeom prst="roundRect">
            <a:avLst>
              <a:gd name="adj" fmla="val 11506"/>
            </a:avLst>
          </a:prstGeom>
          <a:solidFill>
            <a:srgbClr val="F4F7FA"/>
          </a:solidFill>
          <a:ln/>
        </p:spPr>
      </p:sp>
      <p:sp>
        <p:nvSpPr>
          <p:cNvPr id="6" name="Text 4"/>
          <p:cNvSpPr/>
          <p:nvPr/>
        </p:nvSpPr>
        <p:spPr>
          <a:xfrm>
            <a:off x="1504950" y="4049167"/>
            <a:ext cx="16805910" cy="352425"/>
          </a:xfrm>
          <a:prstGeom prst="rect">
            <a:avLst/>
          </a:prstGeom>
          <a:noFill/>
          <a:ln/>
        </p:spPr>
        <p:txBody>
          <a:bodyPr wrap="square" lIns="25400" tIns="25400" rIns="25400" bIns="25400" rtlCol="0" anchor="t">
            <a:normAutofit/>
          </a:bodyPr>
          <a:lstStyle/>
          <a:p>
            <a:pPr algn="l" indent="0" marL="0">
              <a:lnSpc>
                <a:spcPct val="100000"/>
              </a:lnSpc>
              <a:buNone/>
            </a:pPr>
            <a:r>
              <a:rPr lang="en-US" sz="1650" b="1" spc="83" kern="0" dirty="0">
                <a:solidFill>
                  <a:srgbClr val="005596"/>
                </a:solidFill>
                <a:latin typeface="Poppins" pitchFamily="34" charset="0"/>
                <a:ea typeface="Poppins" pitchFamily="34" charset="-122"/>
                <a:cs typeface="Poppins" pitchFamily="34" charset="-120"/>
              </a:rPr>
              <a:t>FINAL AI ADOPTION MATURITY ASSESSMENT</a:t>
            </a:r>
            <a:endParaRPr lang="en-US" sz="1650" dirty="0"/>
          </a:p>
        </p:txBody>
      </p:sp>
      <p:sp>
        <p:nvSpPr>
          <p:cNvPr id="7" name="Text 5"/>
          <p:cNvSpPr/>
          <p:nvPr/>
        </p:nvSpPr>
        <p:spPr>
          <a:xfrm>
            <a:off x="1504950" y="4439692"/>
            <a:ext cx="15736443" cy="591145"/>
          </a:xfrm>
          <a:prstGeom prst="rect">
            <a:avLst/>
          </a:prstGeom>
          <a:noFill/>
          <a:ln/>
        </p:spPr>
        <p:txBody>
          <a:bodyPr wrap="square" lIns="25400" tIns="25400" rIns="25400" bIns="25400" rtlCol="0" anchor="t">
            <a:normAutofit/>
          </a:bodyPr>
          <a:lstStyle/>
          <a:p>
            <a:pPr algn="l" indent="0" marL="0">
              <a:lnSpc>
                <a:spcPct val="82971"/>
              </a:lnSpc>
              <a:buNone/>
            </a:pPr>
            <a:r>
              <a:rPr lang="en-US" sz="1650" dirty="0">
                <a:solidFill>
                  <a:srgbClr val="0E1A26"/>
                </a:solidFill>
                <a:latin typeface="Khula" pitchFamily="34" charset="0"/>
                <a:ea typeface="Khula" pitchFamily="34" charset="-122"/>
                <a:cs typeface="Khula" pitchFamily="34" charset="-120"/>
              </a:rPr>
              <a:t>21 questions, 7 dimensions. Same instrument as Week 1 and Week 7. Complete individually and honestly — not graded, the value is comparison with prior administrations. DLP Completion signal: Dimensions 1–4 averaging 3.0+ per question.</a:t>
            </a:r>
            <a:endParaRPr lang="en-US" sz="1650" dirty="0"/>
          </a:p>
        </p:txBody>
      </p:sp>
      <p:sp>
        <p:nvSpPr>
          <p:cNvPr id="8" name="Shape 6"/>
          <p:cNvSpPr/>
          <p:nvPr/>
        </p:nvSpPr>
        <p:spPr>
          <a:xfrm>
            <a:off x="1238250" y="5430887"/>
            <a:ext cx="15811500" cy="1639193"/>
          </a:xfrm>
          <a:prstGeom prst="roundRect">
            <a:avLst>
              <a:gd name="adj" fmla="val 9297"/>
            </a:avLst>
          </a:prstGeom>
          <a:solidFill>
            <a:srgbClr val="E9F1FA"/>
          </a:solidFill>
          <a:ln w="19050">
            <a:solidFill>
              <a:srgbClr val="005596"/>
            </a:solidFill>
            <a:prstDash val="solid"/>
          </a:ln>
        </p:spPr>
      </p:sp>
      <p:sp>
        <p:nvSpPr>
          <p:cNvPr id="9" name="Text 7"/>
          <p:cNvSpPr/>
          <p:nvPr/>
        </p:nvSpPr>
        <p:spPr>
          <a:xfrm>
            <a:off x="1524000" y="5640437"/>
            <a:ext cx="16764000" cy="352425"/>
          </a:xfrm>
          <a:prstGeom prst="rect">
            <a:avLst/>
          </a:prstGeom>
          <a:noFill/>
          <a:ln/>
        </p:spPr>
        <p:txBody>
          <a:bodyPr wrap="square" lIns="25400" tIns="25400" rIns="25400" bIns="25400" rtlCol="0" anchor="t">
            <a:normAutofit/>
          </a:bodyPr>
          <a:lstStyle/>
          <a:p>
            <a:pPr algn="l" indent="0" marL="0">
              <a:lnSpc>
                <a:spcPct val="100000"/>
              </a:lnSpc>
              <a:buNone/>
            </a:pPr>
            <a:r>
              <a:rPr lang="en-US" sz="1650" b="1" spc="83" kern="0" dirty="0">
                <a:solidFill>
                  <a:srgbClr val="005596"/>
                </a:solidFill>
                <a:latin typeface="Poppins" pitchFamily="34" charset="0"/>
                <a:ea typeface="Poppins" pitchFamily="34" charset="-122"/>
                <a:cs typeface="Poppins" pitchFamily="34" charset="-120"/>
              </a:rPr>
              <a:t>COMMITMENT STATEMENTS</a:t>
            </a:r>
            <a:endParaRPr lang="en-US" sz="1650" dirty="0"/>
          </a:p>
        </p:txBody>
      </p:sp>
      <p:sp>
        <p:nvSpPr>
          <p:cNvPr id="10" name="Text 8"/>
          <p:cNvSpPr/>
          <p:nvPr/>
        </p:nvSpPr>
        <p:spPr>
          <a:xfrm>
            <a:off x="1524000" y="6030962"/>
            <a:ext cx="15697200" cy="867668"/>
          </a:xfrm>
          <a:prstGeom prst="rect">
            <a:avLst/>
          </a:prstGeom>
          <a:noFill/>
          <a:ln/>
        </p:spPr>
        <p:txBody>
          <a:bodyPr wrap="square" lIns="25400" tIns="25400" rIns="25400" bIns="25400" rtlCol="0" anchor="t">
            <a:normAutofit/>
          </a:bodyPr>
          <a:lstStyle/>
          <a:p>
            <a:pPr algn="l" indent="0" marL="0">
              <a:lnSpc>
                <a:spcPct val="82971"/>
              </a:lnSpc>
              <a:buNone/>
            </a:pPr>
            <a:r>
              <a:rPr lang="en-US" sz="1650" dirty="0">
                <a:solidFill>
                  <a:srgbClr val="0E1A26"/>
                </a:solidFill>
                <a:latin typeface="Khula" pitchFamily="34" charset="0"/>
                <a:ea typeface="Khula" pitchFamily="34" charset="-122"/>
                <a:cs typeface="Khula" pitchFamily="34" charset="-120"/>
              </a:rPr>
              <a:t>Each participant states — out loud, to the group — one specific commitment: </a:t>
            </a:r>
            <a:pPr algn="l" indent="0" marL="0">
              <a:lnSpc>
                <a:spcPct val="82971"/>
              </a:lnSpc>
              <a:buNone/>
            </a:pPr>
            <a:r>
              <a:rPr lang="en-US" sz="1650" i="1" dirty="0">
                <a:solidFill>
                  <a:srgbClr val="0E1A26"/>
                </a:solidFill>
                <a:latin typeface="Khula" pitchFamily="34" charset="0"/>
                <a:ea typeface="Khula" pitchFamily="34" charset="-122"/>
                <a:cs typeface="Khula" pitchFamily="34" charset="-120"/>
              </a:rPr>
              <a:t>"In my next sprint, I will [specific behavior change] that I could not or did not do before this program. I'll know I've done it when [specific artifact or outcome]." </a:t>
            </a:r>
            <a:pPr algn="l" indent="0" marL="0">
              <a:lnSpc>
                <a:spcPct val="82971"/>
              </a:lnSpc>
              <a:buNone/>
            </a:pPr>
            <a:r>
              <a:rPr lang="en-US" sz="1650" dirty="0">
                <a:solidFill>
                  <a:srgbClr val="0E1A26"/>
                </a:solidFill>
                <a:latin typeface="Khula" pitchFamily="34" charset="0"/>
                <a:ea typeface="Khula" pitchFamily="34" charset="-122"/>
                <a:cs typeface="Khula" pitchFamily="34" charset="-120"/>
              </a:rPr>
              <a:t>Not aspirations. Not "I'll use AI more." Specific, observable, next-sprint actions that can be checked.</a:t>
            </a:r>
            <a:endParaRPr lang="en-US" sz="1650" dirty="0"/>
          </a:p>
        </p:txBody>
      </p:sp>
      <p:sp>
        <p:nvSpPr>
          <p:cNvPr id="11" name="Shape 9"/>
          <p:cNvSpPr/>
          <p:nvPr/>
        </p:nvSpPr>
        <p:spPr>
          <a:xfrm>
            <a:off x="1238250" y="7317730"/>
            <a:ext cx="15811500" cy="619125"/>
          </a:xfrm>
          <a:prstGeom prst="roundRect">
            <a:avLst>
              <a:gd name="adj" fmla="val 24615"/>
            </a:avLst>
          </a:prstGeom>
          <a:solidFill>
            <a:srgbClr val="005596"/>
          </a:solidFill>
          <a:ln/>
          <a:effectLst>
            <a:outerShdw sx="100000" sy="100000" kx="0" ky="0" algn="bl" rotWithShape="0" blurRad="266700" dist="114300" dir="5400000">
              <a:srgbClr val="005596">
                <a:alpha val="28000"/>
              </a:srgbClr>
            </a:outerShdw>
          </a:effectLst>
        </p:spPr>
      </p:sp>
      <p:sp>
        <p:nvSpPr>
          <p:cNvPr id="12" name="Text 10"/>
          <p:cNvSpPr/>
          <p:nvPr/>
        </p:nvSpPr>
        <p:spPr>
          <a:xfrm>
            <a:off x="1504950" y="7470130"/>
            <a:ext cx="16805910" cy="352425"/>
          </a:xfrm>
          <a:prstGeom prst="rect">
            <a:avLst/>
          </a:prstGeom>
          <a:noFill/>
          <a:ln/>
        </p:spPr>
        <p:txBody>
          <a:bodyPr wrap="square" lIns="25400" tIns="25400" rIns="25400" bIns="25400" rtlCol="0" anchor="t">
            <a:normAutofit/>
          </a:bodyPr>
          <a:lstStyle/>
          <a:p>
            <a:pPr algn="l" indent="0" marL="0">
              <a:lnSpc>
                <a:spcPct val="94286"/>
              </a:lnSpc>
              <a:buNone/>
            </a:pPr>
            <a:r>
              <a:rPr lang="en-US" sz="1650" b="1" dirty="0">
                <a:solidFill>
                  <a:srgbClr val="FFFFFF"/>
                </a:solidFill>
                <a:latin typeface="Khula" pitchFamily="34" charset="0"/>
                <a:ea typeface="Khula" pitchFamily="34" charset="-122"/>
                <a:cs typeface="Khula" pitchFamily="34" charset="-120"/>
              </a:rPr>
              <a:t>The Embedded Engineer will follow up on your commitment in Week 12.</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sp>
      <p:sp>
        <p:nvSpPr>
          <p:cNvPr id="3" name="Shape 1"/>
          <p:cNvSpPr/>
          <p:nvPr/>
        </p:nvSpPr>
        <p:spPr>
          <a:xfrm>
            <a:off x="1047750" y="666750"/>
            <a:ext cx="3306514" cy="533400"/>
          </a:xfrm>
          <a:prstGeom prst="roundRect">
            <a:avLst>
              <a:gd name="adj" fmla="val 50000"/>
            </a:avLst>
          </a:prstGeom>
          <a:solidFill>
            <a:srgbClr val="FFFFFF">
              <a:alpha val="20000"/>
            </a:srgbClr>
          </a:solidFill>
          <a:ln/>
        </p:spPr>
      </p:sp>
      <p:sp>
        <p:nvSpPr>
          <p:cNvPr id="4" name="Text 2"/>
          <p:cNvSpPr/>
          <p:nvPr/>
        </p:nvSpPr>
        <p:spPr>
          <a:xfrm>
            <a:off x="1295400" y="762000"/>
            <a:ext cx="291041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047750" y="1371600"/>
            <a:ext cx="17811750" cy="499021"/>
          </a:xfrm>
          <a:prstGeom prst="rect">
            <a:avLst/>
          </a:prstGeom>
          <a:noFill/>
          <a:ln/>
        </p:spPr>
        <p:txBody>
          <a:bodyPr wrap="square" lIns="25400" tIns="25400" rIns="25400" bIns="25400" rtlCol="0" anchor="t">
            <a:normAutofit/>
          </a:bodyPr>
          <a:lstStyle/>
          <a:p>
            <a:pPr algn="l" indent="0" marL="0">
              <a:lnSpc>
                <a:spcPct val="74462"/>
              </a:lnSpc>
              <a:buNone/>
            </a:pPr>
            <a:r>
              <a:rPr lang="en-US" sz="3300" b="1" spc="-66" kern="0" dirty="0">
                <a:solidFill>
                  <a:srgbClr val="FFFFFF"/>
                </a:solidFill>
                <a:latin typeface="Poppins" pitchFamily="34" charset="0"/>
                <a:ea typeface="Poppins" pitchFamily="34" charset="-122"/>
                <a:cs typeface="Poppins" pitchFamily="34" charset="-120"/>
              </a:rPr>
              <a:t>Before you go… </a:t>
            </a:r>
            <a:pPr algn="l" indent="0" marL="0">
              <a:lnSpc>
                <a:spcPct val="74462"/>
              </a:lnSpc>
              <a:buNone/>
            </a:pPr>
            <a:r>
              <a:rPr lang="en-US" sz="1950" b="1" spc="-66" kern="0" dirty="0">
                <a:solidFill>
                  <a:srgbClr val="FFFFFF"/>
                </a:solidFill>
                <a:latin typeface="Poppins" pitchFamily="34" charset="0"/>
                <a:ea typeface="Poppins" pitchFamily="34" charset="-122"/>
                <a:cs typeface="Poppins" pitchFamily="34" charset="-120"/>
              </a:rPr>
              <a:t>(1 of 2)</a:t>
            </a:r>
            <a:endParaRPr lang="en-US" sz="3300" dirty="0"/>
          </a:p>
        </p:txBody>
      </p:sp>
      <p:sp>
        <p:nvSpPr>
          <p:cNvPr id="6" name="Shape 4"/>
          <p:cNvSpPr/>
          <p:nvPr/>
        </p:nvSpPr>
        <p:spPr>
          <a:xfrm>
            <a:off x="1047750" y="2003971"/>
            <a:ext cx="16192500" cy="1160115"/>
          </a:xfrm>
          <a:prstGeom prst="roundRect">
            <a:avLst>
              <a:gd name="adj" fmla="val 13137"/>
            </a:avLst>
          </a:prstGeom>
          <a:solidFill>
            <a:srgbClr val="FFFFFF">
              <a:alpha val="94000"/>
            </a:srgbClr>
          </a:solidFill>
          <a:ln/>
        </p:spPr>
      </p:sp>
      <p:sp>
        <p:nvSpPr>
          <p:cNvPr id="7" name="Text 5"/>
          <p:cNvSpPr/>
          <p:nvPr/>
        </p:nvSpPr>
        <p:spPr>
          <a:xfrm>
            <a:off x="1257300" y="2137321"/>
            <a:ext cx="17350740" cy="258068"/>
          </a:xfrm>
          <a:prstGeom prst="rect">
            <a:avLst/>
          </a:prstGeom>
          <a:noFill/>
          <a:ln/>
        </p:spPr>
        <p:txBody>
          <a:bodyPr wrap="square" lIns="25400" tIns="25400" rIns="25400" bIns="25400" rtlCol="0" anchor="t">
            <a:normAutofit/>
          </a:bodyPr>
          <a:lstStyle/>
          <a:p>
            <a:pPr algn="l" indent="0" marL="0">
              <a:lnSpc>
                <a:spcPct val="74516"/>
              </a:lnSpc>
              <a:buNone/>
            </a:pPr>
            <a:r>
              <a:rPr lang="en-US" sz="1575" b="1" spc="-31" kern="0" dirty="0">
                <a:solidFill>
                  <a:srgbClr val="005596"/>
                </a:solidFill>
                <a:latin typeface="Poppins" pitchFamily="34" charset="0"/>
                <a:ea typeface="Poppins" pitchFamily="34" charset="-122"/>
                <a:cs typeface="Poppins" pitchFamily="34" charset="-120"/>
              </a:rPr>
              <a:t>Goal 1: </a:t>
            </a:r>
            <a:pPr algn="l" indent="0" marL="0">
              <a:lnSpc>
                <a:spcPct val="74516"/>
              </a:lnSpc>
              <a:buNone/>
            </a:pPr>
            <a:r>
              <a:rPr lang="en-US" sz="1575" b="1" spc="-31" kern="0" dirty="0">
                <a:solidFill>
                  <a:srgbClr val="4597D3"/>
                </a:solidFill>
                <a:latin typeface="Poppins" pitchFamily="34" charset="0"/>
                <a:ea typeface="Poppins" pitchFamily="34" charset="-122"/>
                <a:cs typeface="Poppins" pitchFamily="34" charset="-120"/>
              </a:rPr>
              <a:t>Build a bounded agent</a:t>
            </a:r>
            <a:endParaRPr lang="en-US" sz="1575" dirty="0"/>
          </a:p>
        </p:txBody>
      </p:sp>
      <p:sp>
        <p:nvSpPr>
          <p:cNvPr id="8" name="Text 6"/>
          <p:cNvSpPr/>
          <p:nvPr/>
        </p:nvSpPr>
        <p:spPr>
          <a:xfrm>
            <a:off x="1257300" y="2423964"/>
            <a:ext cx="5323865"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Product/Process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run the full SDLC pipeline in your IDE with evaluation and adversarial review at key steps. This is the composition of everything you've built.</a:t>
            </a:r>
            <a:endParaRPr lang="en-US" sz="1350" dirty="0"/>
          </a:p>
        </p:txBody>
      </p:sp>
      <p:sp>
        <p:nvSpPr>
          <p:cNvPr id="9" name="Text 7"/>
          <p:cNvSpPr/>
          <p:nvPr/>
        </p:nvSpPr>
        <p:spPr>
          <a:xfrm>
            <a:off x="6559451" y="242396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Development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used a workflow prompt to chain your skills and experienced context accumulation firsthand. You know what a bounded agent can do and its ceiling.</a:t>
            </a:r>
            <a:endParaRPr lang="en-US" sz="1350" dirty="0"/>
          </a:p>
        </p:txBody>
      </p:sp>
      <p:sp>
        <p:nvSpPr>
          <p:cNvPr id="10" name="Text 8"/>
          <p:cNvSpPr/>
          <p:nvPr/>
        </p:nvSpPr>
        <p:spPr>
          <a:xfrm>
            <a:off x="11861750" y="242396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Testing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run review-implementation as the final step, consuming all prior outputs. You've felt the degradation and know why it happens. This is Stage 3 composition.</a:t>
            </a:r>
            <a:endParaRPr lang="en-US" sz="1350" dirty="0"/>
          </a:p>
        </p:txBody>
      </p:sp>
      <p:sp>
        <p:nvSpPr>
          <p:cNvPr id="11" name="Shape 9"/>
          <p:cNvSpPr/>
          <p:nvPr/>
        </p:nvSpPr>
        <p:spPr>
          <a:xfrm>
            <a:off x="1047750" y="3287911"/>
            <a:ext cx="16192500" cy="1160115"/>
          </a:xfrm>
          <a:prstGeom prst="roundRect">
            <a:avLst>
              <a:gd name="adj" fmla="val 13137"/>
            </a:avLst>
          </a:prstGeom>
          <a:solidFill>
            <a:srgbClr val="FFFFFF">
              <a:alpha val="94000"/>
            </a:srgbClr>
          </a:solidFill>
          <a:ln/>
        </p:spPr>
      </p:sp>
      <p:sp>
        <p:nvSpPr>
          <p:cNvPr id="12" name="Text 10"/>
          <p:cNvSpPr/>
          <p:nvPr/>
        </p:nvSpPr>
        <p:spPr>
          <a:xfrm>
            <a:off x="1257300" y="3421261"/>
            <a:ext cx="17350740" cy="258068"/>
          </a:xfrm>
          <a:prstGeom prst="rect">
            <a:avLst/>
          </a:prstGeom>
          <a:noFill/>
          <a:ln/>
        </p:spPr>
        <p:txBody>
          <a:bodyPr wrap="square" lIns="25400" tIns="25400" rIns="25400" bIns="25400" rtlCol="0" anchor="t">
            <a:normAutofit/>
          </a:bodyPr>
          <a:lstStyle/>
          <a:p>
            <a:pPr algn="l" indent="0" marL="0">
              <a:lnSpc>
                <a:spcPct val="74516"/>
              </a:lnSpc>
              <a:buNone/>
            </a:pPr>
            <a:r>
              <a:rPr lang="en-US" sz="1575" b="1" spc="-31" kern="0" dirty="0">
                <a:solidFill>
                  <a:srgbClr val="005596"/>
                </a:solidFill>
                <a:latin typeface="Poppins" pitchFamily="34" charset="0"/>
                <a:ea typeface="Poppins" pitchFamily="34" charset="-122"/>
                <a:cs typeface="Poppins" pitchFamily="34" charset="-120"/>
              </a:rPr>
              <a:t>Goal 2: </a:t>
            </a:r>
            <a:pPr algn="l" indent="0" marL="0">
              <a:lnSpc>
                <a:spcPct val="74516"/>
              </a:lnSpc>
              <a:buNone/>
            </a:pPr>
            <a:r>
              <a:rPr lang="en-US" sz="1575" b="1" spc="-31" kern="0" dirty="0">
                <a:solidFill>
                  <a:srgbClr val="4597D3"/>
                </a:solidFill>
                <a:latin typeface="Poppins" pitchFamily="34" charset="0"/>
                <a:ea typeface="Poppins" pitchFamily="34" charset="-122"/>
                <a:cs typeface="Poppins" pitchFamily="34" charset="-120"/>
              </a:rPr>
              <a:t>See a custom harness demonstrated</a:t>
            </a:r>
            <a:endParaRPr lang="en-US" sz="1575" dirty="0"/>
          </a:p>
        </p:txBody>
      </p:sp>
      <p:sp>
        <p:nvSpPr>
          <p:cNvPr id="13" name="Text 11"/>
          <p:cNvSpPr/>
          <p:nvPr/>
        </p:nvSpPr>
        <p:spPr>
          <a:xfrm>
            <a:off x="1257300" y="3707904"/>
            <a:ext cx="5323865"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Product/Process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seen the full chain running with clean context and evaluation at each step. Your epics-and-stories skill is step 1 — the trajectory.</a:t>
            </a:r>
            <a:endParaRPr lang="en-US" sz="1350" dirty="0"/>
          </a:p>
        </p:txBody>
      </p:sp>
      <p:sp>
        <p:nvSpPr>
          <p:cNvPr id="14" name="Text 12"/>
          <p:cNvSpPr/>
          <p:nvPr/>
        </p:nvSpPr>
        <p:spPr>
          <a:xfrm>
            <a:off x="6559451" y="370790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Development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seen plan-story → implement-story running inside the harness with adversarial agents challenging output. Your skills are production-ready when they're in a harness.</a:t>
            </a:r>
            <a:endParaRPr lang="en-US" sz="1350" dirty="0"/>
          </a:p>
        </p:txBody>
      </p:sp>
      <p:sp>
        <p:nvSpPr>
          <p:cNvPr id="15" name="Text 13"/>
          <p:cNvSpPr/>
          <p:nvPr/>
        </p:nvSpPr>
        <p:spPr>
          <a:xfrm>
            <a:off x="11861750" y="370790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Testing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seen review-implementation as the final step, consuming all prior output and producing a complete, evaluated review. The full chain, automated and measured.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597D3">
                  <a:alpha val="100000"/>
                </a:srgbClr>
              </a:gs>
              <a:gs pos="100000">
                <a:srgbClr val="5BC2A7">
                  <a:alpha val="100000"/>
                </a:srgbClr>
              </a:gs>
            </a:gsLst>
            <a:lin ang="2700000" scaled="0"/>
          </a:gradFill>
          <a:ln/>
        </p:spPr>
      </p:sp>
      <p:sp>
        <p:nvSpPr>
          <p:cNvPr id="3" name="Shape 1"/>
          <p:cNvSpPr/>
          <p:nvPr/>
        </p:nvSpPr>
        <p:spPr>
          <a:xfrm>
            <a:off x="1047750" y="666750"/>
            <a:ext cx="3306514" cy="533400"/>
          </a:xfrm>
          <a:prstGeom prst="roundRect">
            <a:avLst>
              <a:gd name="adj" fmla="val 50000"/>
            </a:avLst>
          </a:prstGeom>
          <a:solidFill>
            <a:srgbClr val="FFFFFF">
              <a:alpha val="20000"/>
            </a:srgbClr>
          </a:solidFill>
          <a:ln/>
        </p:spPr>
      </p:sp>
      <p:sp>
        <p:nvSpPr>
          <p:cNvPr id="4" name="Text 2"/>
          <p:cNvSpPr/>
          <p:nvPr/>
        </p:nvSpPr>
        <p:spPr>
          <a:xfrm>
            <a:off x="1295400" y="762000"/>
            <a:ext cx="2910410" cy="381000"/>
          </a:xfrm>
          <a:prstGeom prst="rect">
            <a:avLst/>
          </a:prstGeom>
          <a:noFill/>
          <a:ln/>
        </p:spPr>
        <p:txBody>
          <a:bodyPr wrap="none" lIns="25400" tIns="25400" rIns="25400" bIns="25400" rtlCol="0" anchor="ctr">
            <a:normAutofit/>
          </a:bodyPr>
          <a:lstStyle/>
          <a:p>
            <a:pPr algn="l" indent="0" marL="0">
              <a:lnSpc>
                <a:spcPct val="102857"/>
              </a:lnSpc>
              <a:buNone/>
            </a:pPr>
            <a:r>
              <a:rPr lang="en-US" sz="1800" b="1" spc="108" kern="0" dirty="0">
                <a:solidFill>
                  <a:srgbClr val="FFFFFF"/>
                </a:solidFill>
                <a:latin typeface="Poppins" pitchFamily="34" charset="0"/>
                <a:ea typeface="Poppins" pitchFamily="34" charset="-122"/>
                <a:cs typeface="Poppins" pitchFamily="34" charset="-120"/>
              </a:rPr>
              <a:t>SLIDE TYPE — CLOSING</a:t>
            </a:r>
            <a:endParaRPr lang="en-US" sz="1800" dirty="0"/>
          </a:p>
        </p:txBody>
      </p:sp>
      <p:sp>
        <p:nvSpPr>
          <p:cNvPr id="5" name="Text 3"/>
          <p:cNvSpPr/>
          <p:nvPr/>
        </p:nvSpPr>
        <p:spPr>
          <a:xfrm>
            <a:off x="1047750" y="1371600"/>
            <a:ext cx="17811750" cy="499021"/>
          </a:xfrm>
          <a:prstGeom prst="rect">
            <a:avLst/>
          </a:prstGeom>
          <a:noFill/>
          <a:ln/>
        </p:spPr>
        <p:txBody>
          <a:bodyPr wrap="square" lIns="25400" tIns="25400" rIns="25400" bIns="25400" rtlCol="0" anchor="t">
            <a:normAutofit/>
          </a:bodyPr>
          <a:lstStyle/>
          <a:p>
            <a:pPr algn="l" indent="0" marL="0">
              <a:lnSpc>
                <a:spcPct val="74462"/>
              </a:lnSpc>
              <a:buNone/>
            </a:pPr>
            <a:r>
              <a:rPr lang="en-US" sz="3300" b="1" spc="-66" kern="0" dirty="0">
                <a:solidFill>
                  <a:srgbClr val="FFFFFF"/>
                </a:solidFill>
                <a:latin typeface="Poppins" pitchFamily="34" charset="0"/>
                <a:ea typeface="Poppins" pitchFamily="34" charset="-122"/>
                <a:cs typeface="Poppins" pitchFamily="34" charset="-120"/>
              </a:rPr>
              <a:t>Before you go… </a:t>
            </a:r>
            <a:pPr algn="l" indent="0" marL="0">
              <a:lnSpc>
                <a:spcPct val="74462"/>
              </a:lnSpc>
              <a:buNone/>
            </a:pPr>
            <a:r>
              <a:rPr lang="en-US" sz="1950" b="1" spc="-66" kern="0" dirty="0">
                <a:solidFill>
                  <a:srgbClr val="FFFFFF"/>
                </a:solidFill>
                <a:latin typeface="Poppins" pitchFamily="34" charset="0"/>
                <a:ea typeface="Poppins" pitchFamily="34" charset="-122"/>
                <a:cs typeface="Poppins" pitchFamily="34" charset="-120"/>
              </a:rPr>
              <a:t>(2 of 2)</a:t>
            </a:r>
            <a:endParaRPr lang="en-US" sz="3300" dirty="0"/>
          </a:p>
        </p:txBody>
      </p:sp>
      <p:sp>
        <p:nvSpPr>
          <p:cNvPr id="6" name="Shape 4"/>
          <p:cNvSpPr/>
          <p:nvPr/>
        </p:nvSpPr>
        <p:spPr>
          <a:xfrm>
            <a:off x="1047750" y="2003971"/>
            <a:ext cx="16192500" cy="1160115"/>
          </a:xfrm>
          <a:prstGeom prst="roundRect">
            <a:avLst>
              <a:gd name="adj" fmla="val 13137"/>
            </a:avLst>
          </a:prstGeom>
          <a:solidFill>
            <a:srgbClr val="FFFFFF">
              <a:alpha val="94000"/>
            </a:srgbClr>
          </a:solidFill>
          <a:ln/>
        </p:spPr>
      </p:sp>
      <p:sp>
        <p:nvSpPr>
          <p:cNvPr id="7" name="Text 5"/>
          <p:cNvSpPr/>
          <p:nvPr/>
        </p:nvSpPr>
        <p:spPr>
          <a:xfrm>
            <a:off x="1257300" y="2137321"/>
            <a:ext cx="17350740" cy="258068"/>
          </a:xfrm>
          <a:prstGeom prst="rect">
            <a:avLst/>
          </a:prstGeom>
          <a:noFill/>
          <a:ln/>
        </p:spPr>
        <p:txBody>
          <a:bodyPr wrap="square" lIns="25400" tIns="25400" rIns="25400" bIns="25400" rtlCol="0" anchor="t">
            <a:normAutofit/>
          </a:bodyPr>
          <a:lstStyle/>
          <a:p>
            <a:pPr algn="l" indent="0" marL="0">
              <a:lnSpc>
                <a:spcPct val="74516"/>
              </a:lnSpc>
              <a:buNone/>
            </a:pPr>
            <a:r>
              <a:rPr lang="en-US" sz="1575" b="1" spc="-31" kern="0" dirty="0">
                <a:solidFill>
                  <a:srgbClr val="005596"/>
                </a:solidFill>
                <a:latin typeface="Poppins" pitchFamily="34" charset="0"/>
                <a:ea typeface="Poppins" pitchFamily="34" charset="-122"/>
                <a:cs typeface="Poppins" pitchFamily="34" charset="-120"/>
              </a:rPr>
              <a:t>Goal 3: </a:t>
            </a:r>
            <a:pPr algn="l" indent="0" marL="0">
              <a:lnSpc>
                <a:spcPct val="74516"/>
              </a:lnSpc>
              <a:buNone/>
            </a:pPr>
            <a:r>
              <a:rPr lang="en-US" sz="1575" b="1" spc="-31" kern="0" dirty="0">
                <a:solidFill>
                  <a:srgbClr val="4597D3"/>
                </a:solidFill>
                <a:latin typeface="Poppins" pitchFamily="34" charset="0"/>
                <a:ea typeface="Poppins" pitchFamily="34" charset="-122"/>
                <a:cs typeface="Poppins" pitchFamily="34" charset="-120"/>
              </a:rPr>
              <a:t>Understand the IIOS stage framework</a:t>
            </a:r>
            <a:endParaRPr lang="en-US" sz="1575" dirty="0"/>
          </a:p>
        </p:txBody>
      </p:sp>
      <p:sp>
        <p:nvSpPr>
          <p:cNvPr id="8" name="Text 6"/>
          <p:cNvSpPr/>
          <p:nvPr/>
        </p:nvSpPr>
        <p:spPr>
          <a:xfrm>
            <a:off x="1257300" y="2423964"/>
            <a:ext cx="5323865"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Product/Process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 are at Stage 3 (Task) — you can build, evaluate, iterate, and compose skills. Stage 4 (Workflow) connects those skills into shared, governed workflows.</a:t>
            </a:r>
            <a:endParaRPr lang="en-US" sz="1350" dirty="0"/>
          </a:p>
        </p:txBody>
      </p:sp>
      <p:sp>
        <p:nvSpPr>
          <p:cNvPr id="9" name="Text 7"/>
          <p:cNvSpPr/>
          <p:nvPr/>
        </p:nvSpPr>
        <p:spPr>
          <a:xfrm>
            <a:off x="6559451" y="242396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Development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Stage 3 is individual; Stage 4 is team + IT with shared workflows, automated guardrails, audit trails. The effort scales ~10x. You know what's ahead.</a:t>
            </a:r>
            <a:endParaRPr lang="en-US" sz="1350" dirty="0"/>
          </a:p>
        </p:txBody>
      </p:sp>
      <p:sp>
        <p:nvSpPr>
          <p:cNvPr id="10" name="Text 8"/>
          <p:cNvSpPr/>
          <p:nvPr/>
        </p:nvSpPr>
        <p:spPr>
          <a:xfrm>
            <a:off x="11861750" y="242396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Testing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Stage 3 means reviewing output one piece at a time. Stage 4 means quality gates are automated between steps. You know the ceiling and what breaking through looks like.</a:t>
            </a:r>
            <a:endParaRPr lang="en-US" sz="1350" dirty="0"/>
          </a:p>
        </p:txBody>
      </p:sp>
      <p:sp>
        <p:nvSpPr>
          <p:cNvPr id="11" name="Shape 9"/>
          <p:cNvSpPr/>
          <p:nvPr/>
        </p:nvSpPr>
        <p:spPr>
          <a:xfrm>
            <a:off x="1047750" y="3287911"/>
            <a:ext cx="16192500" cy="1160115"/>
          </a:xfrm>
          <a:prstGeom prst="roundRect">
            <a:avLst>
              <a:gd name="adj" fmla="val 13137"/>
            </a:avLst>
          </a:prstGeom>
          <a:solidFill>
            <a:srgbClr val="FFFFFF">
              <a:alpha val="94000"/>
            </a:srgbClr>
          </a:solidFill>
          <a:ln/>
        </p:spPr>
      </p:sp>
      <p:sp>
        <p:nvSpPr>
          <p:cNvPr id="12" name="Text 10"/>
          <p:cNvSpPr/>
          <p:nvPr/>
        </p:nvSpPr>
        <p:spPr>
          <a:xfrm>
            <a:off x="1257300" y="3421261"/>
            <a:ext cx="17350740" cy="258068"/>
          </a:xfrm>
          <a:prstGeom prst="rect">
            <a:avLst/>
          </a:prstGeom>
          <a:noFill/>
          <a:ln/>
        </p:spPr>
        <p:txBody>
          <a:bodyPr wrap="square" lIns="25400" tIns="25400" rIns="25400" bIns="25400" rtlCol="0" anchor="t">
            <a:normAutofit/>
          </a:bodyPr>
          <a:lstStyle/>
          <a:p>
            <a:pPr algn="l" indent="0" marL="0">
              <a:lnSpc>
                <a:spcPct val="74516"/>
              </a:lnSpc>
              <a:buNone/>
            </a:pPr>
            <a:r>
              <a:rPr lang="en-US" sz="1575" b="1" spc="-31" kern="0" dirty="0">
                <a:solidFill>
                  <a:srgbClr val="005596"/>
                </a:solidFill>
                <a:latin typeface="Poppins" pitchFamily="34" charset="0"/>
                <a:ea typeface="Poppins" pitchFamily="34" charset="-122"/>
                <a:cs typeface="Poppins" pitchFamily="34" charset="-120"/>
              </a:rPr>
              <a:t>Goal 4: </a:t>
            </a:r>
            <a:pPr algn="l" indent="0" marL="0">
              <a:lnSpc>
                <a:spcPct val="74516"/>
              </a:lnSpc>
              <a:buNone/>
            </a:pPr>
            <a:r>
              <a:rPr lang="en-US" sz="1575" b="1" spc="-31" kern="0" dirty="0">
                <a:solidFill>
                  <a:srgbClr val="4597D3"/>
                </a:solidFill>
                <a:latin typeface="Poppins" pitchFamily="34" charset="0"/>
                <a:ea typeface="Poppins" pitchFamily="34" charset="-122"/>
                <a:cs typeface="Poppins" pitchFamily="34" charset="-120"/>
              </a:rPr>
              <a:t>Capstone, assessment, and commitment</a:t>
            </a:r>
            <a:endParaRPr lang="en-US" sz="1575" dirty="0"/>
          </a:p>
        </p:txBody>
      </p:sp>
      <p:sp>
        <p:nvSpPr>
          <p:cNvPr id="13" name="Text 11"/>
          <p:cNvSpPr/>
          <p:nvPr/>
        </p:nvSpPr>
        <p:spPr>
          <a:xfrm>
            <a:off x="1257300" y="3707904"/>
            <a:ext cx="5323865"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Product/Process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presented your epics-and-stories skill with discipline framing and completed your final assessment. You've committed to a specific next-sprint change.</a:t>
            </a:r>
            <a:endParaRPr lang="en-US" sz="1350" dirty="0"/>
          </a:p>
        </p:txBody>
      </p:sp>
      <p:sp>
        <p:nvSpPr>
          <p:cNvPr id="14" name="Text 12"/>
          <p:cNvSpPr/>
          <p:nvPr/>
        </p:nvSpPr>
        <p:spPr>
          <a:xfrm>
            <a:off x="6559451" y="370790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Development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presented your Plan or implement-story skill with iteration evidence and adversarial agent findings. You've committed to continuing the discipline.</a:t>
            </a:r>
            <a:endParaRPr lang="en-US" sz="1350" dirty="0"/>
          </a:p>
        </p:txBody>
      </p:sp>
      <p:sp>
        <p:nvSpPr>
          <p:cNvPr id="15" name="Text 13"/>
          <p:cNvSpPr/>
          <p:nvPr/>
        </p:nvSpPr>
        <p:spPr>
          <a:xfrm>
            <a:off x="11861750" y="3707904"/>
            <a:ext cx="5324018" cy="644872"/>
          </a:xfrm>
          <a:prstGeom prst="rect">
            <a:avLst/>
          </a:prstGeom>
          <a:noFill/>
          <a:ln/>
        </p:spPr>
        <p:txBody>
          <a:bodyPr wrap="square" lIns="25400" tIns="25400" rIns="25400" bIns="25400" rtlCol="0" anchor="t">
            <a:normAutofit/>
          </a:bodyPr>
          <a:lstStyle/>
          <a:p>
            <a:pPr algn="l" indent="0" marL="0">
              <a:lnSpc>
                <a:spcPct val="73241"/>
              </a:lnSpc>
              <a:buNone/>
            </a:pPr>
            <a:r>
              <a:rPr lang="en-US" sz="1350" b="1" dirty="0">
                <a:solidFill>
                  <a:srgbClr val="0E1A26"/>
                </a:solidFill>
                <a:latin typeface="Khula" pitchFamily="34" charset="0"/>
                <a:ea typeface="Khula" pitchFamily="34" charset="-122"/>
                <a:cs typeface="Khula" pitchFamily="34" charset="-120"/>
              </a:rPr>
              <a:t>Testing — </a:t>
            </a:r>
            <a:pPr algn="l" indent="0" marL="0">
              <a:lnSpc>
                <a:spcPct val="73241"/>
              </a:lnSpc>
              <a:buNone/>
            </a:pPr>
            <a:r>
              <a:rPr lang="en-US" sz="1350" dirty="0">
                <a:solidFill>
                  <a:srgbClr val="0E1A26"/>
                </a:solidFill>
                <a:latin typeface="Khula" pitchFamily="34" charset="0"/>
                <a:ea typeface="Khula" pitchFamily="34" charset="-122"/>
                <a:cs typeface="Khula" pitchFamily="34" charset="-120"/>
              </a:rPr>
              <a:t>You've presented your review-implementation skill with evaluation history. You've committed to extending the chain. The program ends here; the work continues.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2026-08-05T16:50:28Z</dcterms:created>
  <dcterms:modified xsi:type="dcterms:W3CDTF">2026-08-05T16:50:28Z</dcterms:modified>
</cp:coreProperties>
</file>