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5"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78"/>
    <p:restoredTop sz="92386"/>
  </p:normalViewPr>
  <p:slideViewPr>
    <p:cSldViewPr snapToGrid="0" snapToObjects="1">
      <p:cViewPr varScale="1">
        <p:scale>
          <a:sx n="95" d="100"/>
          <a:sy n="95" d="100"/>
        </p:scale>
        <p:origin x="13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05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Confirm everyone knows this is Week 1, Loop 1, Product/Process focus, before moving to check-in.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sets up the Prompt/Harness/Model definition and surfaces assumptions participants bring into the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and pacing live here, never on the slide face.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DD2E6-ECF2-F1F5-2BD9-DE1758913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2D1EF-A79F-916B-07C1-0649AF900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F79FF-79BD-DC53-3050-3922015543FE}"/>
              </a:ext>
            </a:extLst>
          </p:cNvPr>
          <p:cNvSpPr>
            <a:spLocks noGrp="1"/>
          </p:cNvSpPr>
          <p:nvPr>
            <p:ph type="body" idx="1"/>
          </p:nvPr>
        </p:nvSpPr>
        <p:spPr/>
        <p:txBody>
          <a:bodyPr/>
          <a:lstStyle/>
          <a:p>
            <a:r>
              <a:rPr lang="en-US" dirty="0"/>
              <a:t>Teaching points and pacing live here, never on the slide face.</a:t>
            </a:r>
          </a:p>
        </p:txBody>
      </p:sp>
      <p:sp>
        <p:nvSpPr>
          <p:cNvPr id="4" name="Slide Number Placeholder 3">
            <a:extLst>
              <a:ext uri="{FF2B5EF4-FFF2-40B4-BE49-F238E27FC236}">
                <a16:creationId xmlns:a16="http://schemas.microsoft.com/office/drawing/2014/main" id="{57027D5F-E265-0A43-9CC2-CE337F01EAA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71665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and pacing live here, never on the slide face.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and pacing live here, never on the slide face.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RT-only create-prd, create-architecture, and create-ux skeleton skills live against the Pantry Tracker PWA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and pacing live here, never on the slide face.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points and pacing live here, never on the slide face.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row as a real behavior shift participants recognize in themselves.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3 examples from a realistic backlog: one good, one vague, one AI-generated-without-care.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checkpoints, common blockers, and what to watch for while circulating.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checkpoints, common blockers, and what to watch for while circulating.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checkpoints, common blockers, and what to watch for while circulating.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time to answer honestly; this is not graded.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5596">
                  <a:alpha val="100000"/>
                </a:srgbClr>
              </a:gs>
              <a:gs pos="60000">
                <a:srgbClr val="4597D3">
                  <a:alpha val="100000"/>
                </a:srgbClr>
              </a:gs>
              <a:gs pos="100000">
                <a:srgbClr val="5BC2A7">
                  <a:alpha val="100000"/>
                </a:srgbClr>
              </a:gs>
            </a:gsLst>
            <a:lin ang="2700000" scaled="0"/>
          </a:gradFill>
          <a:ln/>
        </p:spPr>
        <p:txBody>
          <a:bodyPr/>
          <a:lstStyle/>
          <a:p>
            <a:endParaRPr lang="en-US"/>
          </a:p>
        </p:txBody>
      </p:sp>
      <p:sp>
        <p:nvSpPr>
          <p:cNvPr id="3" name="Shape 1"/>
          <p:cNvSpPr/>
          <p:nvPr/>
        </p:nvSpPr>
        <p:spPr>
          <a:xfrm>
            <a:off x="1143000" y="2773710"/>
            <a:ext cx="2965103" cy="533400"/>
          </a:xfrm>
          <a:prstGeom prst="roundRect">
            <a:avLst>
              <a:gd name="adj" fmla="val 50000"/>
            </a:avLst>
          </a:prstGeom>
          <a:solidFill>
            <a:srgbClr val="FFFFFF">
              <a:alpha val="18000"/>
            </a:srgbClr>
          </a:solidFill>
          <a:ln/>
        </p:spPr>
        <p:txBody>
          <a:bodyPr/>
          <a:lstStyle/>
          <a:p>
            <a:endParaRPr lang="en-US"/>
          </a:p>
        </p:txBody>
      </p:sp>
      <p:sp>
        <p:nvSpPr>
          <p:cNvPr id="4" name="Text 2"/>
          <p:cNvSpPr/>
          <p:nvPr/>
        </p:nvSpPr>
        <p:spPr>
          <a:xfrm>
            <a:off x="1390650" y="2868960"/>
            <a:ext cx="2558756" cy="381000"/>
          </a:xfrm>
          <a:prstGeom prst="rect">
            <a:avLst/>
          </a:prstGeom>
          <a:noFill/>
          <a:ln/>
        </p:spPr>
        <p:txBody>
          <a:bodyPr wrap="none" lIns="25400" tIns="25400" rIns="25400" bIns="25400" rtlCol="0" anchor="ctr">
            <a:normAutofit/>
          </a:bodyPr>
          <a:lstStyle/>
          <a:p>
            <a:pPr marL="0" indent="0" algn="l">
              <a:lnSpc>
                <a:spcPct val="128571"/>
              </a:lnSpc>
              <a:buNone/>
            </a:pPr>
            <a:r>
              <a:rPr lang="en-US" sz="1800" b="1" kern="0" spc="108" dirty="0">
                <a:solidFill>
                  <a:srgbClr val="FFFFFF"/>
                </a:solidFill>
                <a:latin typeface="Arial" pitchFamily="34" charset="0"/>
                <a:ea typeface="Arial" pitchFamily="34" charset="-122"/>
                <a:cs typeface="Arial" pitchFamily="34" charset="-120"/>
              </a:rPr>
              <a:t>SLIDE TYPE — INTRO</a:t>
            </a:r>
            <a:endParaRPr lang="en-US" sz="1800" dirty="0"/>
          </a:p>
        </p:txBody>
      </p:sp>
      <p:sp>
        <p:nvSpPr>
          <p:cNvPr id="5" name="Shape 3"/>
          <p:cNvSpPr/>
          <p:nvPr/>
        </p:nvSpPr>
        <p:spPr>
          <a:xfrm>
            <a:off x="1143000" y="3764310"/>
            <a:ext cx="1359247" cy="533400"/>
          </a:xfrm>
          <a:prstGeom prst="roundRect">
            <a:avLst>
              <a:gd name="adj" fmla="val 50000"/>
            </a:avLst>
          </a:prstGeom>
          <a:solidFill>
            <a:srgbClr val="FFFFFF"/>
          </a:solidFill>
          <a:ln/>
        </p:spPr>
        <p:txBody>
          <a:bodyPr/>
          <a:lstStyle/>
          <a:p>
            <a:endParaRPr lang="en-US"/>
          </a:p>
        </p:txBody>
      </p:sp>
      <p:sp>
        <p:nvSpPr>
          <p:cNvPr id="6" name="Text 4"/>
          <p:cNvSpPr/>
          <p:nvPr/>
        </p:nvSpPr>
        <p:spPr>
          <a:xfrm>
            <a:off x="1390650" y="3859560"/>
            <a:ext cx="940147" cy="381000"/>
          </a:xfrm>
          <a:prstGeom prst="rect">
            <a:avLst/>
          </a:prstGeom>
          <a:noFill/>
          <a:ln/>
        </p:spPr>
        <p:txBody>
          <a:bodyPr wrap="none" lIns="25400" tIns="25400" rIns="25400" bIns="25400" rtlCol="0" anchor="ctr">
            <a:normAutofit/>
          </a:bodyPr>
          <a:lstStyle/>
          <a:p>
            <a:pPr marL="0" indent="0" algn="l">
              <a:lnSpc>
                <a:spcPct val="128571"/>
              </a:lnSpc>
              <a:buNone/>
            </a:pPr>
            <a:r>
              <a:rPr lang="en-US" sz="1800" b="1" kern="0" spc="108" dirty="0">
                <a:solidFill>
                  <a:srgbClr val="005596"/>
                </a:solidFill>
                <a:latin typeface="Arial" pitchFamily="34" charset="0"/>
                <a:ea typeface="Arial" pitchFamily="34" charset="-122"/>
                <a:cs typeface="Arial" pitchFamily="34" charset="-120"/>
              </a:rPr>
              <a:t>WEEK 1</a:t>
            </a:r>
            <a:endParaRPr lang="en-US" sz="1800" dirty="0"/>
          </a:p>
        </p:txBody>
      </p:sp>
      <p:sp>
        <p:nvSpPr>
          <p:cNvPr id="7" name="Shape 5"/>
          <p:cNvSpPr/>
          <p:nvPr/>
        </p:nvSpPr>
        <p:spPr>
          <a:xfrm>
            <a:off x="2730847" y="3764310"/>
            <a:ext cx="1323082" cy="533400"/>
          </a:xfrm>
          <a:prstGeom prst="roundRect">
            <a:avLst>
              <a:gd name="adj" fmla="val 50000"/>
            </a:avLst>
          </a:prstGeom>
          <a:solidFill>
            <a:srgbClr val="FFFFFF"/>
          </a:solidFill>
          <a:ln/>
        </p:spPr>
        <p:txBody>
          <a:bodyPr/>
          <a:lstStyle/>
          <a:p>
            <a:endParaRPr lang="en-US"/>
          </a:p>
        </p:txBody>
      </p:sp>
      <p:sp>
        <p:nvSpPr>
          <p:cNvPr id="8" name="Text 6"/>
          <p:cNvSpPr/>
          <p:nvPr/>
        </p:nvSpPr>
        <p:spPr>
          <a:xfrm>
            <a:off x="2978497" y="3859560"/>
            <a:ext cx="903982" cy="381000"/>
          </a:xfrm>
          <a:prstGeom prst="rect">
            <a:avLst/>
          </a:prstGeom>
          <a:noFill/>
          <a:ln/>
        </p:spPr>
        <p:txBody>
          <a:bodyPr wrap="none" lIns="25400" tIns="25400" rIns="25400" bIns="25400" rtlCol="0" anchor="ctr">
            <a:normAutofit/>
          </a:bodyPr>
          <a:lstStyle/>
          <a:p>
            <a:pPr marL="0" indent="0" algn="l">
              <a:lnSpc>
                <a:spcPct val="128571"/>
              </a:lnSpc>
              <a:buNone/>
            </a:pPr>
            <a:r>
              <a:rPr lang="en-US" sz="1800" b="1" kern="0" spc="108" dirty="0">
                <a:solidFill>
                  <a:srgbClr val="005596"/>
                </a:solidFill>
                <a:latin typeface="Arial" pitchFamily="34" charset="0"/>
                <a:ea typeface="Arial" pitchFamily="34" charset="-122"/>
                <a:cs typeface="Arial" pitchFamily="34" charset="-120"/>
              </a:rPr>
              <a:t>LOOP 1</a:t>
            </a:r>
            <a:endParaRPr lang="en-US" sz="1800" dirty="0"/>
          </a:p>
        </p:txBody>
      </p:sp>
      <p:sp>
        <p:nvSpPr>
          <p:cNvPr id="9" name="Shape 7"/>
          <p:cNvSpPr/>
          <p:nvPr/>
        </p:nvSpPr>
        <p:spPr>
          <a:xfrm>
            <a:off x="4282529" y="3764310"/>
            <a:ext cx="2963168" cy="533400"/>
          </a:xfrm>
          <a:prstGeom prst="roundRect">
            <a:avLst>
              <a:gd name="adj" fmla="val 50000"/>
            </a:avLst>
          </a:prstGeom>
          <a:solidFill>
            <a:srgbClr val="FFFFFF"/>
          </a:solidFill>
          <a:ln/>
        </p:spPr>
        <p:txBody>
          <a:bodyPr/>
          <a:lstStyle/>
          <a:p>
            <a:endParaRPr lang="en-US"/>
          </a:p>
        </p:txBody>
      </p:sp>
      <p:sp>
        <p:nvSpPr>
          <p:cNvPr id="10" name="Text 8"/>
          <p:cNvSpPr/>
          <p:nvPr/>
        </p:nvSpPr>
        <p:spPr>
          <a:xfrm>
            <a:off x="4530179" y="3859560"/>
            <a:ext cx="2556763" cy="381000"/>
          </a:xfrm>
          <a:prstGeom prst="rect">
            <a:avLst/>
          </a:prstGeom>
          <a:noFill/>
          <a:ln/>
        </p:spPr>
        <p:txBody>
          <a:bodyPr wrap="none" lIns="25400" tIns="25400" rIns="25400" bIns="25400" rtlCol="0" anchor="ctr">
            <a:normAutofit/>
          </a:bodyPr>
          <a:lstStyle/>
          <a:p>
            <a:pPr marL="0" indent="0" algn="l">
              <a:lnSpc>
                <a:spcPct val="128571"/>
              </a:lnSpc>
              <a:buNone/>
            </a:pPr>
            <a:r>
              <a:rPr lang="en-US" sz="1800" b="1" kern="0" spc="108" dirty="0">
                <a:solidFill>
                  <a:srgbClr val="005596"/>
                </a:solidFill>
                <a:latin typeface="Arial" pitchFamily="34" charset="0"/>
                <a:ea typeface="Arial" pitchFamily="34" charset="-122"/>
                <a:cs typeface="Arial" pitchFamily="34" charset="-120"/>
              </a:rPr>
              <a:t>PRODUCT/PROCESS</a:t>
            </a:r>
            <a:endParaRPr lang="en-US" sz="1800" dirty="0"/>
          </a:p>
        </p:txBody>
      </p:sp>
      <p:sp>
        <p:nvSpPr>
          <p:cNvPr id="11" name="Text 9"/>
          <p:cNvSpPr/>
          <p:nvPr/>
        </p:nvSpPr>
        <p:spPr>
          <a:xfrm>
            <a:off x="1143000" y="4678710"/>
            <a:ext cx="16764000" cy="958155"/>
          </a:xfrm>
          <a:prstGeom prst="rect">
            <a:avLst/>
          </a:prstGeom>
          <a:noFill/>
          <a:ln/>
        </p:spPr>
        <p:txBody>
          <a:bodyPr wrap="square" lIns="25400" tIns="25400" rIns="25400" bIns="25400" rtlCol="0" anchor="t">
            <a:normAutofit lnSpcReduction="10000"/>
          </a:bodyPr>
          <a:lstStyle/>
          <a:p>
            <a:pPr marL="0" indent="0" algn="l">
              <a:lnSpc>
                <a:spcPct val="92000"/>
              </a:lnSpc>
              <a:buNone/>
            </a:pPr>
            <a:r>
              <a:rPr lang="en-US" sz="6900" b="1" kern="0" spc="-138" dirty="0">
                <a:solidFill>
                  <a:srgbClr val="FFFFFF"/>
                </a:solidFill>
                <a:latin typeface="Arial" pitchFamily="34" charset="0"/>
                <a:ea typeface="Arial" pitchFamily="34" charset="-122"/>
                <a:cs typeface="Arial" pitchFamily="34" charset="-120"/>
              </a:rPr>
              <a:t>SDLC Pipeline + Epics &amp; Stories</a:t>
            </a:r>
            <a:endParaRPr lang="en-US" sz="6900" dirty="0"/>
          </a:p>
        </p:txBody>
      </p:sp>
      <p:sp>
        <p:nvSpPr>
          <p:cNvPr id="12" name="Text 10"/>
          <p:cNvSpPr/>
          <p:nvPr/>
        </p:nvSpPr>
        <p:spPr>
          <a:xfrm>
            <a:off x="1143000" y="5941665"/>
            <a:ext cx="13735050" cy="1323975"/>
          </a:xfrm>
          <a:prstGeom prst="rect">
            <a:avLst/>
          </a:prstGeom>
          <a:noFill/>
          <a:ln/>
        </p:spPr>
        <p:txBody>
          <a:bodyPr wrap="square" lIns="25400" tIns="25400" rIns="25400" bIns="25400" rtlCol="0" anchor="t">
            <a:normAutofit/>
          </a:bodyPr>
          <a:lstStyle/>
          <a:p>
            <a:pPr marL="0" indent="0" algn="l">
              <a:lnSpc>
                <a:spcPct val="93750"/>
              </a:lnSpc>
              <a:buNone/>
            </a:pPr>
            <a:r>
              <a:rPr lang="en-US" sz="2250" dirty="0">
                <a:solidFill>
                  <a:srgbClr val="FFFFFF"/>
                </a:solidFill>
                <a:latin typeface="Khula" pitchFamily="34" charset="0"/>
                <a:ea typeface="Khula" pitchFamily="34" charset="-122"/>
                <a:cs typeface="Khula" pitchFamily="34" charset="-120"/>
              </a:rPr>
              <a:t>Today you'll see the full SDLC pipeline you'll build over the next 3 sessions, learn what makes AI work possible — Prompt, Harness, and Model — and build your first skill: epics-and-stories, the foundation everything downstream depends on.</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33500" y="2833688"/>
            <a:ext cx="3473500" cy="533400"/>
          </a:xfrm>
          <a:prstGeom prst="roundRect">
            <a:avLst>
              <a:gd name="adj" fmla="val 50000"/>
            </a:avLst>
          </a:prstGeom>
          <a:solidFill>
            <a:srgbClr val="F5BB41"/>
          </a:solidFill>
          <a:ln/>
        </p:spPr>
        <p:txBody>
          <a:bodyPr/>
          <a:lstStyle/>
          <a:p>
            <a:endParaRPr lang="en-US"/>
          </a:p>
        </p:txBody>
      </p:sp>
      <p:sp>
        <p:nvSpPr>
          <p:cNvPr id="3" name="Text 1"/>
          <p:cNvSpPr/>
          <p:nvPr/>
        </p:nvSpPr>
        <p:spPr>
          <a:xfrm>
            <a:off x="1581150" y="2928938"/>
            <a:ext cx="3082405" cy="381000"/>
          </a:xfrm>
          <a:prstGeom prst="rect">
            <a:avLst/>
          </a:prstGeom>
          <a:noFill/>
          <a:ln/>
        </p:spPr>
        <p:txBody>
          <a:bodyPr wrap="none" lIns="25400" tIns="25400" rIns="25400" bIns="25400" rtlCol="0" anchor="ctr">
            <a:normAutofit/>
          </a:bodyPr>
          <a:lstStyle/>
          <a:p>
            <a:pPr marL="0" indent="0" algn="l">
              <a:lnSpc>
                <a:spcPct val="128571"/>
              </a:lnSpc>
              <a:buNone/>
            </a:pPr>
            <a:r>
              <a:rPr lang="en-US" sz="1800" b="1" kern="0" spc="108" dirty="0">
                <a:solidFill>
                  <a:srgbClr val="0E1A26"/>
                </a:solidFill>
                <a:latin typeface="Arial" pitchFamily="34" charset="0"/>
                <a:ea typeface="Arial" pitchFamily="34" charset="-122"/>
                <a:cs typeface="Arial" pitchFamily="34" charset="-120"/>
              </a:rPr>
              <a:t>SLIDE TYPE — CHECK-IN</a:t>
            </a:r>
            <a:endParaRPr lang="en-US" sz="1800" dirty="0"/>
          </a:p>
        </p:txBody>
      </p:sp>
      <p:sp>
        <p:nvSpPr>
          <p:cNvPr id="4" name="Text 2"/>
          <p:cNvSpPr/>
          <p:nvPr/>
        </p:nvSpPr>
        <p:spPr>
          <a:xfrm>
            <a:off x="1333500" y="3786188"/>
            <a:ext cx="17183100" cy="381000"/>
          </a:xfrm>
          <a:prstGeom prst="rect">
            <a:avLst/>
          </a:prstGeom>
          <a:noFill/>
          <a:ln/>
        </p:spPr>
        <p:txBody>
          <a:bodyPr wrap="square" lIns="25400" tIns="25400" rIns="25400" bIns="25400" rtlCol="0" anchor="t">
            <a:normAutofit/>
          </a:bodyPr>
          <a:lstStyle/>
          <a:p>
            <a:pPr marL="0" indent="0" algn="l">
              <a:lnSpc>
                <a:spcPct val="128571"/>
              </a:lnSpc>
              <a:buNone/>
            </a:pPr>
            <a:r>
              <a:rPr lang="en-US" sz="1800" b="1" kern="0" spc="108" dirty="0">
                <a:solidFill>
                  <a:srgbClr val="4597D3"/>
                </a:solidFill>
                <a:latin typeface="Arial" pitchFamily="34" charset="0"/>
                <a:ea typeface="Arial" pitchFamily="34" charset="-122"/>
                <a:cs typeface="Arial" pitchFamily="34" charset="-120"/>
              </a:rPr>
              <a:t>CHECK-IN</a:t>
            </a:r>
            <a:endParaRPr lang="en-US" sz="1800" dirty="0"/>
          </a:p>
        </p:txBody>
      </p:sp>
      <p:sp>
        <p:nvSpPr>
          <p:cNvPr id="5" name="Text 3"/>
          <p:cNvSpPr/>
          <p:nvPr/>
        </p:nvSpPr>
        <p:spPr>
          <a:xfrm>
            <a:off x="1333500" y="4319588"/>
            <a:ext cx="16089630" cy="1323975"/>
          </a:xfrm>
          <a:prstGeom prst="rect">
            <a:avLst/>
          </a:prstGeom>
          <a:noFill/>
          <a:ln/>
        </p:spPr>
        <p:txBody>
          <a:bodyPr wrap="square" lIns="25400" tIns="25400" rIns="25400" bIns="25400" rtlCol="0" anchor="t">
            <a:normAutofit lnSpcReduction="10000"/>
          </a:bodyPr>
          <a:lstStyle/>
          <a:p>
            <a:pPr marL="0" indent="0" algn="l">
              <a:lnSpc>
                <a:spcPct val="108871"/>
              </a:lnSpc>
              <a:buNone/>
            </a:pPr>
            <a:r>
              <a:rPr lang="en-US" sz="4050" b="1" kern="0" spc="-81" dirty="0">
                <a:solidFill>
                  <a:srgbClr val="005596"/>
                </a:solidFill>
                <a:latin typeface="Arial" pitchFamily="34" charset="0"/>
                <a:ea typeface="Arial" pitchFamily="34" charset="-122"/>
                <a:cs typeface="Arial" pitchFamily="34" charset="-120"/>
              </a:rPr>
              <a:t>Before we start: when you use AI today, what exactly are you using? Where does the AI end and your tool begin?</a:t>
            </a:r>
            <a:endParaRPr lang="en-US" sz="4050" dirty="0"/>
          </a:p>
        </p:txBody>
      </p:sp>
      <p:sp>
        <p:nvSpPr>
          <p:cNvPr id="6" name="Shape 4"/>
          <p:cNvSpPr/>
          <p:nvPr/>
        </p:nvSpPr>
        <p:spPr>
          <a:xfrm>
            <a:off x="1333500" y="6024563"/>
            <a:ext cx="14173200" cy="1428750"/>
          </a:xfrm>
          <a:prstGeom prst="roundRect">
            <a:avLst>
              <a:gd name="adj" fmla="val 10667"/>
            </a:avLst>
          </a:prstGeom>
          <a:solidFill>
            <a:srgbClr val="F4F7FA"/>
          </a:solidFill>
          <a:ln/>
        </p:spPr>
        <p:txBody>
          <a:bodyPr/>
          <a:lstStyle/>
          <a:p>
            <a:endParaRPr lang="en-US"/>
          </a:p>
        </p:txBody>
      </p:sp>
      <p:sp>
        <p:nvSpPr>
          <p:cNvPr id="7" name="Text 5"/>
          <p:cNvSpPr/>
          <p:nvPr/>
        </p:nvSpPr>
        <p:spPr>
          <a:xfrm>
            <a:off x="1752600" y="6367463"/>
            <a:ext cx="13735050" cy="781050"/>
          </a:xfrm>
          <a:prstGeom prst="rect">
            <a:avLst/>
          </a:prstGeom>
          <a:noFill/>
          <a:ln/>
        </p:spPr>
        <p:txBody>
          <a:bodyPr wrap="square" lIns="25400" tIns="25400" rIns="25400" bIns="25400" rtlCol="0" anchor="t">
            <a:normAutofit/>
          </a:bodyPr>
          <a:lstStyle/>
          <a:p>
            <a:pPr marL="0" indent="0" algn="l">
              <a:lnSpc>
                <a:spcPct val="92857"/>
              </a:lnSpc>
              <a:buNone/>
            </a:pPr>
            <a:r>
              <a:rPr lang="en-US" sz="1950" dirty="0">
                <a:solidFill>
                  <a:srgbClr val="0E1A26"/>
                </a:solidFill>
                <a:latin typeface="Khula" pitchFamily="34" charset="0"/>
                <a:ea typeface="Khula" pitchFamily="34" charset="-122"/>
                <a:cs typeface="Khula" pitchFamily="34" charset="-120"/>
              </a:rPr>
              <a:t>Think about what the AI can and cannot do on your machine. Discussion prompt — instructor asks, participants answer live. Not rhetorical.</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3000" y="857250"/>
            <a:ext cx="4156621" cy="533400"/>
          </a:xfrm>
          <a:prstGeom prst="roundRect">
            <a:avLst>
              <a:gd name="adj" fmla="val 50000"/>
            </a:avLst>
          </a:prstGeom>
          <a:solidFill>
            <a:srgbClr val="9D1D96"/>
          </a:solidFill>
          <a:ln/>
        </p:spPr>
        <p:txBody>
          <a:bodyPr/>
          <a:lstStyle/>
          <a:p>
            <a:endParaRPr lang="en-US"/>
          </a:p>
        </p:txBody>
      </p:sp>
      <p:sp>
        <p:nvSpPr>
          <p:cNvPr id="3" name="Text 1"/>
          <p:cNvSpPr/>
          <p:nvPr/>
        </p:nvSpPr>
        <p:spPr>
          <a:xfrm>
            <a:off x="1390650" y="952500"/>
            <a:ext cx="3786019"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733550"/>
            <a:ext cx="17602200" cy="561975"/>
          </a:xfrm>
          <a:prstGeom prst="rect">
            <a:avLst/>
          </a:prstGeom>
          <a:noFill/>
          <a:ln/>
        </p:spPr>
        <p:txBody>
          <a:bodyPr wrap="square" lIns="25400" tIns="25400" rIns="25400" bIns="25400" rtlCol="0" anchor="t">
            <a:normAutofit/>
          </a:bodyPr>
          <a:lstStyle/>
          <a:p>
            <a:pPr marL="0" indent="0" algn="l">
              <a:lnSpc>
                <a:spcPct val="72368"/>
              </a:lnSpc>
              <a:buNone/>
            </a:pPr>
            <a:r>
              <a:rPr lang="en-US" sz="3750" b="1" kern="0" spc="-75" dirty="0">
                <a:solidFill>
                  <a:srgbClr val="005596"/>
                </a:solidFill>
                <a:latin typeface="Poppins" pitchFamily="34" charset="0"/>
                <a:ea typeface="Poppins" pitchFamily="34" charset="-122"/>
                <a:cs typeface="Poppins" pitchFamily="34" charset="-120"/>
              </a:rPr>
              <a:t>Session Goals </a:t>
            </a:r>
            <a:r>
              <a:rPr lang="en-US" sz="2400" b="1" kern="0" spc="-75" dirty="0">
                <a:solidFill>
                  <a:srgbClr val="005596"/>
                </a:solidFill>
                <a:latin typeface="Poppins" pitchFamily="34" charset="0"/>
                <a:ea typeface="Poppins" pitchFamily="34" charset="-122"/>
                <a:cs typeface="Poppins" pitchFamily="34" charset="-120"/>
              </a:rPr>
              <a:t>(1 of 2)</a:t>
            </a:r>
            <a:endParaRPr lang="en-US" sz="3750" dirty="0"/>
          </a:p>
        </p:txBody>
      </p:sp>
      <p:sp>
        <p:nvSpPr>
          <p:cNvPr id="5" name="Shape 3"/>
          <p:cNvSpPr/>
          <p:nvPr/>
        </p:nvSpPr>
        <p:spPr>
          <a:xfrm>
            <a:off x="1143000" y="2600325"/>
            <a:ext cx="16002000" cy="2196405"/>
          </a:xfrm>
          <a:prstGeom prst="roundRect">
            <a:avLst>
              <a:gd name="adj" fmla="val 6939"/>
            </a:avLst>
          </a:prstGeom>
          <a:solidFill>
            <a:srgbClr val="E3E9EF"/>
          </a:solidFill>
          <a:ln/>
        </p:spPr>
        <p:txBody>
          <a:bodyPr/>
          <a:lstStyle/>
          <a:p>
            <a:endParaRPr lang="en-US"/>
          </a:p>
        </p:txBody>
      </p:sp>
      <p:sp>
        <p:nvSpPr>
          <p:cNvPr id="6" name="Text 4"/>
          <p:cNvSpPr/>
          <p:nvPr/>
        </p:nvSpPr>
        <p:spPr>
          <a:xfrm>
            <a:off x="1409700" y="2771775"/>
            <a:ext cx="17015460" cy="310455"/>
          </a:xfrm>
          <a:prstGeom prst="rect">
            <a:avLst/>
          </a:prstGeom>
          <a:noFill/>
          <a:ln/>
        </p:spPr>
        <p:txBody>
          <a:bodyPr wrap="square" lIns="25400" tIns="25400" rIns="25400" bIns="25400" rtlCol="0" anchor="t">
            <a:normAutofit/>
          </a:bodyPr>
          <a:lstStyle/>
          <a:p>
            <a:pPr marL="0" indent="0" algn="l">
              <a:lnSpc>
                <a:spcPct val="73333"/>
              </a:lnSpc>
              <a:buNone/>
            </a:pPr>
            <a:r>
              <a:rPr lang="en-US" sz="1950" b="1" kern="0" spc="-39" dirty="0">
                <a:solidFill>
                  <a:srgbClr val="0E1A26"/>
                </a:solidFill>
                <a:latin typeface="Poppins" pitchFamily="34" charset="0"/>
                <a:ea typeface="Poppins" pitchFamily="34" charset="-122"/>
                <a:cs typeface="Poppins" pitchFamily="34" charset="-120"/>
              </a:rPr>
              <a:t>Goal 1: </a:t>
            </a:r>
            <a:r>
              <a:rPr lang="en-US" sz="1950" b="1" kern="0" spc="-39" dirty="0">
                <a:solidFill>
                  <a:srgbClr val="4597D3"/>
                </a:solidFill>
                <a:latin typeface="Poppins" pitchFamily="34" charset="0"/>
                <a:ea typeface="Poppins" pitchFamily="34" charset="-122"/>
                <a:cs typeface="Poppins" pitchFamily="34" charset="-120"/>
              </a:rPr>
              <a:t>Understand Prompt, Harness, and Model as distinct concepts</a:t>
            </a:r>
            <a:endParaRPr lang="en-US" sz="1950" dirty="0"/>
          </a:p>
        </p:txBody>
      </p:sp>
      <p:sp>
        <p:nvSpPr>
          <p:cNvPr id="7" name="Shape 5"/>
          <p:cNvSpPr/>
          <p:nvPr/>
        </p:nvSpPr>
        <p:spPr>
          <a:xfrm>
            <a:off x="1409700" y="3139380"/>
            <a:ext cx="5029200" cy="1485900"/>
          </a:xfrm>
          <a:prstGeom prst="roundRect">
            <a:avLst>
              <a:gd name="adj" fmla="val 6410"/>
            </a:avLst>
          </a:prstGeom>
          <a:solidFill>
            <a:srgbClr val="F4F7FA"/>
          </a:solidFill>
          <a:ln/>
        </p:spPr>
        <p:txBody>
          <a:bodyPr/>
          <a:lstStyle/>
          <a:p>
            <a:endParaRPr lang="en-US"/>
          </a:p>
        </p:txBody>
      </p:sp>
      <p:sp>
        <p:nvSpPr>
          <p:cNvPr id="8" name="Text 6"/>
          <p:cNvSpPr/>
          <p:nvPr/>
        </p:nvSpPr>
        <p:spPr>
          <a:xfrm>
            <a:off x="1562100" y="3253680"/>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62100" y="3653730"/>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The AI can only do what your tool allows. The harness determines what context it can see and produce.</a:t>
            </a:r>
            <a:endParaRPr lang="en-US" sz="1800" dirty="0"/>
          </a:p>
        </p:txBody>
      </p:sp>
      <p:sp>
        <p:nvSpPr>
          <p:cNvPr id="10" name="Shape 8"/>
          <p:cNvSpPr/>
          <p:nvPr/>
        </p:nvSpPr>
        <p:spPr>
          <a:xfrm>
            <a:off x="6629400" y="3139380"/>
            <a:ext cx="5029200" cy="1485900"/>
          </a:xfrm>
          <a:prstGeom prst="roundRect">
            <a:avLst>
              <a:gd name="adj" fmla="val 6410"/>
            </a:avLst>
          </a:prstGeom>
          <a:solidFill>
            <a:srgbClr val="F4F7FA"/>
          </a:solidFill>
          <a:ln/>
        </p:spPr>
        <p:txBody>
          <a:bodyPr/>
          <a:lstStyle/>
          <a:p>
            <a:endParaRPr lang="en-US"/>
          </a:p>
        </p:txBody>
      </p:sp>
      <p:sp>
        <p:nvSpPr>
          <p:cNvPr id="11" name="Text 9"/>
          <p:cNvSpPr/>
          <p:nvPr/>
        </p:nvSpPr>
        <p:spPr>
          <a:xfrm>
            <a:off x="6781800" y="3253680"/>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81800" y="3653730"/>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The harness is the capability boundary — what files can be read, commands run, and how output reaches you.</a:t>
            </a:r>
            <a:endParaRPr lang="en-US" sz="1800" dirty="0"/>
          </a:p>
        </p:txBody>
      </p:sp>
      <p:sp>
        <p:nvSpPr>
          <p:cNvPr id="13" name="Shape 11"/>
          <p:cNvSpPr/>
          <p:nvPr/>
        </p:nvSpPr>
        <p:spPr>
          <a:xfrm>
            <a:off x="11849100" y="3139380"/>
            <a:ext cx="5029200" cy="1485900"/>
          </a:xfrm>
          <a:prstGeom prst="roundRect">
            <a:avLst>
              <a:gd name="adj" fmla="val 6410"/>
            </a:avLst>
          </a:prstGeom>
          <a:solidFill>
            <a:srgbClr val="F4F7FA"/>
          </a:solidFill>
          <a:ln/>
        </p:spPr>
        <p:txBody>
          <a:bodyPr/>
          <a:lstStyle/>
          <a:p>
            <a:endParaRPr lang="en-US"/>
          </a:p>
        </p:txBody>
      </p:sp>
      <p:sp>
        <p:nvSpPr>
          <p:cNvPr id="14" name="Text 12"/>
          <p:cNvSpPr/>
          <p:nvPr/>
        </p:nvSpPr>
        <p:spPr>
          <a:xfrm>
            <a:off x="12001500" y="3253680"/>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2001500" y="3653730"/>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The harness mediates everything — evaluation, output, and integration. Review skills work within its boundaries.</a:t>
            </a:r>
            <a:endParaRPr lang="en-US" sz="1800" dirty="0"/>
          </a:p>
        </p:txBody>
      </p:sp>
      <p:sp>
        <p:nvSpPr>
          <p:cNvPr id="16" name="Shape 14"/>
          <p:cNvSpPr/>
          <p:nvPr/>
        </p:nvSpPr>
        <p:spPr>
          <a:xfrm>
            <a:off x="1143000" y="5044380"/>
            <a:ext cx="16002000" cy="1910655"/>
          </a:xfrm>
          <a:prstGeom prst="roundRect">
            <a:avLst>
              <a:gd name="adj" fmla="val 7976"/>
            </a:avLst>
          </a:prstGeom>
          <a:solidFill>
            <a:srgbClr val="E3E9EF"/>
          </a:solidFill>
          <a:ln/>
        </p:spPr>
        <p:txBody>
          <a:bodyPr/>
          <a:lstStyle/>
          <a:p>
            <a:endParaRPr lang="en-US"/>
          </a:p>
        </p:txBody>
      </p:sp>
      <p:sp>
        <p:nvSpPr>
          <p:cNvPr id="17" name="Text 15"/>
          <p:cNvSpPr/>
          <p:nvPr/>
        </p:nvSpPr>
        <p:spPr>
          <a:xfrm>
            <a:off x="1409700" y="5215830"/>
            <a:ext cx="17015460" cy="310455"/>
          </a:xfrm>
          <a:prstGeom prst="rect">
            <a:avLst/>
          </a:prstGeom>
          <a:noFill/>
          <a:ln/>
        </p:spPr>
        <p:txBody>
          <a:bodyPr wrap="square" lIns="25400" tIns="25400" rIns="25400" bIns="25400" rtlCol="0" anchor="t">
            <a:normAutofit/>
          </a:bodyPr>
          <a:lstStyle/>
          <a:p>
            <a:pPr marL="0" indent="0" algn="l">
              <a:lnSpc>
                <a:spcPct val="73333"/>
              </a:lnSpc>
              <a:buNone/>
            </a:pPr>
            <a:r>
              <a:rPr lang="en-US" sz="1950" b="1" kern="0" spc="-39" dirty="0">
                <a:solidFill>
                  <a:srgbClr val="0E1A26"/>
                </a:solidFill>
                <a:latin typeface="Poppins" pitchFamily="34" charset="0"/>
                <a:ea typeface="Poppins" pitchFamily="34" charset="-122"/>
                <a:cs typeface="Poppins" pitchFamily="34" charset="-120"/>
              </a:rPr>
              <a:t>Goal 2: </a:t>
            </a:r>
            <a:r>
              <a:rPr lang="en-US" sz="1950" b="1" kern="0" spc="-39" dirty="0">
                <a:solidFill>
                  <a:srgbClr val="4597D3"/>
                </a:solidFill>
                <a:latin typeface="Poppins" pitchFamily="34" charset="0"/>
                <a:ea typeface="Poppins" pitchFamily="34" charset="-122"/>
                <a:cs typeface="Poppins" pitchFamily="34" charset="-120"/>
              </a:rPr>
              <a:t>See the full SDLC pipeline and understand the 7 skeleton skills</a:t>
            </a:r>
            <a:endParaRPr lang="en-US" sz="1950" dirty="0"/>
          </a:p>
        </p:txBody>
      </p:sp>
      <p:sp>
        <p:nvSpPr>
          <p:cNvPr id="18" name="Shape 16"/>
          <p:cNvSpPr/>
          <p:nvPr/>
        </p:nvSpPr>
        <p:spPr>
          <a:xfrm>
            <a:off x="1409700" y="5583436"/>
            <a:ext cx="5029200" cy="1200150"/>
          </a:xfrm>
          <a:prstGeom prst="roundRect">
            <a:avLst>
              <a:gd name="adj" fmla="val 7937"/>
            </a:avLst>
          </a:prstGeom>
          <a:solidFill>
            <a:srgbClr val="F4F7FA"/>
          </a:solidFill>
          <a:ln/>
        </p:spPr>
        <p:txBody>
          <a:bodyPr/>
          <a:lstStyle/>
          <a:p>
            <a:endParaRPr lang="en-US"/>
          </a:p>
        </p:txBody>
      </p:sp>
      <p:sp>
        <p:nvSpPr>
          <p:cNvPr id="19" name="Text 17"/>
          <p:cNvSpPr/>
          <p:nvPr/>
        </p:nvSpPr>
        <p:spPr>
          <a:xfrm>
            <a:off x="1562100" y="5697736"/>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62100" y="6097786"/>
            <a:ext cx="4866132" cy="60960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You'll see demo PRD, Architecture, and UX outputs feeding your epics-and-stories skill.</a:t>
            </a:r>
            <a:endParaRPr lang="en-US" sz="1800" dirty="0"/>
          </a:p>
        </p:txBody>
      </p:sp>
      <p:sp>
        <p:nvSpPr>
          <p:cNvPr id="21" name="Shape 19"/>
          <p:cNvSpPr/>
          <p:nvPr/>
        </p:nvSpPr>
        <p:spPr>
          <a:xfrm>
            <a:off x="6629400" y="5583436"/>
            <a:ext cx="5029200" cy="1200150"/>
          </a:xfrm>
          <a:prstGeom prst="roundRect">
            <a:avLst>
              <a:gd name="adj" fmla="val 7937"/>
            </a:avLst>
          </a:prstGeom>
          <a:solidFill>
            <a:srgbClr val="F4F7FA"/>
          </a:solidFill>
          <a:ln/>
        </p:spPr>
        <p:txBody>
          <a:bodyPr/>
          <a:lstStyle/>
          <a:p>
            <a:endParaRPr lang="en-US"/>
          </a:p>
        </p:txBody>
      </p:sp>
      <p:sp>
        <p:nvSpPr>
          <p:cNvPr id="22" name="Text 20"/>
          <p:cNvSpPr/>
          <p:nvPr/>
        </p:nvSpPr>
        <p:spPr>
          <a:xfrm>
            <a:off x="6781800" y="5697736"/>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81800" y="6097786"/>
            <a:ext cx="4866132" cy="60960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You'll see where Plan and Code (Session 2) fit. The epics-and-stories output is your input.</a:t>
            </a:r>
            <a:endParaRPr lang="en-US" sz="1800" dirty="0"/>
          </a:p>
        </p:txBody>
      </p:sp>
      <p:sp>
        <p:nvSpPr>
          <p:cNvPr id="24" name="Shape 22"/>
          <p:cNvSpPr/>
          <p:nvPr/>
        </p:nvSpPr>
        <p:spPr>
          <a:xfrm>
            <a:off x="11849100" y="5583436"/>
            <a:ext cx="5029200" cy="1200150"/>
          </a:xfrm>
          <a:prstGeom prst="roundRect">
            <a:avLst>
              <a:gd name="adj" fmla="val 7937"/>
            </a:avLst>
          </a:prstGeom>
          <a:solidFill>
            <a:srgbClr val="F4F7FA"/>
          </a:solidFill>
          <a:ln/>
        </p:spPr>
        <p:txBody>
          <a:bodyPr/>
          <a:lstStyle/>
          <a:p>
            <a:endParaRPr lang="en-US"/>
          </a:p>
        </p:txBody>
      </p:sp>
      <p:sp>
        <p:nvSpPr>
          <p:cNvPr id="25" name="Text 23"/>
          <p:cNvSpPr/>
          <p:nvPr/>
        </p:nvSpPr>
        <p:spPr>
          <a:xfrm>
            <a:off x="12001500" y="5697736"/>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2001500" y="6097786"/>
            <a:ext cx="4866132" cy="60960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You'll see where Review (Session 3) fits — the pipeline ends with your domain.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3000" y="857250"/>
            <a:ext cx="4156621" cy="533400"/>
          </a:xfrm>
          <a:prstGeom prst="roundRect">
            <a:avLst>
              <a:gd name="adj" fmla="val 50000"/>
            </a:avLst>
          </a:prstGeom>
          <a:solidFill>
            <a:srgbClr val="9D1D96"/>
          </a:solidFill>
          <a:ln/>
        </p:spPr>
        <p:txBody>
          <a:bodyPr/>
          <a:lstStyle/>
          <a:p>
            <a:endParaRPr lang="en-US"/>
          </a:p>
        </p:txBody>
      </p:sp>
      <p:sp>
        <p:nvSpPr>
          <p:cNvPr id="3" name="Text 1"/>
          <p:cNvSpPr/>
          <p:nvPr/>
        </p:nvSpPr>
        <p:spPr>
          <a:xfrm>
            <a:off x="1390650" y="952500"/>
            <a:ext cx="3786019"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733550"/>
            <a:ext cx="17602200" cy="561975"/>
          </a:xfrm>
          <a:prstGeom prst="rect">
            <a:avLst/>
          </a:prstGeom>
          <a:noFill/>
          <a:ln/>
        </p:spPr>
        <p:txBody>
          <a:bodyPr wrap="square" lIns="25400" tIns="25400" rIns="25400" bIns="25400" rtlCol="0" anchor="t">
            <a:normAutofit/>
          </a:bodyPr>
          <a:lstStyle/>
          <a:p>
            <a:pPr marL="0" indent="0" algn="l">
              <a:lnSpc>
                <a:spcPct val="72368"/>
              </a:lnSpc>
              <a:buNone/>
            </a:pPr>
            <a:r>
              <a:rPr lang="en-US" sz="3750" b="1" kern="0" spc="-75" dirty="0">
                <a:solidFill>
                  <a:srgbClr val="005596"/>
                </a:solidFill>
                <a:latin typeface="Poppins" pitchFamily="34" charset="0"/>
                <a:ea typeface="Poppins" pitchFamily="34" charset="-122"/>
                <a:cs typeface="Poppins" pitchFamily="34" charset="-120"/>
              </a:rPr>
              <a:t>Session Goals </a:t>
            </a:r>
            <a:r>
              <a:rPr lang="en-US" sz="2400" b="1" kern="0" spc="-75" dirty="0">
                <a:solidFill>
                  <a:srgbClr val="005596"/>
                </a:solidFill>
                <a:latin typeface="Poppins" pitchFamily="34" charset="0"/>
                <a:ea typeface="Poppins" pitchFamily="34" charset="-122"/>
                <a:cs typeface="Poppins" pitchFamily="34" charset="-120"/>
              </a:rPr>
              <a:t>(2 of 2)</a:t>
            </a:r>
            <a:endParaRPr lang="en-US" sz="3750" dirty="0"/>
          </a:p>
        </p:txBody>
      </p:sp>
      <p:sp>
        <p:nvSpPr>
          <p:cNvPr id="5" name="Shape 3"/>
          <p:cNvSpPr/>
          <p:nvPr/>
        </p:nvSpPr>
        <p:spPr>
          <a:xfrm>
            <a:off x="1143000" y="2600325"/>
            <a:ext cx="16002000" cy="2196405"/>
          </a:xfrm>
          <a:prstGeom prst="roundRect">
            <a:avLst>
              <a:gd name="adj" fmla="val 6939"/>
            </a:avLst>
          </a:prstGeom>
          <a:solidFill>
            <a:srgbClr val="E3E9EF"/>
          </a:solidFill>
          <a:ln/>
        </p:spPr>
        <p:txBody>
          <a:bodyPr/>
          <a:lstStyle/>
          <a:p>
            <a:endParaRPr lang="en-US"/>
          </a:p>
        </p:txBody>
      </p:sp>
      <p:sp>
        <p:nvSpPr>
          <p:cNvPr id="6" name="Text 4"/>
          <p:cNvSpPr/>
          <p:nvPr/>
        </p:nvSpPr>
        <p:spPr>
          <a:xfrm>
            <a:off x="1409700" y="2771775"/>
            <a:ext cx="17015460" cy="310455"/>
          </a:xfrm>
          <a:prstGeom prst="rect">
            <a:avLst/>
          </a:prstGeom>
          <a:noFill/>
          <a:ln/>
        </p:spPr>
        <p:txBody>
          <a:bodyPr wrap="square" lIns="25400" tIns="25400" rIns="25400" bIns="25400" rtlCol="0" anchor="t">
            <a:normAutofit/>
          </a:bodyPr>
          <a:lstStyle/>
          <a:p>
            <a:pPr marL="0" indent="0" algn="l">
              <a:lnSpc>
                <a:spcPct val="73333"/>
              </a:lnSpc>
              <a:buNone/>
            </a:pPr>
            <a:r>
              <a:rPr lang="en-US" sz="1950" b="1" kern="0" spc="-39" dirty="0">
                <a:solidFill>
                  <a:srgbClr val="0E1A26"/>
                </a:solidFill>
                <a:latin typeface="Poppins" pitchFamily="34" charset="0"/>
                <a:ea typeface="Poppins" pitchFamily="34" charset="-122"/>
                <a:cs typeface="Poppins" pitchFamily="34" charset="-120"/>
              </a:rPr>
              <a:t>Goal 3: </a:t>
            </a:r>
            <a:r>
              <a:rPr lang="en-US" sz="1950" b="1" kern="0" spc="-39" dirty="0">
                <a:solidFill>
                  <a:srgbClr val="4597D3"/>
                </a:solidFill>
                <a:latin typeface="Poppins" pitchFamily="34" charset="0"/>
                <a:ea typeface="Poppins" pitchFamily="34" charset="-122"/>
                <a:cs typeface="Poppins" pitchFamily="34" charset="-120"/>
              </a:rPr>
              <a:t>Build the epics-and-stories skill using RTCC and EDD</a:t>
            </a:r>
            <a:endParaRPr lang="en-US" sz="1950" dirty="0"/>
          </a:p>
        </p:txBody>
      </p:sp>
      <p:sp>
        <p:nvSpPr>
          <p:cNvPr id="7" name="Shape 5"/>
          <p:cNvSpPr/>
          <p:nvPr/>
        </p:nvSpPr>
        <p:spPr>
          <a:xfrm>
            <a:off x="1409700" y="3139380"/>
            <a:ext cx="5029200" cy="1485900"/>
          </a:xfrm>
          <a:prstGeom prst="roundRect">
            <a:avLst>
              <a:gd name="adj" fmla="val 6410"/>
            </a:avLst>
          </a:prstGeom>
          <a:solidFill>
            <a:srgbClr val="F4F7FA"/>
          </a:solidFill>
          <a:ln/>
        </p:spPr>
        <p:txBody>
          <a:bodyPr/>
          <a:lstStyle/>
          <a:p>
            <a:endParaRPr lang="en-US"/>
          </a:p>
        </p:txBody>
      </p:sp>
      <p:sp>
        <p:nvSpPr>
          <p:cNvPr id="8" name="Text 6"/>
          <p:cNvSpPr/>
          <p:nvPr/>
        </p:nvSpPr>
        <p:spPr>
          <a:xfrm>
            <a:off x="1562100" y="3253680"/>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62100" y="3653730"/>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Your primary artifact. Add Context (WHY) and Constraints (HOW) to the RT-only skeleton, and iterate for 12 weeks.</a:t>
            </a:r>
            <a:endParaRPr lang="en-US" sz="1800" dirty="0"/>
          </a:p>
        </p:txBody>
      </p:sp>
      <p:sp>
        <p:nvSpPr>
          <p:cNvPr id="10" name="Shape 8"/>
          <p:cNvSpPr/>
          <p:nvPr/>
        </p:nvSpPr>
        <p:spPr>
          <a:xfrm>
            <a:off x="6629400" y="3139380"/>
            <a:ext cx="5029200" cy="1485900"/>
          </a:xfrm>
          <a:prstGeom prst="roundRect">
            <a:avLst>
              <a:gd name="adj" fmla="val 6410"/>
            </a:avLst>
          </a:prstGeom>
          <a:solidFill>
            <a:srgbClr val="F4F7FA"/>
          </a:solidFill>
          <a:ln/>
        </p:spPr>
        <p:txBody>
          <a:bodyPr/>
          <a:lstStyle/>
          <a:p>
            <a:endParaRPr lang="en-US"/>
          </a:p>
        </p:txBody>
      </p:sp>
      <p:sp>
        <p:nvSpPr>
          <p:cNvPr id="11" name="Text 9"/>
          <p:cNvSpPr/>
          <p:nvPr/>
        </p:nvSpPr>
        <p:spPr>
          <a:xfrm>
            <a:off x="6781800" y="3253680"/>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81800" y="3653730"/>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Understanding how stories are generated makes you a better consumer of them when planning and coding.</a:t>
            </a:r>
            <a:endParaRPr lang="en-US" sz="1800" dirty="0"/>
          </a:p>
        </p:txBody>
      </p:sp>
      <p:sp>
        <p:nvSpPr>
          <p:cNvPr id="13" name="Shape 11"/>
          <p:cNvSpPr/>
          <p:nvPr/>
        </p:nvSpPr>
        <p:spPr>
          <a:xfrm>
            <a:off x="11849100" y="3139380"/>
            <a:ext cx="5029200" cy="1485900"/>
          </a:xfrm>
          <a:prstGeom prst="roundRect">
            <a:avLst>
              <a:gd name="adj" fmla="val 6410"/>
            </a:avLst>
          </a:prstGeom>
          <a:solidFill>
            <a:srgbClr val="F4F7FA"/>
          </a:solidFill>
          <a:ln/>
        </p:spPr>
        <p:txBody>
          <a:bodyPr/>
          <a:lstStyle/>
          <a:p>
            <a:endParaRPr lang="en-US"/>
          </a:p>
        </p:txBody>
      </p:sp>
      <p:sp>
        <p:nvSpPr>
          <p:cNvPr id="14" name="Text 12"/>
          <p:cNvSpPr/>
          <p:nvPr/>
        </p:nvSpPr>
        <p:spPr>
          <a:xfrm>
            <a:off x="12001500" y="3253680"/>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2001500" y="3653730"/>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Understanding how stories are generated tells you what to look for when reviewing implementations.</a:t>
            </a:r>
            <a:endParaRPr lang="en-US" sz="1800" dirty="0"/>
          </a:p>
        </p:txBody>
      </p:sp>
      <p:sp>
        <p:nvSpPr>
          <p:cNvPr id="16" name="Shape 14"/>
          <p:cNvSpPr/>
          <p:nvPr/>
        </p:nvSpPr>
        <p:spPr>
          <a:xfrm>
            <a:off x="1143000" y="5044380"/>
            <a:ext cx="16002000" cy="2196405"/>
          </a:xfrm>
          <a:prstGeom prst="roundRect">
            <a:avLst>
              <a:gd name="adj" fmla="val 6939"/>
            </a:avLst>
          </a:prstGeom>
          <a:solidFill>
            <a:srgbClr val="E3E9EF"/>
          </a:solidFill>
          <a:ln/>
        </p:spPr>
        <p:txBody>
          <a:bodyPr/>
          <a:lstStyle/>
          <a:p>
            <a:endParaRPr lang="en-US"/>
          </a:p>
        </p:txBody>
      </p:sp>
      <p:sp>
        <p:nvSpPr>
          <p:cNvPr id="17" name="Text 15"/>
          <p:cNvSpPr/>
          <p:nvPr/>
        </p:nvSpPr>
        <p:spPr>
          <a:xfrm>
            <a:off x="1409700" y="5215830"/>
            <a:ext cx="17015460" cy="310455"/>
          </a:xfrm>
          <a:prstGeom prst="rect">
            <a:avLst/>
          </a:prstGeom>
          <a:noFill/>
          <a:ln/>
        </p:spPr>
        <p:txBody>
          <a:bodyPr wrap="square" lIns="25400" tIns="25400" rIns="25400" bIns="25400" rtlCol="0" anchor="t">
            <a:normAutofit/>
          </a:bodyPr>
          <a:lstStyle/>
          <a:p>
            <a:pPr marL="0" indent="0" algn="l">
              <a:lnSpc>
                <a:spcPct val="73333"/>
              </a:lnSpc>
              <a:buNone/>
            </a:pPr>
            <a:r>
              <a:rPr lang="en-US" sz="1950" b="1" kern="0" spc="-39" dirty="0">
                <a:solidFill>
                  <a:srgbClr val="0E1A26"/>
                </a:solidFill>
                <a:latin typeface="Poppins" pitchFamily="34" charset="0"/>
                <a:ea typeface="Poppins" pitchFamily="34" charset="-122"/>
                <a:cs typeface="Poppins" pitchFamily="34" charset="-120"/>
              </a:rPr>
              <a:t>Goal 4: </a:t>
            </a:r>
            <a:r>
              <a:rPr lang="en-US" sz="1950" b="1" kern="0" spc="-39" dirty="0">
                <a:solidFill>
                  <a:srgbClr val="4597D3"/>
                </a:solidFill>
                <a:latin typeface="Poppins" pitchFamily="34" charset="0"/>
                <a:ea typeface="Poppins" pitchFamily="34" charset="-122"/>
                <a:cs typeface="Poppins" pitchFamily="34" charset="-120"/>
              </a:rPr>
              <a:t>Write Evaluation Criteria (EC) before building the skill</a:t>
            </a:r>
            <a:endParaRPr lang="en-US" sz="1950" dirty="0"/>
          </a:p>
        </p:txBody>
      </p:sp>
      <p:sp>
        <p:nvSpPr>
          <p:cNvPr id="18" name="Shape 16"/>
          <p:cNvSpPr/>
          <p:nvPr/>
        </p:nvSpPr>
        <p:spPr>
          <a:xfrm>
            <a:off x="1409700" y="5583436"/>
            <a:ext cx="5029200" cy="1485900"/>
          </a:xfrm>
          <a:prstGeom prst="roundRect">
            <a:avLst>
              <a:gd name="adj" fmla="val 6410"/>
            </a:avLst>
          </a:prstGeom>
          <a:solidFill>
            <a:srgbClr val="F4F7FA"/>
          </a:solidFill>
          <a:ln/>
        </p:spPr>
        <p:txBody>
          <a:bodyPr/>
          <a:lstStyle/>
          <a:p>
            <a:endParaRPr lang="en-US"/>
          </a:p>
        </p:txBody>
      </p:sp>
      <p:sp>
        <p:nvSpPr>
          <p:cNvPr id="19" name="Text 17"/>
          <p:cNvSpPr/>
          <p:nvPr/>
        </p:nvSpPr>
        <p:spPr>
          <a:xfrm>
            <a:off x="1562100" y="5697736"/>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62100" y="6097786"/>
            <a:ext cx="4866132" cy="89535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Your EC define good output. NOT the same as Acceptance Criteria (AC) inside stories — EC grades the skill; AC is what a story must satisfy.</a:t>
            </a:r>
            <a:endParaRPr lang="en-US" sz="1800" dirty="0"/>
          </a:p>
        </p:txBody>
      </p:sp>
      <p:sp>
        <p:nvSpPr>
          <p:cNvPr id="21" name="Shape 19"/>
          <p:cNvSpPr/>
          <p:nvPr/>
        </p:nvSpPr>
        <p:spPr>
          <a:xfrm>
            <a:off x="6629400" y="5583436"/>
            <a:ext cx="5029200" cy="1485900"/>
          </a:xfrm>
          <a:prstGeom prst="roundRect">
            <a:avLst>
              <a:gd name="adj" fmla="val 6410"/>
            </a:avLst>
          </a:prstGeom>
          <a:solidFill>
            <a:srgbClr val="F4F7FA"/>
          </a:solidFill>
          <a:ln/>
        </p:spPr>
        <p:txBody>
          <a:bodyPr/>
          <a:lstStyle/>
          <a:p>
            <a:endParaRPr lang="en-US"/>
          </a:p>
        </p:txBody>
      </p:sp>
      <p:sp>
        <p:nvSpPr>
          <p:cNvPr id="22" name="Text 20"/>
          <p:cNvSpPr/>
          <p:nvPr/>
        </p:nvSpPr>
        <p:spPr>
          <a:xfrm>
            <a:off x="6781800" y="5697736"/>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81800" y="6097786"/>
            <a:ext cx="4866132" cy="60960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Seeing how EC is written teaches the discipline you'll apply to Plan and Code in Session 2.</a:t>
            </a:r>
            <a:endParaRPr lang="en-US" sz="1800" dirty="0"/>
          </a:p>
        </p:txBody>
      </p:sp>
      <p:sp>
        <p:nvSpPr>
          <p:cNvPr id="24" name="Shape 22"/>
          <p:cNvSpPr/>
          <p:nvPr/>
        </p:nvSpPr>
        <p:spPr>
          <a:xfrm>
            <a:off x="11849100" y="5583436"/>
            <a:ext cx="5029200" cy="1485900"/>
          </a:xfrm>
          <a:prstGeom prst="roundRect">
            <a:avLst>
              <a:gd name="adj" fmla="val 6410"/>
            </a:avLst>
          </a:prstGeom>
          <a:solidFill>
            <a:srgbClr val="F4F7FA"/>
          </a:solidFill>
          <a:ln/>
        </p:spPr>
        <p:txBody>
          <a:bodyPr/>
          <a:lstStyle/>
          <a:p>
            <a:endParaRPr lang="en-US"/>
          </a:p>
        </p:txBody>
      </p:sp>
      <p:sp>
        <p:nvSpPr>
          <p:cNvPr id="25" name="Text 23"/>
          <p:cNvSpPr/>
          <p:nvPr/>
        </p:nvSpPr>
        <p:spPr>
          <a:xfrm>
            <a:off x="12001500" y="5697736"/>
            <a:ext cx="519684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72"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2001500" y="6097786"/>
            <a:ext cx="4866132" cy="609600"/>
          </a:xfrm>
          <a:prstGeom prst="rect">
            <a:avLst/>
          </a:prstGeom>
          <a:noFill/>
          <a:ln/>
        </p:spPr>
        <p:txBody>
          <a:bodyPr wrap="square" lIns="25400" tIns="25400" rIns="25400" bIns="25400" rtlCol="0" anchor="t">
            <a:normAutofit/>
          </a:bodyPr>
          <a:lstStyle/>
          <a:p>
            <a:pPr marL="0" indent="0" algn="l">
              <a:lnSpc>
                <a:spcPct val="76923"/>
              </a:lnSpc>
              <a:buNone/>
            </a:pPr>
            <a:r>
              <a:rPr lang="en-US" sz="1800" dirty="0">
                <a:solidFill>
                  <a:srgbClr val="0E1A26"/>
                </a:solidFill>
                <a:latin typeface="Khula" pitchFamily="34" charset="0"/>
                <a:ea typeface="Khula" pitchFamily="34" charset="-122"/>
                <a:cs typeface="Khula" pitchFamily="34" charset="-120"/>
              </a:rPr>
              <a:t>This is the EC pattern you'll follow for your review skill in Session 3.</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483346"/>
            <a:ext cx="3265289" cy="533400"/>
          </a:xfrm>
          <a:prstGeom prst="roundRect">
            <a:avLst>
              <a:gd name="adj" fmla="val 50000"/>
            </a:avLst>
          </a:prstGeom>
          <a:solidFill>
            <a:srgbClr val="005596"/>
          </a:solidFill>
          <a:ln/>
        </p:spPr>
        <p:txBody>
          <a:bodyPr/>
          <a:lstStyle/>
          <a:p>
            <a:endParaRPr lang="en-US"/>
          </a:p>
        </p:txBody>
      </p:sp>
      <p:sp>
        <p:nvSpPr>
          <p:cNvPr id="3" name="Text 1"/>
          <p:cNvSpPr/>
          <p:nvPr/>
        </p:nvSpPr>
        <p:spPr>
          <a:xfrm>
            <a:off x="1485900" y="2578596"/>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397746"/>
            <a:ext cx="17392650" cy="624780"/>
          </a:xfrm>
          <a:prstGeom prst="rect">
            <a:avLst/>
          </a:prstGeom>
          <a:noFill/>
          <a:ln/>
        </p:spPr>
        <p:txBody>
          <a:bodyPr wrap="square" lIns="25400" tIns="25400" rIns="25400" bIns="25400" rtlCol="0" anchor="t">
            <a:normAutofit/>
          </a:bodyPr>
          <a:lstStyle/>
          <a:p>
            <a:pPr marL="0" indent="0" algn="l">
              <a:lnSpc>
                <a:spcPct val="72471"/>
              </a:lnSpc>
              <a:buNone/>
            </a:pPr>
            <a:r>
              <a:rPr lang="en-US" sz="4200" b="1" kern="0" spc="-84" dirty="0">
                <a:solidFill>
                  <a:srgbClr val="005596"/>
                </a:solidFill>
                <a:latin typeface="Poppins" pitchFamily="34" charset="0"/>
                <a:ea typeface="Poppins" pitchFamily="34" charset="-122"/>
                <a:cs typeface="Poppins" pitchFamily="34" charset="-120"/>
              </a:rPr>
              <a:t>Prompt, Harness, Model</a:t>
            </a:r>
            <a:endParaRPr lang="en-US" sz="4200" dirty="0"/>
          </a:p>
        </p:txBody>
      </p:sp>
      <p:sp>
        <p:nvSpPr>
          <p:cNvPr id="5" name="Shape 3"/>
          <p:cNvSpPr/>
          <p:nvPr/>
        </p:nvSpPr>
        <p:spPr>
          <a:xfrm>
            <a:off x="1238250" y="4365427"/>
            <a:ext cx="5118050" cy="2714179"/>
          </a:xfrm>
          <a:prstGeom prst="roundRect">
            <a:avLst>
              <a:gd name="adj" fmla="val 5615"/>
            </a:avLst>
          </a:prstGeom>
          <a:solidFill>
            <a:srgbClr val="F4F7FA"/>
          </a:solidFill>
          <a:ln/>
        </p:spPr>
        <p:txBody>
          <a:bodyPr/>
          <a:lstStyle/>
          <a:p>
            <a:endParaRPr lang="en-US"/>
          </a:p>
        </p:txBody>
      </p:sp>
      <p:sp>
        <p:nvSpPr>
          <p:cNvPr id="6" name="Text 4"/>
          <p:cNvSpPr/>
          <p:nvPr/>
        </p:nvSpPr>
        <p:spPr>
          <a:xfrm>
            <a:off x="1485900" y="4594027"/>
            <a:ext cx="5085025" cy="409575"/>
          </a:xfrm>
          <a:prstGeom prst="rect">
            <a:avLst/>
          </a:prstGeom>
          <a:noFill/>
          <a:ln/>
        </p:spPr>
        <p:txBody>
          <a:bodyPr wrap="square" lIns="25400" tIns="25400" rIns="25400" bIns="25400" rtlCol="0" anchor="t">
            <a:normAutofit/>
          </a:bodyPr>
          <a:lstStyle/>
          <a:p>
            <a:pPr marL="0" indent="0" algn="l">
              <a:lnSpc>
                <a:spcPct val="100000"/>
              </a:lnSpc>
              <a:buNone/>
            </a:pPr>
            <a:r>
              <a:rPr lang="en-US" sz="1950" b="1" dirty="0">
                <a:solidFill>
                  <a:srgbClr val="005596"/>
                </a:solidFill>
                <a:latin typeface="Poppins" pitchFamily="34" charset="0"/>
                <a:ea typeface="Poppins" pitchFamily="34" charset="-122"/>
                <a:cs typeface="Poppins" pitchFamily="34" charset="-120"/>
              </a:rPr>
              <a:t>Prompt</a:t>
            </a:r>
            <a:endParaRPr lang="en-US" sz="1950" dirty="0"/>
          </a:p>
        </p:txBody>
      </p:sp>
      <p:sp>
        <p:nvSpPr>
          <p:cNvPr id="7" name="Text 5"/>
          <p:cNvSpPr/>
          <p:nvPr/>
        </p:nvSpPr>
        <p:spPr>
          <a:xfrm>
            <a:off x="1485900" y="5079802"/>
            <a:ext cx="4761433" cy="963662"/>
          </a:xfrm>
          <a:prstGeom prst="rect">
            <a:avLst/>
          </a:prstGeom>
          <a:noFill/>
          <a:ln/>
        </p:spPr>
        <p:txBody>
          <a:bodyPr wrap="square" lIns="25400" tIns="25400" rIns="25400" bIns="25400" rtlCol="0" anchor="t">
            <a:normAutofit/>
          </a:bodyPr>
          <a:lstStyle/>
          <a:p>
            <a:pPr marL="0" indent="0" algn="l">
              <a:lnSpc>
                <a:spcPct val="83077"/>
              </a:lnSpc>
              <a:buNone/>
            </a:pPr>
            <a:r>
              <a:rPr lang="en-US" sz="1800" dirty="0">
                <a:solidFill>
                  <a:srgbClr val="0E1A26"/>
                </a:solidFill>
                <a:latin typeface="Khula" pitchFamily="34" charset="0"/>
                <a:ea typeface="Khula" pitchFamily="34" charset="-122"/>
                <a:cs typeface="Khula" pitchFamily="34" charset="-120"/>
              </a:rPr>
              <a:t>The instructions you give a model — what you want done, how, and what constraints it must follow.</a:t>
            </a:r>
            <a:endParaRPr lang="en-US" sz="1800" dirty="0"/>
          </a:p>
        </p:txBody>
      </p:sp>
      <p:sp>
        <p:nvSpPr>
          <p:cNvPr id="8" name="Shape 6"/>
          <p:cNvSpPr/>
          <p:nvPr/>
        </p:nvSpPr>
        <p:spPr>
          <a:xfrm>
            <a:off x="6584900" y="4365427"/>
            <a:ext cx="5118050" cy="2714179"/>
          </a:xfrm>
          <a:prstGeom prst="roundRect">
            <a:avLst>
              <a:gd name="adj" fmla="val 5615"/>
            </a:avLst>
          </a:prstGeom>
          <a:solidFill>
            <a:srgbClr val="E9F1FA"/>
          </a:solidFill>
          <a:ln/>
        </p:spPr>
        <p:txBody>
          <a:bodyPr/>
          <a:lstStyle/>
          <a:p>
            <a:endParaRPr lang="en-US"/>
          </a:p>
        </p:txBody>
      </p:sp>
      <p:sp>
        <p:nvSpPr>
          <p:cNvPr id="9" name="Text 7"/>
          <p:cNvSpPr/>
          <p:nvPr/>
        </p:nvSpPr>
        <p:spPr>
          <a:xfrm>
            <a:off x="6832550" y="4594027"/>
            <a:ext cx="5085025" cy="409575"/>
          </a:xfrm>
          <a:prstGeom prst="rect">
            <a:avLst/>
          </a:prstGeom>
          <a:noFill/>
          <a:ln/>
        </p:spPr>
        <p:txBody>
          <a:bodyPr wrap="square" lIns="25400" tIns="25400" rIns="25400" bIns="25400" rtlCol="0" anchor="t">
            <a:normAutofit/>
          </a:bodyPr>
          <a:lstStyle/>
          <a:p>
            <a:pPr marL="0" indent="0" algn="l">
              <a:lnSpc>
                <a:spcPct val="100000"/>
              </a:lnSpc>
              <a:buNone/>
            </a:pPr>
            <a:r>
              <a:rPr lang="en-US" sz="1950" b="1" dirty="0">
                <a:solidFill>
                  <a:srgbClr val="005596"/>
                </a:solidFill>
                <a:latin typeface="Poppins" pitchFamily="34" charset="0"/>
                <a:ea typeface="Poppins" pitchFamily="34" charset="-122"/>
                <a:cs typeface="Poppins" pitchFamily="34" charset="-120"/>
              </a:rPr>
              <a:t>Harness</a:t>
            </a:r>
            <a:endParaRPr lang="en-US" sz="1950" dirty="0"/>
          </a:p>
        </p:txBody>
      </p:sp>
      <p:sp>
        <p:nvSpPr>
          <p:cNvPr id="10" name="Text 8"/>
          <p:cNvSpPr/>
          <p:nvPr/>
        </p:nvSpPr>
        <p:spPr>
          <a:xfrm>
            <a:off x="6832550" y="5079802"/>
            <a:ext cx="4761433" cy="1580704"/>
          </a:xfrm>
          <a:prstGeom prst="rect">
            <a:avLst/>
          </a:prstGeom>
          <a:noFill/>
          <a:ln/>
        </p:spPr>
        <p:txBody>
          <a:bodyPr wrap="square" lIns="25400" tIns="25400" rIns="25400" bIns="25400" rtlCol="0" anchor="t">
            <a:normAutofit/>
          </a:bodyPr>
          <a:lstStyle/>
          <a:p>
            <a:pPr marL="0" indent="0" algn="l">
              <a:lnSpc>
                <a:spcPct val="83077"/>
              </a:lnSpc>
              <a:buNone/>
            </a:pPr>
            <a:r>
              <a:rPr lang="en-US" sz="1800" dirty="0">
                <a:solidFill>
                  <a:srgbClr val="0E1A26"/>
                </a:solidFill>
                <a:latin typeface="Khula" pitchFamily="34" charset="0"/>
                <a:ea typeface="Khula" pitchFamily="34" charset="-122"/>
                <a:cs typeface="Khula" pitchFamily="34" charset="-120"/>
              </a:rPr>
              <a:t>The environment between you and the model — what files it reads, what commands it runs, how output reaches you. Claude Code, Devin, Copilot, and ChatGPT web are different harnesses.</a:t>
            </a:r>
            <a:endParaRPr lang="en-US" sz="1800" dirty="0"/>
          </a:p>
        </p:txBody>
      </p:sp>
      <p:sp>
        <p:nvSpPr>
          <p:cNvPr id="11" name="Shape 9"/>
          <p:cNvSpPr/>
          <p:nvPr/>
        </p:nvSpPr>
        <p:spPr>
          <a:xfrm>
            <a:off x="11931551" y="4365427"/>
            <a:ext cx="5118050" cy="2714179"/>
          </a:xfrm>
          <a:prstGeom prst="roundRect">
            <a:avLst>
              <a:gd name="adj" fmla="val 5615"/>
            </a:avLst>
          </a:prstGeom>
          <a:solidFill>
            <a:srgbClr val="F4F7FA"/>
          </a:solidFill>
          <a:ln/>
        </p:spPr>
        <p:txBody>
          <a:bodyPr/>
          <a:lstStyle/>
          <a:p>
            <a:endParaRPr lang="en-US"/>
          </a:p>
        </p:txBody>
      </p:sp>
      <p:sp>
        <p:nvSpPr>
          <p:cNvPr id="12" name="Text 10"/>
          <p:cNvSpPr/>
          <p:nvPr/>
        </p:nvSpPr>
        <p:spPr>
          <a:xfrm>
            <a:off x="12179201" y="4594027"/>
            <a:ext cx="5085025" cy="409575"/>
          </a:xfrm>
          <a:prstGeom prst="rect">
            <a:avLst/>
          </a:prstGeom>
          <a:noFill/>
          <a:ln/>
        </p:spPr>
        <p:txBody>
          <a:bodyPr wrap="square" lIns="25400" tIns="25400" rIns="25400" bIns="25400" rtlCol="0" anchor="t">
            <a:normAutofit/>
          </a:bodyPr>
          <a:lstStyle/>
          <a:p>
            <a:pPr marL="0" indent="0" algn="l">
              <a:lnSpc>
                <a:spcPct val="100000"/>
              </a:lnSpc>
              <a:buNone/>
            </a:pPr>
            <a:r>
              <a:rPr lang="en-US" sz="1950" b="1" dirty="0">
                <a:solidFill>
                  <a:srgbClr val="005596"/>
                </a:solidFill>
                <a:latin typeface="Poppins" pitchFamily="34" charset="0"/>
                <a:ea typeface="Poppins" pitchFamily="34" charset="-122"/>
                <a:cs typeface="Poppins" pitchFamily="34" charset="-120"/>
              </a:rPr>
              <a:t>Model</a:t>
            </a:r>
            <a:endParaRPr lang="en-US" sz="1950" dirty="0"/>
          </a:p>
        </p:txBody>
      </p:sp>
      <p:sp>
        <p:nvSpPr>
          <p:cNvPr id="13" name="Text 11"/>
          <p:cNvSpPr/>
          <p:nvPr/>
        </p:nvSpPr>
        <p:spPr>
          <a:xfrm>
            <a:off x="12179201" y="5079802"/>
            <a:ext cx="4761433" cy="963662"/>
          </a:xfrm>
          <a:prstGeom prst="rect">
            <a:avLst/>
          </a:prstGeom>
          <a:noFill/>
          <a:ln/>
        </p:spPr>
        <p:txBody>
          <a:bodyPr wrap="square" lIns="25400" tIns="25400" rIns="25400" bIns="25400" rtlCol="0" anchor="t">
            <a:normAutofit/>
          </a:bodyPr>
          <a:lstStyle/>
          <a:p>
            <a:pPr marL="0" indent="0" algn="l">
              <a:lnSpc>
                <a:spcPct val="83077"/>
              </a:lnSpc>
              <a:buNone/>
            </a:pPr>
            <a:r>
              <a:rPr lang="en-US" sz="1800" dirty="0">
                <a:solidFill>
                  <a:srgbClr val="0E1A26"/>
                </a:solidFill>
                <a:latin typeface="Khula" pitchFamily="34" charset="0"/>
                <a:ea typeface="Khula" pitchFamily="34" charset="-122"/>
                <a:cs typeface="Khula" pitchFamily="34" charset="-120"/>
              </a:rPr>
              <a:t>The AI itself — generates text from training and prompt, but can't do anything the harness doesn't offer.</a:t>
            </a:r>
            <a:endParaRPr lang="en-US" sz="1800" dirty="0"/>
          </a:p>
        </p:txBody>
      </p:sp>
      <p:sp>
        <p:nvSpPr>
          <p:cNvPr id="14" name="Text 12"/>
          <p:cNvSpPr/>
          <p:nvPr/>
        </p:nvSpPr>
        <p:spPr>
          <a:xfrm>
            <a:off x="1238250" y="7460605"/>
            <a:ext cx="1571625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The harness is the capability boundary; the model is the intelligence; the prompt is the instruction.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6358F4D-6CD6-37E0-5CE4-EA70A0E6D3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DB06891-9E94-78A9-EE31-A5BB6BC4D683}"/>
              </a:ext>
            </a:extLst>
          </p:cNvPr>
          <p:cNvSpPr/>
          <p:nvPr/>
        </p:nvSpPr>
        <p:spPr>
          <a:xfrm>
            <a:off x="1238250" y="614205"/>
            <a:ext cx="3265289" cy="533400"/>
          </a:xfrm>
          <a:prstGeom prst="roundRect">
            <a:avLst>
              <a:gd name="adj" fmla="val 50000"/>
            </a:avLst>
          </a:prstGeom>
          <a:solidFill>
            <a:srgbClr val="005596"/>
          </a:solidFill>
          <a:ln/>
        </p:spPr>
        <p:txBody>
          <a:bodyPr/>
          <a:lstStyle/>
          <a:p>
            <a:endParaRPr lang="en-US"/>
          </a:p>
        </p:txBody>
      </p:sp>
      <p:sp>
        <p:nvSpPr>
          <p:cNvPr id="3" name="Text 1">
            <a:extLst>
              <a:ext uri="{FF2B5EF4-FFF2-40B4-BE49-F238E27FC236}">
                <a16:creationId xmlns:a16="http://schemas.microsoft.com/office/drawing/2014/main" id="{63E32212-8694-A380-DA40-DF4454770346}"/>
              </a:ext>
            </a:extLst>
          </p:cNvPr>
          <p:cNvSpPr/>
          <p:nvPr/>
        </p:nvSpPr>
        <p:spPr>
          <a:xfrm>
            <a:off x="1485900" y="709455"/>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a:extLst>
              <a:ext uri="{FF2B5EF4-FFF2-40B4-BE49-F238E27FC236}">
                <a16:creationId xmlns:a16="http://schemas.microsoft.com/office/drawing/2014/main" id="{7E12073A-4B45-E74E-5426-F592AA1536AA}"/>
              </a:ext>
            </a:extLst>
          </p:cNvPr>
          <p:cNvSpPr/>
          <p:nvPr/>
        </p:nvSpPr>
        <p:spPr>
          <a:xfrm>
            <a:off x="1238250" y="1242855"/>
            <a:ext cx="17392650" cy="624780"/>
          </a:xfrm>
          <a:prstGeom prst="rect">
            <a:avLst/>
          </a:prstGeom>
          <a:noFill/>
          <a:ln/>
        </p:spPr>
        <p:txBody>
          <a:bodyPr wrap="square" lIns="25400" tIns="25400" rIns="25400" bIns="25400" rtlCol="0" anchor="t">
            <a:normAutofit/>
          </a:bodyPr>
          <a:lstStyle/>
          <a:p>
            <a:pPr marL="0" indent="0" algn="l">
              <a:lnSpc>
                <a:spcPct val="72471"/>
              </a:lnSpc>
              <a:buNone/>
            </a:pPr>
            <a:r>
              <a:rPr lang="en-US" sz="4200" b="1" kern="0" spc="-84" dirty="0">
                <a:solidFill>
                  <a:srgbClr val="005596"/>
                </a:solidFill>
                <a:latin typeface="Poppins" pitchFamily="34" charset="0"/>
                <a:ea typeface="Poppins" pitchFamily="34" charset="-122"/>
                <a:cs typeface="Poppins" pitchFamily="34" charset="-120"/>
              </a:rPr>
              <a:t>Prompt, Harness, Model</a:t>
            </a:r>
            <a:endParaRPr lang="en-US" sz="4200" dirty="0"/>
          </a:p>
        </p:txBody>
      </p:sp>
      <p:pic>
        <p:nvPicPr>
          <p:cNvPr id="15" name="Picture 14">
            <a:extLst>
              <a:ext uri="{FF2B5EF4-FFF2-40B4-BE49-F238E27FC236}">
                <a16:creationId xmlns:a16="http://schemas.microsoft.com/office/drawing/2014/main" id="{DABB7CD9-BA71-6436-F4BA-BC63B1092D55}"/>
              </a:ext>
            </a:extLst>
          </p:cNvPr>
          <p:cNvPicPr>
            <a:picLocks noChangeAspect="1"/>
          </p:cNvPicPr>
          <p:nvPr/>
        </p:nvPicPr>
        <p:blipFill>
          <a:blip r:embed="rId3"/>
          <a:stretch>
            <a:fillRect/>
          </a:stretch>
        </p:blipFill>
        <p:spPr>
          <a:xfrm>
            <a:off x="3570194" y="1766634"/>
            <a:ext cx="11147612" cy="7810911"/>
          </a:xfrm>
          <a:prstGeom prst="rect">
            <a:avLst/>
          </a:prstGeom>
        </p:spPr>
      </p:pic>
    </p:spTree>
    <p:extLst>
      <p:ext uri="{BB962C8B-B14F-4D97-AF65-F5344CB8AC3E}">
        <p14:creationId xmlns:p14="http://schemas.microsoft.com/office/powerpoint/2010/main" val="232104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856607"/>
            <a:ext cx="3265289" cy="533400"/>
          </a:xfrm>
          <a:prstGeom prst="roundRect">
            <a:avLst>
              <a:gd name="adj" fmla="val 50000"/>
            </a:avLst>
          </a:prstGeom>
          <a:solidFill>
            <a:srgbClr val="005596"/>
          </a:solidFill>
          <a:ln/>
        </p:spPr>
        <p:txBody>
          <a:bodyPr/>
          <a:lstStyle/>
          <a:p>
            <a:endParaRPr lang="en-US"/>
          </a:p>
        </p:txBody>
      </p:sp>
      <p:sp>
        <p:nvSpPr>
          <p:cNvPr id="3" name="Text 1"/>
          <p:cNvSpPr/>
          <p:nvPr/>
        </p:nvSpPr>
        <p:spPr>
          <a:xfrm>
            <a:off x="1485900" y="2951857"/>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771007"/>
            <a:ext cx="17392650" cy="592336"/>
          </a:xfrm>
          <a:prstGeom prst="rect">
            <a:avLst/>
          </a:prstGeom>
          <a:noFill/>
          <a:ln/>
        </p:spPr>
        <p:txBody>
          <a:bodyPr wrap="square" lIns="25400" tIns="25400" rIns="25400" bIns="25400" rtlCol="0" anchor="t">
            <a:normAutofit/>
          </a:bodyPr>
          <a:lstStyle/>
          <a:p>
            <a:pPr marL="0" indent="0" algn="l">
              <a:lnSpc>
                <a:spcPct val="73333"/>
              </a:lnSpc>
              <a:buNone/>
            </a:pPr>
            <a:r>
              <a:rPr lang="en-US" sz="3900" b="1" kern="0" spc="-78" dirty="0">
                <a:solidFill>
                  <a:srgbClr val="005596"/>
                </a:solidFill>
                <a:latin typeface="Poppins" pitchFamily="34" charset="0"/>
                <a:ea typeface="Poppins" pitchFamily="34" charset="-122"/>
                <a:cs typeface="Poppins" pitchFamily="34" charset="-120"/>
              </a:rPr>
              <a:t>Skills with </a:t>
            </a:r>
            <a:r>
              <a:rPr lang="en-US" sz="3900" b="1" kern="0" spc="-78" dirty="0">
                <a:solidFill>
                  <a:srgbClr val="005596"/>
                </a:solidFill>
                <a:highlight>
                  <a:srgbClr val="F4F7FA"/>
                </a:highlight>
                <a:latin typeface="Courier New" pitchFamily="34" charset="0"/>
                <a:ea typeface="Courier New" pitchFamily="34" charset="-122"/>
                <a:cs typeface="Courier New" pitchFamily="34" charset="-120"/>
              </a:rPr>
              <a:t>disable-model-invocation: true</a:t>
            </a:r>
            <a:endParaRPr lang="en-US" sz="3900" dirty="0"/>
          </a:p>
        </p:txBody>
      </p:sp>
      <p:sp>
        <p:nvSpPr>
          <p:cNvPr id="5" name="Shape 3"/>
          <p:cNvSpPr/>
          <p:nvPr/>
        </p:nvSpPr>
        <p:spPr>
          <a:xfrm>
            <a:off x="1238250" y="4839593"/>
            <a:ext cx="95250" cy="95250"/>
          </a:xfrm>
          <a:prstGeom prst="roundRect">
            <a:avLst>
              <a:gd name="adj" fmla="val 20000"/>
            </a:avLst>
          </a:prstGeom>
          <a:solidFill>
            <a:srgbClr val="4597D3"/>
          </a:solidFill>
          <a:ln/>
        </p:spPr>
        <p:txBody>
          <a:bodyPr/>
          <a:lstStyle/>
          <a:p>
            <a:endParaRPr lang="en-US"/>
          </a:p>
        </p:txBody>
      </p:sp>
      <p:sp>
        <p:nvSpPr>
          <p:cNvPr id="6" name="Text 4"/>
          <p:cNvSpPr/>
          <p:nvPr/>
        </p:nvSpPr>
        <p:spPr>
          <a:xfrm>
            <a:off x="1524000" y="4706243"/>
            <a:ext cx="14421803" cy="781050"/>
          </a:xfrm>
          <a:prstGeom prst="rect">
            <a:avLst/>
          </a:prstGeom>
          <a:noFill/>
          <a:ln/>
        </p:spPr>
        <p:txBody>
          <a:bodyPr wrap="square" lIns="25400" tIns="25400" rIns="25400" bIns="25400" rtlCol="0" anchor="t">
            <a:normAutofit/>
          </a:bodyPr>
          <a:lstStyle/>
          <a:p>
            <a:pPr marL="0" indent="0" algn="l">
              <a:lnSpc>
                <a:spcPct val="92857"/>
              </a:lnSpc>
              <a:buNone/>
            </a:pPr>
            <a:r>
              <a:rPr lang="en-US" sz="1950" dirty="0">
                <a:solidFill>
                  <a:srgbClr val="0E1A26"/>
                </a:solidFill>
                <a:latin typeface="Khula" pitchFamily="34" charset="0"/>
                <a:ea typeface="Khula" pitchFamily="34" charset="-122"/>
                <a:cs typeface="Khula" pitchFamily="34" charset="-120"/>
              </a:rPr>
              <a:t>Everything we build in this program is a </a:t>
            </a:r>
            <a:r>
              <a:rPr lang="en-US" sz="1950" b="1" dirty="0">
                <a:solidFill>
                  <a:srgbClr val="0E1A26"/>
                </a:solidFill>
                <a:latin typeface="Khula" pitchFamily="34" charset="0"/>
                <a:ea typeface="Khula" pitchFamily="34" charset="-122"/>
                <a:cs typeface="Khula" pitchFamily="34" charset="-120"/>
              </a:rPr>
              <a:t>skill </a:t>
            </a:r>
            <a:r>
              <a:rPr lang="en-US" sz="1950" dirty="0">
                <a:solidFill>
                  <a:srgbClr val="0E1A26"/>
                </a:solidFill>
                <a:latin typeface="Khula" pitchFamily="34" charset="0"/>
                <a:ea typeface="Khula" pitchFamily="34" charset="-122"/>
                <a:cs typeface="Khula" pitchFamily="34" charset="-120"/>
              </a:rPr>
              <a:t>— a structured file using RTCC format that lives in the student workspace and can be invoked by anyone on the team.</a:t>
            </a:r>
            <a:endParaRPr lang="en-US" sz="1950" dirty="0"/>
          </a:p>
        </p:txBody>
      </p:sp>
      <p:sp>
        <p:nvSpPr>
          <p:cNvPr id="7" name="Shape 5"/>
          <p:cNvSpPr/>
          <p:nvPr/>
        </p:nvSpPr>
        <p:spPr>
          <a:xfrm>
            <a:off x="1238250" y="5811143"/>
            <a:ext cx="95250" cy="95250"/>
          </a:xfrm>
          <a:prstGeom prst="roundRect">
            <a:avLst>
              <a:gd name="adj" fmla="val 20000"/>
            </a:avLst>
          </a:prstGeom>
          <a:solidFill>
            <a:srgbClr val="4597D3"/>
          </a:solidFill>
          <a:ln/>
        </p:spPr>
        <p:txBody>
          <a:bodyPr/>
          <a:lstStyle/>
          <a:p>
            <a:endParaRPr lang="en-US"/>
          </a:p>
        </p:txBody>
      </p:sp>
      <p:sp>
        <p:nvSpPr>
          <p:cNvPr id="8" name="Text 6"/>
          <p:cNvSpPr/>
          <p:nvPr/>
        </p:nvSpPr>
        <p:spPr>
          <a:xfrm>
            <a:off x="1524000" y="5677793"/>
            <a:ext cx="14421803" cy="819150"/>
          </a:xfrm>
          <a:prstGeom prst="rect">
            <a:avLst/>
          </a:prstGeom>
          <a:noFill/>
          <a:ln/>
        </p:spPr>
        <p:txBody>
          <a:bodyPr wrap="square" lIns="25400" tIns="25400" rIns="25400" bIns="25400" rtlCol="0" anchor="t">
            <a:normAutofit/>
          </a:bodyPr>
          <a:lstStyle/>
          <a:p>
            <a:pPr marL="0" indent="0" algn="l">
              <a:lnSpc>
                <a:spcPct val="92857"/>
              </a:lnSpc>
              <a:buNone/>
            </a:pPr>
            <a:r>
              <a:rPr lang="en-US" sz="1950" dirty="0">
                <a:solidFill>
                  <a:srgbClr val="0E1A26"/>
                </a:solidFill>
                <a:latin typeface="Khula" pitchFamily="34" charset="0"/>
                <a:ea typeface="Khula" pitchFamily="34" charset="-122"/>
                <a:cs typeface="Khula" pitchFamily="34" charset="-120"/>
              </a:rPr>
              <a:t>We start every skill with </a:t>
            </a:r>
            <a:r>
              <a:rPr lang="en-US" sz="1950" dirty="0">
                <a:solidFill>
                  <a:srgbClr val="0E1A26"/>
                </a:solidFill>
                <a:latin typeface="Courier New" pitchFamily="34" charset="0"/>
                <a:ea typeface="Courier New" pitchFamily="34" charset="-122"/>
                <a:cs typeface="Courier New" pitchFamily="34" charset="-120"/>
              </a:rPr>
              <a:t>disable-model-invocation: true </a:t>
            </a:r>
            <a:r>
              <a:rPr lang="en-US" sz="1950" dirty="0">
                <a:solidFill>
                  <a:srgbClr val="0E1A26"/>
                </a:solidFill>
                <a:latin typeface="Khula" pitchFamily="34" charset="0"/>
                <a:ea typeface="Khula" pitchFamily="34" charset="-122"/>
                <a:cs typeface="Khula" pitchFamily="34" charset="-120"/>
              </a:rPr>
              <a:t>. The skill only runs when you explicitly invoke it via slash command — the model will not auto-invoke it based on context.</a:t>
            </a:r>
            <a:endParaRPr lang="en-US" sz="1950" dirty="0"/>
          </a:p>
        </p:txBody>
      </p:sp>
      <p:sp>
        <p:nvSpPr>
          <p:cNvPr id="9" name="Shape 7"/>
          <p:cNvSpPr/>
          <p:nvPr/>
        </p:nvSpPr>
        <p:spPr>
          <a:xfrm>
            <a:off x="1238250" y="6820793"/>
            <a:ext cx="95250" cy="95250"/>
          </a:xfrm>
          <a:prstGeom prst="roundRect">
            <a:avLst>
              <a:gd name="adj" fmla="val 20000"/>
            </a:avLst>
          </a:prstGeom>
          <a:solidFill>
            <a:srgbClr val="4597D3"/>
          </a:solidFill>
          <a:ln/>
        </p:spPr>
        <p:txBody>
          <a:bodyPr/>
          <a:lstStyle/>
          <a:p>
            <a:endParaRPr lang="en-US"/>
          </a:p>
        </p:txBody>
      </p:sp>
      <p:sp>
        <p:nvSpPr>
          <p:cNvPr id="10" name="Text 8"/>
          <p:cNvSpPr/>
          <p:nvPr/>
        </p:nvSpPr>
        <p:spPr>
          <a:xfrm>
            <a:off x="1524000" y="6687443"/>
            <a:ext cx="14421803" cy="781050"/>
          </a:xfrm>
          <a:prstGeom prst="rect">
            <a:avLst/>
          </a:prstGeom>
          <a:noFill/>
          <a:ln/>
        </p:spPr>
        <p:txBody>
          <a:bodyPr wrap="square" lIns="25400" tIns="25400" rIns="25400" bIns="25400" rtlCol="0" anchor="t">
            <a:normAutofit/>
          </a:bodyPr>
          <a:lstStyle/>
          <a:p>
            <a:pPr marL="0" indent="0" algn="l">
              <a:lnSpc>
                <a:spcPct val="92857"/>
              </a:lnSpc>
              <a:buNone/>
            </a:pPr>
            <a:r>
              <a:rPr lang="en-US" sz="1950" dirty="0">
                <a:solidFill>
                  <a:srgbClr val="0E1A26"/>
                </a:solidFill>
                <a:latin typeface="Khula" pitchFamily="34" charset="0"/>
                <a:ea typeface="Khula" pitchFamily="34" charset="-122"/>
                <a:cs typeface="Khula" pitchFamily="34" charset="-120"/>
              </a:rPr>
              <a:t>Session 5 covers when and why to enable model invocation. We start with explicit invocation because you need to understand what your skill does before you trust the model to decide when to use it.</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1499295"/>
            <a:ext cx="3265289" cy="533400"/>
          </a:xfrm>
          <a:prstGeom prst="roundRect">
            <a:avLst>
              <a:gd name="adj" fmla="val 50000"/>
            </a:avLst>
          </a:prstGeom>
          <a:solidFill>
            <a:srgbClr val="005596"/>
          </a:solidFill>
          <a:ln/>
        </p:spPr>
        <p:txBody>
          <a:bodyPr/>
          <a:lstStyle/>
          <a:p>
            <a:endParaRPr lang="en-US"/>
          </a:p>
        </p:txBody>
      </p:sp>
      <p:sp>
        <p:nvSpPr>
          <p:cNvPr id="3" name="Text 1"/>
          <p:cNvSpPr/>
          <p:nvPr/>
        </p:nvSpPr>
        <p:spPr>
          <a:xfrm>
            <a:off x="1485900" y="1594545"/>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2337495"/>
            <a:ext cx="17392650" cy="582811"/>
          </a:xfrm>
          <a:prstGeom prst="rect">
            <a:avLst/>
          </a:prstGeom>
          <a:noFill/>
          <a:ln/>
        </p:spPr>
        <p:txBody>
          <a:bodyPr wrap="square" lIns="25400" tIns="25400" rIns="25400" bIns="25400" rtlCol="0" anchor="t">
            <a:normAutofit/>
          </a:bodyPr>
          <a:lstStyle/>
          <a:p>
            <a:pPr marL="0" indent="0" algn="l">
              <a:lnSpc>
                <a:spcPct val="73333"/>
              </a:lnSpc>
              <a:buNone/>
            </a:pPr>
            <a:r>
              <a:rPr lang="en-US" sz="3900" b="1" kern="0" spc="-78" dirty="0">
                <a:solidFill>
                  <a:srgbClr val="005596"/>
                </a:solidFill>
                <a:latin typeface="Poppins" pitchFamily="34" charset="0"/>
                <a:ea typeface="Poppins" pitchFamily="34" charset="-122"/>
                <a:cs typeface="Poppins" pitchFamily="34" charset="-120"/>
              </a:rPr>
              <a:t>The SDLC Pipeline</a:t>
            </a:r>
            <a:endParaRPr lang="en-US" sz="3900" dirty="0"/>
          </a:p>
        </p:txBody>
      </p:sp>
      <p:sp>
        <p:nvSpPr>
          <p:cNvPr id="5" name="Text 3"/>
          <p:cNvSpPr/>
          <p:nvPr/>
        </p:nvSpPr>
        <p:spPr>
          <a:xfrm>
            <a:off x="1238250" y="3187005"/>
            <a:ext cx="15697200" cy="7239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7 SDLC skeleton skills. Each is an RT-only stub — Role and Task defined, Context and Constraints intentionally empty. Sessions 1–3 build them out using EDD discipline.</a:t>
            </a:r>
            <a:endParaRPr lang="en-US" sz="1800" dirty="0"/>
          </a:p>
        </p:txBody>
      </p:sp>
      <p:sp>
        <p:nvSpPr>
          <p:cNvPr id="6" name="Shape 4"/>
          <p:cNvSpPr/>
          <p:nvPr/>
        </p:nvSpPr>
        <p:spPr>
          <a:xfrm>
            <a:off x="1238250" y="4177605"/>
            <a:ext cx="15811500" cy="571500"/>
          </a:xfrm>
          <a:prstGeom prst="roundRect">
            <a:avLst>
              <a:gd name="adj" fmla="val 16667"/>
            </a:avLst>
          </a:prstGeom>
          <a:solidFill>
            <a:srgbClr val="F4F7FA"/>
          </a:solidFill>
          <a:ln/>
        </p:spPr>
        <p:txBody>
          <a:bodyPr/>
          <a:lstStyle/>
          <a:p>
            <a:endParaRPr lang="en-US"/>
          </a:p>
        </p:txBody>
      </p:sp>
      <p:sp>
        <p:nvSpPr>
          <p:cNvPr id="7" name="Text 5"/>
          <p:cNvSpPr/>
          <p:nvPr/>
        </p:nvSpPr>
        <p:spPr>
          <a:xfrm>
            <a:off x="1428750" y="429190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A7A8A9"/>
                </a:solidFill>
                <a:latin typeface="Poppins" pitchFamily="34" charset="0"/>
                <a:ea typeface="Poppins" pitchFamily="34" charset="-122"/>
                <a:cs typeface="Poppins" pitchFamily="34" charset="-120"/>
              </a:rPr>
              <a:t>1</a:t>
            </a:r>
            <a:endParaRPr lang="en-US" sz="1800" dirty="0"/>
          </a:p>
        </p:txBody>
      </p:sp>
      <p:sp>
        <p:nvSpPr>
          <p:cNvPr id="8" name="Text 6"/>
          <p:cNvSpPr/>
          <p:nvPr/>
        </p:nvSpPr>
        <p:spPr>
          <a:xfrm>
            <a:off x="2152650" y="4291905"/>
            <a:ext cx="1617726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create-prd → Product requirements</a:t>
            </a:r>
            <a:endParaRPr lang="en-US" sz="1800" dirty="0"/>
          </a:p>
        </p:txBody>
      </p:sp>
      <p:sp>
        <p:nvSpPr>
          <p:cNvPr id="9" name="Shape 7"/>
          <p:cNvSpPr/>
          <p:nvPr/>
        </p:nvSpPr>
        <p:spPr>
          <a:xfrm>
            <a:off x="1238250" y="4844355"/>
            <a:ext cx="15811500" cy="571500"/>
          </a:xfrm>
          <a:prstGeom prst="roundRect">
            <a:avLst>
              <a:gd name="adj" fmla="val 16667"/>
            </a:avLst>
          </a:prstGeom>
          <a:solidFill>
            <a:srgbClr val="F4F7FA"/>
          </a:solidFill>
          <a:ln/>
        </p:spPr>
        <p:txBody>
          <a:bodyPr/>
          <a:lstStyle/>
          <a:p>
            <a:endParaRPr lang="en-US"/>
          </a:p>
        </p:txBody>
      </p:sp>
      <p:sp>
        <p:nvSpPr>
          <p:cNvPr id="10" name="Text 8"/>
          <p:cNvSpPr/>
          <p:nvPr/>
        </p:nvSpPr>
        <p:spPr>
          <a:xfrm>
            <a:off x="1428750" y="495865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A7A8A9"/>
                </a:solidFill>
                <a:latin typeface="Poppins" pitchFamily="34" charset="0"/>
                <a:ea typeface="Poppins" pitchFamily="34" charset="-122"/>
                <a:cs typeface="Poppins" pitchFamily="34" charset="-120"/>
              </a:rPr>
              <a:t>2</a:t>
            </a:r>
            <a:endParaRPr lang="en-US" sz="1800" dirty="0"/>
          </a:p>
        </p:txBody>
      </p:sp>
      <p:sp>
        <p:nvSpPr>
          <p:cNvPr id="11" name="Text 9"/>
          <p:cNvSpPr/>
          <p:nvPr/>
        </p:nvSpPr>
        <p:spPr>
          <a:xfrm>
            <a:off x="2152650" y="4958655"/>
            <a:ext cx="1617726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create-architecture → System architecture</a:t>
            </a:r>
            <a:endParaRPr lang="en-US" sz="1800" dirty="0"/>
          </a:p>
        </p:txBody>
      </p:sp>
      <p:sp>
        <p:nvSpPr>
          <p:cNvPr id="12" name="Shape 10"/>
          <p:cNvSpPr/>
          <p:nvPr/>
        </p:nvSpPr>
        <p:spPr>
          <a:xfrm>
            <a:off x="1238250" y="5511105"/>
            <a:ext cx="15811500" cy="571500"/>
          </a:xfrm>
          <a:prstGeom prst="roundRect">
            <a:avLst>
              <a:gd name="adj" fmla="val 16667"/>
            </a:avLst>
          </a:prstGeom>
          <a:solidFill>
            <a:srgbClr val="F4F7FA"/>
          </a:solidFill>
          <a:ln/>
        </p:spPr>
        <p:txBody>
          <a:bodyPr/>
          <a:lstStyle/>
          <a:p>
            <a:endParaRPr lang="en-US"/>
          </a:p>
        </p:txBody>
      </p:sp>
      <p:sp>
        <p:nvSpPr>
          <p:cNvPr id="13" name="Text 11"/>
          <p:cNvSpPr/>
          <p:nvPr/>
        </p:nvSpPr>
        <p:spPr>
          <a:xfrm>
            <a:off x="1428750" y="562540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A7A8A9"/>
                </a:solidFill>
                <a:latin typeface="Poppins" pitchFamily="34" charset="0"/>
                <a:ea typeface="Poppins" pitchFamily="34" charset="-122"/>
                <a:cs typeface="Poppins" pitchFamily="34" charset="-120"/>
              </a:rPr>
              <a:t>3</a:t>
            </a:r>
            <a:endParaRPr lang="en-US" sz="1800" dirty="0"/>
          </a:p>
        </p:txBody>
      </p:sp>
      <p:sp>
        <p:nvSpPr>
          <p:cNvPr id="14" name="Text 12"/>
          <p:cNvSpPr/>
          <p:nvPr/>
        </p:nvSpPr>
        <p:spPr>
          <a:xfrm>
            <a:off x="2152650" y="5625405"/>
            <a:ext cx="1617726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create-ux → UX design guidance</a:t>
            </a:r>
            <a:endParaRPr lang="en-US" sz="1800" dirty="0"/>
          </a:p>
        </p:txBody>
      </p:sp>
      <p:sp>
        <p:nvSpPr>
          <p:cNvPr id="15" name="Shape 13"/>
          <p:cNvSpPr/>
          <p:nvPr/>
        </p:nvSpPr>
        <p:spPr>
          <a:xfrm>
            <a:off x="1238250" y="6177855"/>
            <a:ext cx="15811500" cy="609600"/>
          </a:xfrm>
          <a:prstGeom prst="roundRect">
            <a:avLst>
              <a:gd name="adj" fmla="val 15625"/>
            </a:avLst>
          </a:prstGeom>
          <a:solidFill>
            <a:srgbClr val="E9F1FA"/>
          </a:solidFill>
          <a:ln w="19050">
            <a:solidFill>
              <a:srgbClr val="005596"/>
            </a:solidFill>
            <a:prstDash val="solid"/>
          </a:ln>
        </p:spPr>
        <p:txBody>
          <a:bodyPr/>
          <a:lstStyle/>
          <a:p>
            <a:endParaRPr lang="en-US"/>
          </a:p>
        </p:txBody>
      </p:sp>
      <p:sp>
        <p:nvSpPr>
          <p:cNvPr id="16" name="Text 14"/>
          <p:cNvSpPr/>
          <p:nvPr/>
        </p:nvSpPr>
        <p:spPr>
          <a:xfrm>
            <a:off x="1447800" y="631120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005596"/>
                </a:solidFill>
                <a:latin typeface="Poppins" pitchFamily="34" charset="0"/>
                <a:ea typeface="Poppins" pitchFamily="34" charset="-122"/>
                <a:cs typeface="Poppins" pitchFamily="34" charset="-120"/>
              </a:rPr>
              <a:t>4</a:t>
            </a:r>
            <a:endParaRPr lang="en-US" sz="1800" dirty="0"/>
          </a:p>
        </p:txBody>
      </p:sp>
      <p:sp>
        <p:nvSpPr>
          <p:cNvPr id="17" name="Text 15"/>
          <p:cNvSpPr/>
          <p:nvPr/>
        </p:nvSpPr>
        <p:spPr>
          <a:xfrm>
            <a:off x="2171700" y="6311205"/>
            <a:ext cx="1613535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b="1" dirty="0">
                <a:solidFill>
                  <a:srgbClr val="0E1A26"/>
                </a:solidFill>
                <a:latin typeface="Khula" pitchFamily="34" charset="0"/>
                <a:ea typeface="Khula" pitchFamily="34" charset="-122"/>
                <a:cs typeface="Khula" pitchFamily="34" charset="-120"/>
              </a:rPr>
              <a:t>create-epics-stories → Epics and stories breakdown — </a:t>
            </a:r>
            <a:r>
              <a:rPr lang="en-US" sz="1800" b="1" dirty="0">
                <a:solidFill>
                  <a:srgbClr val="005596"/>
                </a:solidFill>
                <a:latin typeface="Khula" pitchFamily="34" charset="0"/>
                <a:ea typeface="Khula" pitchFamily="34" charset="-122"/>
                <a:cs typeface="Khula" pitchFamily="34" charset="-120"/>
              </a:rPr>
              <a:t>Session 1 builds this</a:t>
            </a:r>
            <a:endParaRPr lang="en-US" sz="1800" dirty="0"/>
          </a:p>
        </p:txBody>
      </p:sp>
      <p:sp>
        <p:nvSpPr>
          <p:cNvPr id="18" name="Shape 16"/>
          <p:cNvSpPr/>
          <p:nvPr/>
        </p:nvSpPr>
        <p:spPr>
          <a:xfrm>
            <a:off x="1238250" y="6882705"/>
            <a:ext cx="15811500" cy="571500"/>
          </a:xfrm>
          <a:prstGeom prst="roundRect">
            <a:avLst>
              <a:gd name="adj" fmla="val 16667"/>
            </a:avLst>
          </a:prstGeom>
          <a:solidFill>
            <a:srgbClr val="F4F7FA"/>
          </a:solidFill>
          <a:ln/>
        </p:spPr>
        <p:txBody>
          <a:bodyPr/>
          <a:lstStyle/>
          <a:p>
            <a:endParaRPr lang="en-US"/>
          </a:p>
        </p:txBody>
      </p:sp>
      <p:sp>
        <p:nvSpPr>
          <p:cNvPr id="19" name="Text 17"/>
          <p:cNvSpPr/>
          <p:nvPr/>
        </p:nvSpPr>
        <p:spPr>
          <a:xfrm>
            <a:off x="1428750" y="699700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A7A8A9"/>
                </a:solidFill>
                <a:latin typeface="Poppins" pitchFamily="34" charset="0"/>
                <a:ea typeface="Poppins" pitchFamily="34" charset="-122"/>
                <a:cs typeface="Poppins" pitchFamily="34" charset="-120"/>
              </a:rPr>
              <a:t>5</a:t>
            </a:r>
            <a:endParaRPr lang="en-US" sz="1800" dirty="0"/>
          </a:p>
        </p:txBody>
      </p:sp>
      <p:sp>
        <p:nvSpPr>
          <p:cNvPr id="20" name="Text 18"/>
          <p:cNvSpPr/>
          <p:nvPr/>
        </p:nvSpPr>
        <p:spPr>
          <a:xfrm>
            <a:off x="2152650" y="6997005"/>
            <a:ext cx="1617726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plan-story → Story planning — Session 2 builds this</a:t>
            </a:r>
            <a:endParaRPr lang="en-US" sz="1800" dirty="0"/>
          </a:p>
        </p:txBody>
      </p:sp>
      <p:sp>
        <p:nvSpPr>
          <p:cNvPr id="21" name="Shape 19"/>
          <p:cNvSpPr/>
          <p:nvPr/>
        </p:nvSpPr>
        <p:spPr>
          <a:xfrm>
            <a:off x="1238250" y="7549455"/>
            <a:ext cx="15811500" cy="571500"/>
          </a:xfrm>
          <a:prstGeom prst="roundRect">
            <a:avLst>
              <a:gd name="adj" fmla="val 16667"/>
            </a:avLst>
          </a:prstGeom>
          <a:solidFill>
            <a:srgbClr val="F4F7FA"/>
          </a:solidFill>
          <a:ln/>
        </p:spPr>
        <p:txBody>
          <a:bodyPr/>
          <a:lstStyle/>
          <a:p>
            <a:endParaRPr lang="en-US"/>
          </a:p>
        </p:txBody>
      </p:sp>
      <p:sp>
        <p:nvSpPr>
          <p:cNvPr id="22" name="Text 20"/>
          <p:cNvSpPr/>
          <p:nvPr/>
        </p:nvSpPr>
        <p:spPr>
          <a:xfrm>
            <a:off x="1428750" y="766375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A7A8A9"/>
                </a:solidFill>
                <a:latin typeface="Poppins" pitchFamily="34" charset="0"/>
                <a:ea typeface="Poppins" pitchFamily="34" charset="-122"/>
                <a:cs typeface="Poppins" pitchFamily="34" charset="-120"/>
              </a:rPr>
              <a:t>6</a:t>
            </a:r>
            <a:endParaRPr lang="en-US" sz="1800" dirty="0"/>
          </a:p>
        </p:txBody>
      </p:sp>
      <p:sp>
        <p:nvSpPr>
          <p:cNvPr id="23" name="Text 21"/>
          <p:cNvSpPr/>
          <p:nvPr/>
        </p:nvSpPr>
        <p:spPr>
          <a:xfrm>
            <a:off x="2152650" y="7663755"/>
            <a:ext cx="1617726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implement-story → Story implementation — Session 2 builds this</a:t>
            </a:r>
            <a:endParaRPr lang="en-US" sz="1800" dirty="0"/>
          </a:p>
        </p:txBody>
      </p:sp>
      <p:sp>
        <p:nvSpPr>
          <p:cNvPr id="24" name="Shape 22"/>
          <p:cNvSpPr/>
          <p:nvPr/>
        </p:nvSpPr>
        <p:spPr>
          <a:xfrm>
            <a:off x="1238250" y="8216205"/>
            <a:ext cx="15811500" cy="571500"/>
          </a:xfrm>
          <a:prstGeom prst="roundRect">
            <a:avLst>
              <a:gd name="adj" fmla="val 16667"/>
            </a:avLst>
          </a:prstGeom>
          <a:solidFill>
            <a:srgbClr val="F4F7FA"/>
          </a:solidFill>
          <a:ln/>
        </p:spPr>
        <p:txBody>
          <a:bodyPr/>
          <a:lstStyle/>
          <a:p>
            <a:endParaRPr lang="en-US"/>
          </a:p>
        </p:txBody>
      </p:sp>
      <p:sp>
        <p:nvSpPr>
          <p:cNvPr id="25" name="Text 23"/>
          <p:cNvSpPr/>
          <p:nvPr/>
        </p:nvSpPr>
        <p:spPr>
          <a:xfrm>
            <a:off x="1428750" y="8330505"/>
            <a:ext cx="6477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A7A8A9"/>
                </a:solidFill>
                <a:latin typeface="Poppins" pitchFamily="34" charset="0"/>
                <a:ea typeface="Poppins" pitchFamily="34" charset="-122"/>
                <a:cs typeface="Poppins" pitchFamily="34" charset="-120"/>
              </a:rPr>
              <a:t>7</a:t>
            </a:r>
            <a:endParaRPr lang="en-US" sz="1800" dirty="0"/>
          </a:p>
        </p:txBody>
      </p:sp>
      <p:sp>
        <p:nvSpPr>
          <p:cNvPr id="26" name="Text 24"/>
          <p:cNvSpPr/>
          <p:nvPr/>
        </p:nvSpPr>
        <p:spPr>
          <a:xfrm>
            <a:off x="2152650" y="8330505"/>
            <a:ext cx="1617726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review-implementation → Implementation review — Session 3 builds this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072729"/>
            <a:ext cx="2927747" cy="533400"/>
          </a:xfrm>
          <a:prstGeom prst="roundRect">
            <a:avLst>
              <a:gd name="adj" fmla="val 50000"/>
            </a:avLst>
          </a:prstGeom>
          <a:solidFill>
            <a:srgbClr val="5BC2A7"/>
          </a:solidFill>
          <a:ln/>
        </p:spPr>
        <p:txBody>
          <a:bodyPr/>
          <a:lstStyle/>
          <a:p>
            <a:endParaRPr lang="en-US"/>
          </a:p>
        </p:txBody>
      </p:sp>
      <p:sp>
        <p:nvSpPr>
          <p:cNvPr id="3" name="Text 1"/>
          <p:cNvSpPr/>
          <p:nvPr/>
        </p:nvSpPr>
        <p:spPr>
          <a:xfrm>
            <a:off x="1485900" y="2167979"/>
            <a:ext cx="2520279"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0E1A26"/>
                </a:solidFill>
                <a:latin typeface="Poppins" pitchFamily="34" charset="0"/>
                <a:ea typeface="Poppins" pitchFamily="34" charset="-122"/>
                <a:cs typeface="Poppins" pitchFamily="34" charset="-120"/>
              </a:rPr>
              <a:t>SLIDE TYPE — DEMO</a:t>
            </a:r>
            <a:endParaRPr lang="en-US" sz="1800" dirty="0"/>
          </a:p>
        </p:txBody>
      </p:sp>
      <p:sp>
        <p:nvSpPr>
          <p:cNvPr id="4" name="Text 2"/>
          <p:cNvSpPr/>
          <p:nvPr/>
        </p:nvSpPr>
        <p:spPr>
          <a:xfrm>
            <a:off x="1238250" y="3025229"/>
            <a:ext cx="17392650" cy="624780"/>
          </a:xfrm>
          <a:prstGeom prst="rect">
            <a:avLst/>
          </a:prstGeom>
          <a:noFill/>
          <a:ln/>
        </p:spPr>
        <p:txBody>
          <a:bodyPr wrap="square" lIns="25400" tIns="25400" rIns="25400" bIns="25400" rtlCol="0" anchor="t">
            <a:normAutofit/>
          </a:bodyPr>
          <a:lstStyle/>
          <a:p>
            <a:pPr marL="0" indent="0" algn="l">
              <a:lnSpc>
                <a:spcPct val="72471"/>
              </a:lnSpc>
              <a:buNone/>
            </a:pPr>
            <a:r>
              <a:rPr lang="en-US" sz="4200" b="1" kern="0" spc="-84" dirty="0">
                <a:solidFill>
                  <a:srgbClr val="005596"/>
                </a:solidFill>
                <a:latin typeface="Poppins" pitchFamily="34" charset="0"/>
                <a:ea typeface="Poppins" pitchFamily="34" charset="-122"/>
                <a:cs typeface="Poppins" pitchFamily="34" charset="-120"/>
              </a:rPr>
              <a:t>Demo: RT-Only Skeleton Outputs</a:t>
            </a:r>
            <a:endParaRPr lang="en-US" sz="4200" dirty="0"/>
          </a:p>
        </p:txBody>
      </p:sp>
      <p:sp>
        <p:nvSpPr>
          <p:cNvPr id="5" name="Text 3"/>
          <p:cNvSpPr/>
          <p:nvPr/>
        </p:nvSpPr>
        <p:spPr>
          <a:xfrm>
            <a:off x="1238250" y="4031010"/>
            <a:ext cx="1739265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A7A8A9"/>
                </a:solidFill>
                <a:latin typeface="Poppins" pitchFamily="34" charset="0"/>
                <a:ea typeface="Poppins" pitchFamily="34" charset="-122"/>
                <a:cs typeface="Poppins" pitchFamily="34" charset="-120"/>
              </a:rPr>
              <a:t>DESCRIPTION</a:t>
            </a:r>
            <a:endParaRPr lang="en-US" sz="1800" dirty="0"/>
          </a:p>
        </p:txBody>
      </p:sp>
      <p:sp>
        <p:nvSpPr>
          <p:cNvPr id="6" name="Text 4"/>
          <p:cNvSpPr/>
          <p:nvPr/>
        </p:nvSpPr>
        <p:spPr>
          <a:xfrm>
            <a:off x="1238250" y="4488210"/>
            <a:ext cx="14225588" cy="1135112"/>
          </a:xfrm>
          <a:prstGeom prst="rect">
            <a:avLst/>
          </a:prstGeom>
          <a:noFill/>
          <a:ln/>
        </p:spPr>
        <p:txBody>
          <a:bodyPr wrap="square" lIns="25400" tIns="25400" rIns="25400" bIns="25400" rtlCol="0" anchor="t">
            <a:normAutofit/>
          </a:bodyPr>
          <a:lstStyle/>
          <a:p>
            <a:pPr marL="0" indent="0" algn="l">
              <a:lnSpc>
                <a:spcPct val="98462"/>
              </a:lnSpc>
              <a:buNone/>
            </a:pPr>
            <a:r>
              <a:rPr lang="en-US" sz="1800" dirty="0">
                <a:solidFill>
                  <a:srgbClr val="0E1A26"/>
                </a:solidFill>
                <a:latin typeface="Khula" pitchFamily="34" charset="0"/>
                <a:ea typeface="Khula" pitchFamily="34" charset="-122"/>
                <a:cs typeface="Khula" pitchFamily="34" charset="-120"/>
              </a:rPr>
              <a:t>The instructor runs the RT-only create-prd, create-architecture, and create-ux skeleton skills against a realistic feature ("Pantry Tracker PWA"). This shows what the pipeline produces when Context and Constraints are empty — plausible-looking output with gaps, wrong assumptions, and missing domain detail. Without Context and Constraints, the model guesses, and the guesses are wrong.</a:t>
            </a:r>
            <a:endParaRPr lang="en-US" sz="1800" dirty="0"/>
          </a:p>
        </p:txBody>
      </p:sp>
      <p:sp>
        <p:nvSpPr>
          <p:cNvPr id="7" name="Shape 5"/>
          <p:cNvSpPr/>
          <p:nvPr/>
        </p:nvSpPr>
        <p:spPr>
          <a:xfrm>
            <a:off x="1238250" y="6232922"/>
            <a:ext cx="14630400" cy="1981200"/>
          </a:xfrm>
          <a:prstGeom prst="roundRect">
            <a:avLst>
              <a:gd name="adj" fmla="val 7692"/>
            </a:avLst>
          </a:prstGeom>
          <a:solidFill>
            <a:srgbClr val="EAF6F1"/>
          </a:solidFill>
          <a:ln/>
        </p:spPr>
        <p:txBody>
          <a:bodyPr/>
          <a:lstStyle/>
          <a:p>
            <a:endParaRPr lang="en-US"/>
          </a:p>
        </p:txBody>
      </p:sp>
      <p:sp>
        <p:nvSpPr>
          <p:cNvPr id="8" name="Shape 6"/>
          <p:cNvSpPr/>
          <p:nvPr/>
        </p:nvSpPr>
        <p:spPr>
          <a:xfrm>
            <a:off x="1238250" y="6232922"/>
            <a:ext cx="57150" cy="1981200"/>
          </a:xfrm>
          <a:prstGeom prst="rect">
            <a:avLst/>
          </a:prstGeom>
          <a:solidFill>
            <a:srgbClr val="5BC2A7"/>
          </a:solidFill>
          <a:ln/>
        </p:spPr>
        <p:txBody>
          <a:bodyPr/>
          <a:lstStyle/>
          <a:p>
            <a:endParaRPr lang="en-US"/>
          </a:p>
        </p:txBody>
      </p:sp>
      <p:sp>
        <p:nvSpPr>
          <p:cNvPr id="9" name="Text 7"/>
          <p:cNvSpPr/>
          <p:nvPr/>
        </p:nvSpPr>
        <p:spPr>
          <a:xfrm>
            <a:off x="1676400" y="6537722"/>
            <a:ext cx="15192375"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0E1A26"/>
                </a:solidFill>
                <a:latin typeface="Poppins" pitchFamily="34" charset="0"/>
                <a:ea typeface="Poppins" pitchFamily="34" charset="-122"/>
                <a:cs typeface="Poppins" pitchFamily="34" charset="-120"/>
              </a:rPr>
              <a:t>WHAT TO FOCUS ON</a:t>
            </a:r>
            <a:endParaRPr lang="en-US" sz="1800" dirty="0"/>
          </a:p>
        </p:txBody>
      </p:sp>
      <p:sp>
        <p:nvSpPr>
          <p:cNvPr id="10" name="Text 8"/>
          <p:cNvSpPr/>
          <p:nvPr/>
        </p:nvSpPr>
        <p:spPr>
          <a:xfrm>
            <a:off x="1676400" y="6994922"/>
            <a:ext cx="14225588" cy="7239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Notice what the model assumed that nobody told it to assume. Notice what's missing — domain detail, team standards, specific format requirements. These gaps are what Context and Constraints fix.</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278707"/>
            <a:ext cx="3265289" cy="533400"/>
          </a:xfrm>
          <a:prstGeom prst="roundRect">
            <a:avLst>
              <a:gd name="adj" fmla="val 50000"/>
            </a:avLst>
          </a:prstGeom>
          <a:solidFill>
            <a:srgbClr val="005596"/>
          </a:solidFill>
          <a:ln/>
        </p:spPr>
        <p:txBody>
          <a:bodyPr/>
          <a:lstStyle/>
          <a:p>
            <a:endParaRPr lang="en-US"/>
          </a:p>
        </p:txBody>
      </p:sp>
      <p:sp>
        <p:nvSpPr>
          <p:cNvPr id="3" name="Text 1"/>
          <p:cNvSpPr/>
          <p:nvPr/>
        </p:nvSpPr>
        <p:spPr>
          <a:xfrm>
            <a:off x="1485900" y="2373957"/>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116907"/>
            <a:ext cx="17392650" cy="582811"/>
          </a:xfrm>
          <a:prstGeom prst="rect">
            <a:avLst/>
          </a:prstGeom>
          <a:noFill/>
          <a:ln/>
        </p:spPr>
        <p:txBody>
          <a:bodyPr wrap="square" lIns="25400" tIns="25400" rIns="25400" bIns="25400" rtlCol="0" anchor="t">
            <a:normAutofit/>
          </a:bodyPr>
          <a:lstStyle/>
          <a:p>
            <a:pPr marL="0" indent="0" algn="l">
              <a:lnSpc>
                <a:spcPct val="73333"/>
              </a:lnSpc>
              <a:buNone/>
            </a:pPr>
            <a:r>
              <a:rPr lang="en-US" sz="3900" b="1" kern="0" spc="-78" dirty="0">
                <a:solidFill>
                  <a:srgbClr val="005596"/>
                </a:solidFill>
                <a:latin typeface="Poppins" pitchFamily="34" charset="0"/>
                <a:ea typeface="Poppins" pitchFamily="34" charset="-122"/>
                <a:cs typeface="Poppins" pitchFamily="34" charset="-120"/>
              </a:rPr>
              <a:t>RTCC Prompt Structure</a:t>
            </a:r>
            <a:endParaRPr lang="en-US" sz="3900" dirty="0"/>
          </a:p>
        </p:txBody>
      </p:sp>
      <p:sp>
        <p:nvSpPr>
          <p:cNvPr id="5" name="Shape 3"/>
          <p:cNvSpPr/>
          <p:nvPr/>
        </p:nvSpPr>
        <p:spPr>
          <a:xfrm>
            <a:off x="1238250" y="3966418"/>
            <a:ext cx="7820025" cy="1622822"/>
          </a:xfrm>
          <a:prstGeom prst="roundRect">
            <a:avLst>
              <a:gd name="adj" fmla="val 9391"/>
            </a:avLst>
          </a:prstGeom>
          <a:solidFill>
            <a:srgbClr val="F4F7FA"/>
          </a:solidFill>
          <a:ln/>
        </p:spPr>
        <p:txBody>
          <a:bodyPr/>
          <a:lstStyle/>
          <a:p>
            <a:endParaRPr lang="en-US"/>
          </a:p>
        </p:txBody>
      </p:sp>
      <p:sp>
        <p:nvSpPr>
          <p:cNvPr id="6" name="Text 4"/>
          <p:cNvSpPr/>
          <p:nvPr/>
        </p:nvSpPr>
        <p:spPr>
          <a:xfrm>
            <a:off x="1485900" y="4156918"/>
            <a:ext cx="8057197"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005596"/>
                </a:solidFill>
                <a:latin typeface="Poppins" pitchFamily="34" charset="0"/>
                <a:ea typeface="Poppins" pitchFamily="34" charset="-122"/>
                <a:cs typeface="Poppins" pitchFamily="34" charset="-120"/>
              </a:rPr>
              <a:t>R — Role (WHO)</a:t>
            </a:r>
            <a:endParaRPr lang="en-US" sz="1800" dirty="0"/>
          </a:p>
        </p:txBody>
      </p:sp>
      <p:sp>
        <p:nvSpPr>
          <p:cNvPr id="7" name="Text 5"/>
          <p:cNvSpPr/>
          <p:nvPr/>
        </p:nvSpPr>
        <p:spPr>
          <a:xfrm>
            <a:off x="1485900" y="4576018"/>
            <a:ext cx="7544467" cy="632222"/>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0E1A26"/>
                </a:solidFill>
                <a:latin typeface="Khula" pitchFamily="34" charset="0"/>
                <a:ea typeface="Khula" pitchFamily="34" charset="-122"/>
                <a:cs typeface="Khula" pitchFamily="34" charset="-120"/>
              </a:rPr>
              <a:t>Who is the model acting as — a specific, credentialed persona that shapes tone and default assumptions.</a:t>
            </a:r>
            <a:endParaRPr lang="en-US" sz="1800" dirty="0"/>
          </a:p>
        </p:txBody>
      </p:sp>
      <p:sp>
        <p:nvSpPr>
          <p:cNvPr id="8" name="Shape 6"/>
          <p:cNvSpPr/>
          <p:nvPr/>
        </p:nvSpPr>
        <p:spPr>
          <a:xfrm>
            <a:off x="9229725" y="3966418"/>
            <a:ext cx="7820025" cy="1622822"/>
          </a:xfrm>
          <a:prstGeom prst="roundRect">
            <a:avLst>
              <a:gd name="adj" fmla="val 9391"/>
            </a:avLst>
          </a:prstGeom>
          <a:solidFill>
            <a:srgbClr val="F4F7FA"/>
          </a:solidFill>
          <a:ln/>
        </p:spPr>
        <p:txBody>
          <a:bodyPr/>
          <a:lstStyle/>
          <a:p>
            <a:endParaRPr lang="en-US"/>
          </a:p>
        </p:txBody>
      </p:sp>
      <p:sp>
        <p:nvSpPr>
          <p:cNvPr id="9" name="Text 7"/>
          <p:cNvSpPr/>
          <p:nvPr/>
        </p:nvSpPr>
        <p:spPr>
          <a:xfrm>
            <a:off x="9477375" y="4156918"/>
            <a:ext cx="8057197"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005596"/>
                </a:solidFill>
                <a:latin typeface="Poppins" pitchFamily="34" charset="0"/>
                <a:ea typeface="Poppins" pitchFamily="34" charset="-122"/>
                <a:cs typeface="Poppins" pitchFamily="34" charset="-120"/>
              </a:rPr>
              <a:t>T — Task (WHAT)</a:t>
            </a:r>
            <a:endParaRPr lang="en-US" sz="1800" dirty="0"/>
          </a:p>
        </p:txBody>
      </p:sp>
      <p:sp>
        <p:nvSpPr>
          <p:cNvPr id="10" name="Text 8"/>
          <p:cNvSpPr/>
          <p:nvPr/>
        </p:nvSpPr>
        <p:spPr>
          <a:xfrm>
            <a:off x="9477375" y="4576018"/>
            <a:ext cx="7544467" cy="632222"/>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0E1A26"/>
                </a:solidFill>
                <a:latin typeface="Khula" pitchFamily="34" charset="0"/>
                <a:ea typeface="Khula" pitchFamily="34" charset="-122"/>
                <a:cs typeface="Khula" pitchFamily="34" charset="-120"/>
              </a:rPr>
              <a:t>What should they do? Verb-first, unambiguous, the specific action to perform.</a:t>
            </a:r>
            <a:endParaRPr lang="en-US" sz="1800" dirty="0"/>
          </a:p>
        </p:txBody>
      </p:sp>
      <p:sp>
        <p:nvSpPr>
          <p:cNvPr id="11" name="Shape 9"/>
          <p:cNvSpPr/>
          <p:nvPr/>
        </p:nvSpPr>
        <p:spPr>
          <a:xfrm>
            <a:off x="1238250" y="5760690"/>
            <a:ext cx="7820025" cy="1622822"/>
          </a:xfrm>
          <a:prstGeom prst="roundRect">
            <a:avLst>
              <a:gd name="adj" fmla="val 9391"/>
            </a:avLst>
          </a:prstGeom>
          <a:solidFill>
            <a:srgbClr val="E9F1FA"/>
          </a:solidFill>
          <a:ln/>
        </p:spPr>
        <p:txBody>
          <a:bodyPr/>
          <a:lstStyle/>
          <a:p>
            <a:endParaRPr lang="en-US"/>
          </a:p>
        </p:txBody>
      </p:sp>
      <p:sp>
        <p:nvSpPr>
          <p:cNvPr id="12" name="Text 10"/>
          <p:cNvSpPr/>
          <p:nvPr/>
        </p:nvSpPr>
        <p:spPr>
          <a:xfrm>
            <a:off x="1485900" y="5951190"/>
            <a:ext cx="8057197"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005596"/>
                </a:solidFill>
                <a:latin typeface="Poppins" pitchFamily="34" charset="0"/>
                <a:ea typeface="Poppins" pitchFamily="34" charset="-122"/>
                <a:cs typeface="Poppins" pitchFamily="34" charset="-120"/>
              </a:rPr>
              <a:t>C — Context (WHY)</a:t>
            </a:r>
            <a:endParaRPr lang="en-US" sz="1800" dirty="0"/>
          </a:p>
        </p:txBody>
      </p:sp>
      <p:sp>
        <p:nvSpPr>
          <p:cNvPr id="13" name="Text 11"/>
          <p:cNvSpPr/>
          <p:nvPr/>
        </p:nvSpPr>
        <p:spPr>
          <a:xfrm>
            <a:off x="1485900" y="6370290"/>
            <a:ext cx="7544467" cy="632222"/>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0E1A26"/>
                </a:solidFill>
                <a:latin typeface="Khula" pitchFamily="34" charset="0"/>
                <a:ea typeface="Khula" pitchFamily="34" charset="-122"/>
                <a:cs typeface="Khula" pitchFamily="34" charset="-120"/>
              </a:rPr>
              <a:t>Why do we want this done? The intent behind the task — the purpose that shapes how the model interprets its role and task.</a:t>
            </a:r>
            <a:endParaRPr lang="en-US" sz="1800" dirty="0"/>
          </a:p>
        </p:txBody>
      </p:sp>
      <p:sp>
        <p:nvSpPr>
          <p:cNvPr id="14" name="Shape 12"/>
          <p:cNvSpPr/>
          <p:nvPr/>
        </p:nvSpPr>
        <p:spPr>
          <a:xfrm>
            <a:off x="9229725" y="5760690"/>
            <a:ext cx="7820025" cy="1622822"/>
          </a:xfrm>
          <a:prstGeom prst="roundRect">
            <a:avLst>
              <a:gd name="adj" fmla="val 9391"/>
            </a:avLst>
          </a:prstGeom>
          <a:solidFill>
            <a:srgbClr val="E9F1FA"/>
          </a:solidFill>
          <a:ln/>
        </p:spPr>
        <p:txBody>
          <a:bodyPr/>
          <a:lstStyle/>
          <a:p>
            <a:endParaRPr lang="en-US"/>
          </a:p>
        </p:txBody>
      </p:sp>
      <p:sp>
        <p:nvSpPr>
          <p:cNvPr id="15" name="Text 13"/>
          <p:cNvSpPr/>
          <p:nvPr/>
        </p:nvSpPr>
        <p:spPr>
          <a:xfrm>
            <a:off x="9477375" y="5951190"/>
            <a:ext cx="8057197"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dirty="0">
                <a:solidFill>
                  <a:srgbClr val="005596"/>
                </a:solidFill>
                <a:latin typeface="Poppins" pitchFamily="34" charset="0"/>
                <a:ea typeface="Poppins" pitchFamily="34" charset="-122"/>
                <a:cs typeface="Poppins" pitchFamily="34" charset="-120"/>
              </a:rPr>
              <a:t>C — Constraints (HOW)</a:t>
            </a:r>
            <a:endParaRPr lang="en-US" sz="1800" dirty="0"/>
          </a:p>
        </p:txBody>
      </p:sp>
      <p:sp>
        <p:nvSpPr>
          <p:cNvPr id="16" name="Text 14"/>
          <p:cNvSpPr/>
          <p:nvPr/>
        </p:nvSpPr>
        <p:spPr>
          <a:xfrm>
            <a:off x="9477375" y="6370290"/>
            <a:ext cx="7544467" cy="632222"/>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0E1A26"/>
                </a:solidFill>
                <a:latin typeface="Khula" pitchFamily="34" charset="0"/>
                <a:ea typeface="Khula" pitchFamily="34" charset="-122"/>
                <a:cs typeface="Khula" pitchFamily="34" charset="-120"/>
              </a:rPr>
              <a:t>What data and rules does the model need? What must the output follow, or never do? What format is required?</a:t>
            </a:r>
            <a:endParaRPr lang="en-US" sz="1800" dirty="0"/>
          </a:p>
        </p:txBody>
      </p:sp>
      <p:sp>
        <p:nvSpPr>
          <p:cNvPr id="17" name="Text 15"/>
          <p:cNvSpPr/>
          <p:nvPr/>
        </p:nvSpPr>
        <p:spPr>
          <a:xfrm>
            <a:off x="1238250" y="7688312"/>
            <a:ext cx="16764000" cy="358080"/>
          </a:xfrm>
          <a:prstGeom prst="rect">
            <a:avLst/>
          </a:prstGeom>
          <a:noFill/>
          <a:ln/>
        </p:spPr>
        <p:txBody>
          <a:bodyPr wrap="square" lIns="25400" tIns="25400" rIns="25400" bIns="25400" rtlCol="0" anchor="t">
            <a:normAutofit/>
          </a:bodyPr>
          <a:lstStyle/>
          <a:p>
            <a:pPr marL="0" indent="0" algn="l">
              <a:lnSpc>
                <a:spcPct val="86154"/>
              </a:lnSpc>
              <a:buNone/>
            </a:pPr>
            <a:r>
              <a:rPr lang="en-US" sz="1800" dirty="0">
                <a:solidFill>
                  <a:srgbClr val="0E1A26"/>
                </a:solidFill>
                <a:latin typeface="Khula" pitchFamily="34" charset="0"/>
                <a:ea typeface="Khula" pitchFamily="34" charset="-122"/>
                <a:cs typeface="Khula" pitchFamily="34" charset="-120"/>
              </a:rPr>
              <a:t>WHO and WHAT define the contract. WHY gives it purpose. HOW provides the data and rules.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570411"/>
            <a:ext cx="3265289" cy="533400"/>
          </a:xfrm>
          <a:prstGeom prst="roundRect">
            <a:avLst>
              <a:gd name="adj" fmla="val 50000"/>
            </a:avLst>
          </a:prstGeom>
          <a:solidFill>
            <a:srgbClr val="005596"/>
          </a:solidFill>
          <a:ln/>
        </p:spPr>
        <p:txBody>
          <a:bodyPr/>
          <a:lstStyle/>
          <a:p>
            <a:endParaRPr lang="en-US"/>
          </a:p>
        </p:txBody>
      </p:sp>
      <p:sp>
        <p:nvSpPr>
          <p:cNvPr id="3" name="Text 1"/>
          <p:cNvSpPr/>
          <p:nvPr/>
        </p:nvSpPr>
        <p:spPr>
          <a:xfrm>
            <a:off x="1485900" y="2665661"/>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446711"/>
            <a:ext cx="17392650" cy="609600"/>
          </a:xfrm>
          <a:prstGeom prst="rect">
            <a:avLst/>
          </a:prstGeom>
          <a:noFill/>
          <a:ln/>
        </p:spPr>
        <p:txBody>
          <a:bodyPr wrap="square" lIns="25400" tIns="25400" rIns="25400" bIns="25400" rtlCol="0" anchor="t">
            <a:normAutofit/>
          </a:bodyPr>
          <a:lstStyle/>
          <a:p>
            <a:pPr marL="0" indent="0" algn="l">
              <a:lnSpc>
                <a:spcPct val="78947"/>
              </a:lnSpc>
              <a:buNone/>
            </a:pPr>
            <a:r>
              <a:rPr lang="en-US" sz="3750" b="1" kern="0" spc="-75" dirty="0">
                <a:solidFill>
                  <a:srgbClr val="005596"/>
                </a:solidFill>
                <a:latin typeface="Poppins" pitchFamily="34" charset="0"/>
                <a:ea typeface="Poppins" pitchFamily="34" charset="-122"/>
                <a:cs typeface="Poppins" pitchFamily="34" charset="-120"/>
              </a:rPr>
              <a:t>EDD: Define Your Evaluation Criteria Before You Build</a:t>
            </a:r>
            <a:endParaRPr lang="en-US" sz="3750" dirty="0"/>
          </a:p>
        </p:txBody>
      </p:sp>
      <p:sp>
        <p:nvSpPr>
          <p:cNvPr id="5" name="Text 3"/>
          <p:cNvSpPr/>
          <p:nvPr/>
        </p:nvSpPr>
        <p:spPr>
          <a:xfrm>
            <a:off x="1238250" y="4361111"/>
            <a:ext cx="15697200" cy="1109663"/>
          </a:xfrm>
          <a:prstGeom prst="rect">
            <a:avLst/>
          </a:prstGeom>
          <a:noFill/>
          <a:ln/>
        </p:spPr>
        <p:txBody>
          <a:bodyPr wrap="square" lIns="25400" tIns="25400" rIns="25400" bIns="25400" rtlCol="0" anchor="t">
            <a:normAutofit/>
          </a:bodyPr>
          <a:lstStyle/>
          <a:p>
            <a:pPr marL="0" indent="0" algn="l">
              <a:lnSpc>
                <a:spcPct val="93750"/>
              </a:lnSpc>
              <a:buNone/>
            </a:pPr>
            <a:r>
              <a:rPr lang="en-US" sz="1875" dirty="0">
                <a:solidFill>
                  <a:srgbClr val="0E1A26"/>
                </a:solidFill>
                <a:latin typeface="Khula" pitchFamily="34" charset="0"/>
                <a:ea typeface="Khula" pitchFamily="34" charset="-122"/>
                <a:cs typeface="Khula" pitchFamily="34" charset="-120"/>
              </a:rPr>
              <a:t>Before building the epics-and-stories skill, participants write their </a:t>
            </a:r>
            <a:r>
              <a:rPr lang="en-US" sz="1875" b="1" dirty="0">
                <a:solidFill>
                  <a:srgbClr val="0E1A26"/>
                </a:solidFill>
                <a:latin typeface="Khula" pitchFamily="34" charset="0"/>
                <a:ea typeface="Khula" pitchFamily="34" charset="-122"/>
                <a:cs typeface="Khula" pitchFamily="34" charset="-120"/>
              </a:rPr>
              <a:t>Evaluation Criteria (EC) </a:t>
            </a:r>
            <a:r>
              <a:rPr lang="en-US" sz="1875" dirty="0">
                <a:solidFill>
                  <a:srgbClr val="0E1A26"/>
                </a:solidFill>
                <a:latin typeface="Khula" pitchFamily="34" charset="0"/>
                <a:ea typeface="Khula" pitchFamily="34" charset="-122"/>
                <a:cs typeface="Khula" pitchFamily="34" charset="-120"/>
              </a:rPr>
              <a:t>— the quality bar for the skill's output. If you define EC after seeing the output, the model has already shaped your expectations. Writing EC first forces an honest definition of the target before you see whether it was hit.</a:t>
            </a:r>
            <a:endParaRPr lang="en-US" sz="1875" dirty="0"/>
          </a:p>
        </p:txBody>
      </p:sp>
      <p:sp>
        <p:nvSpPr>
          <p:cNvPr id="6" name="Shape 4"/>
          <p:cNvSpPr/>
          <p:nvPr/>
        </p:nvSpPr>
        <p:spPr>
          <a:xfrm>
            <a:off x="1238250" y="5775573"/>
            <a:ext cx="7791450" cy="1941016"/>
          </a:xfrm>
          <a:prstGeom prst="roundRect">
            <a:avLst>
              <a:gd name="adj" fmla="val 7852"/>
            </a:avLst>
          </a:prstGeom>
          <a:solidFill>
            <a:srgbClr val="F4F7FA"/>
          </a:solidFill>
          <a:ln/>
        </p:spPr>
        <p:txBody>
          <a:bodyPr/>
          <a:lstStyle/>
          <a:p>
            <a:endParaRPr lang="en-US"/>
          </a:p>
        </p:txBody>
      </p:sp>
      <p:sp>
        <p:nvSpPr>
          <p:cNvPr id="7" name="Text 5"/>
          <p:cNvSpPr/>
          <p:nvPr/>
        </p:nvSpPr>
        <p:spPr>
          <a:xfrm>
            <a:off x="1543050" y="6061323"/>
            <a:ext cx="7900035" cy="409575"/>
          </a:xfrm>
          <a:prstGeom prst="rect">
            <a:avLst/>
          </a:prstGeom>
          <a:noFill/>
          <a:ln/>
        </p:spPr>
        <p:txBody>
          <a:bodyPr wrap="square" lIns="25400" tIns="25400" rIns="25400" bIns="25400" rtlCol="0" anchor="t">
            <a:normAutofit/>
          </a:bodyPr>
          <a:lstStyle/>
          <a:p>
            <a:pPr marL="0" indent="0" algn="l">
              <a:lnSpc>
                <a:spcPct val="100000"/>
              </a:lnSpc>
              <a:buNone/>
            </a:pPr>
            <a:r>
              <a:rPr lang="en-US" sz="1950" b="1" dirty="0">
                <a:solidFill>
                  <a:srgbClr val="0E1A26"/>
                </a:solidFill>
                <a:latin typeface="Poppins" pitchFamily="34" charset="0"/>
                <a:ea typeface="Poppins" pitchFamily="34" charset="-122"/>
                <a:cs typeface="Poppins" pitchFamily="34" charset="-120"/>
              </a:rPr>
              <a:t>Acceptance Criteria (AC)</a:t>
            </a:r>
            <a:endParaRPr lang="en-US" sz="1950" dirty="0"/>
          </a:p>
        </p:txBody>
      </p:sp>
      <p:sp>
        <p:nvSpPr>
          <p:cNvPr id="8" name="Text 6"/>
          <p:cNvSpPr/>
          <p:nvPr/>
        </p:nvSpPr>
        <p:spPr>
          <a:xfrm>
            <a:off x="1543050" y="6547098"/>
            <a:ext cx="7397306" cy="655141"/>
          </a:xfrm>
          <a:prstGeom prst="rect">
            <a:avLst/>
          </a:prstGeom>
          <a:noFill/>
          <a:ln/>
        </p:spPr>
        <p:txBody>
          <a:bodyPr wrap="square" lIns="25400" tIns="25400" rIns="25400" bIns="25400" rtlCol="0" anchor="t">
            <a:normAutofit/>
          </a:bodyPr>
          <a:lstStyle/>
          <a:p>
            <a:pPr marL="0" indent="0" algn="l">
              <a:lnSpc>
                <a:spcPct val="83077"/>
              </a:lnSpc>
              <a:buNone/>
            </a:pPr>
            <a:r>
              <a:rPr lang="en-US" sz="1800" dirty="0">
                <a:solidFill>
                  <a:srgbClr val="0E1A26"/>
                </a:solidFill>
                <a:latin typeface="Khula" pitchFamily="34" charset="0"/>
                <a:ea typeface="Khula" pitchFamily="34" charset="-122"/>
                <a:cs typeface="Khula" pitchFamily="34" charset="-120"/>
              </a:rPr>
              <a:t>The product artifact — what a story must satisfy. This is what the epics-and-stories skill produces inside each story.</a:t>
            </a:r>
            <a:endParaRPr lang="en-US" sz="1800" dirty="0"/>
          </a:p>
        </p:txBody>
      </p:sp>
      <p:sp>
        <p:nvSpPr>
          <p:cNvPr id="9" name="Shape 7"/>
          <p:cNvSpPr/>
          <p:nvPr/>
        </p:nvSpPr>
        <p:spPr>
          <a:xfrm>
            <a:off x="9258300" y="5775573"/>
            <a:ext cx="7791450" cy="1941016"/>
          </a:xfrm>
          <a:prstGeom prst="roundRect">
            <a:avLst>
              <a:gd name="adj" fmla="val 7852"/>
            </a:avLst>
          </a:prstGeom>
          <a:solidFill>
            <a:srgbClr val="E9F1FA"/>
          </a:solidFill>
          <a:ln w="19050">
            <a:solidFill>
              <a:srgbClr val="005596"/>
            </a:solidFill>
            <a:prstDash val="solid"/>
          </a:ln>
        </p:spPr>
        <p:txBody>
          <a:bodyPr/>
          <a:lstStyle/>
          <a:p>
            <a:endParaRPr lang="en-US"/>
          </a:p>
        </p:txBody>
      </p:sp>
      <p:sp>
        <p:nvSpPr>
          <p:cNvPr id="10" name="Text 8"/>
          <p:cNvSpPr/>
          <p:nvPr/>
        </p:nvSpPr>
        <p:spPr>
          <a:xfrm>
            <a:off x="9582150" y="6080373"/>
            <a:ext cx="7858125" cy="409575"/>
          </a:xfrm>
          <a:prstGeom prst="rect">
            <a:avLst/>
          </a:prstGeom>
          <a:noFill/>
          <a:ln/>
        </p:spPr>
        <p:txBody>
          <a:bodyPr wrap="square" lIns="25400" tIns="25400" rIns="25400" bIns="25400" rtlCol="0" anchor="t">
            <a:normAutofit/>
          </a:bodyPr>
          <a:lstStyle/>
          <a:p>
            <a:pPr marL="0" indent="0" algn="l">
              <a:lnSpc>
                <a:spcPct val="100000"/>
              </a:lnSpc>
              <a:buNone/>
            </a:pPr>
            <a:r>
              <a:rPr lang="en-US" sz="1950" b="1" dirty="0">
                <a:solidFill>
                  <a:srgbClr val="005596"/>
                </a:solidFill>
                <a:latin typeface="Poppins" pitchFamily="34" charset="0"/>
                <a:ea typeface="Poppins" pitchFamily="34" charset="-122"/>
                <a:cs typeface="Poppins" pitchFamily="34" charset="-120"/>
              </a:rPr>
              <a:t>Evaluation Criteria (EC)</a:t>
            </a:r>
            <a:endParaRPr lang="en-US" sz="1950" dirty="0"/>
          </a:p>
        </p:txBody>
      </p:sp>
      <p:sp>
        <p:nvSpPr>
          <p:cNvPr id="11" name="Text 9"/>
          <p:cNvSpPr/>
          <p:nvPr/>
        </p:nvSpPr>
        <p:spPr>
          <a:xfrm>
            <a:off x="9582150" y="6566148"/>
            <a:ext cx="7358063" cy="655141"/>
          </a:xfrm>
          <a:prstGeom prst="rect">
            <a:avLst/>
          </a:prstGeom>
          <a:noFill/>
          <a:ln/>
        </p:spPr>
        <p:txBody>
          <a:bodyPr wrap="square" lIns="25400" tIns="25400" rIns="25400" bIns="25400" rtlCol="0" anchor="t">
            <a:normAutofit/>
          </a:bodyPr>
          <a:lstStyle/>
          <a:p>
            <a:pPr marL="0" indent="0" algn="l">
              <a:lnSpc>
                <a:spcPct val="83077"/>
              </a:lnSpc>
              <a:buNone/>
            </a:pPr>
            <a:r>
              <a:rPr lang="en-US" sz="1800" dirty="0">
                <a:solidFill>
                  <a:srgbClr val="0E1A26"/>
                </a:solidFill>
                <a:latin typeface="Khula" pitchFamily="34" charset="0"/>
                <a:ea typeface="Khula" pitchFamily="34" charset="-122"/>
                <a:cs typeface="Khula" pitchFamily="34" charset="-120"/>
              </a:rPr>
              <a:t>The quality bar for the skill's output. This is what you write before building the skill.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857250"/>
            <a:ext cx="4918025" cy="533400"/>
          </a:xfrm>
          <a:prstGeom prst="roundRect">
            <a:avLst>
              <a:gd name="adj" fmla="val 50000"/>
            </a:avLst>
          </a:prstGeom>
          <a:solidFill>
            <a:srgbClr val="9D1D96"/>
          </a:solidFill>
          <a:ln/>
        </p:spPr>
        <p:txBody>
          <a:bodyPr/>
          <a:lstStyle/>
          <a:p>
            <a:endParaRPr lang="en-US"/>
          </a:p>
        </p:txBody>
      </p:sp>
      <p:sp>
        <p:nvSpPr>
          <p:cNvPr id="3" name="Text 1"/>
          <p:cNvSpPr/>
          <p:nvPr/>
        </p:nvSpPr>
        <p:spPr>
          <a:xfrm>
            <a:off x="1485900" y="952500"/>
            <a:ext cx="4570266"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COMPARE/CONTRAST</a:t>
            </a:r>
            <a:endParaRPr lang="en-US" sz="1800" dirty="0"/>
          </a:p>
        </p:txBody>
      </p:sp>
      <p:sp>
        <p:nvSpPr>
          <p:cNvPr id="4" name="Text 2"/>
          <p:cNvSpPr/>
          <p:nvPr/>
        </p:nvSpPr>
        <p:spPr>
          <a:xfrm>
            <a:off x="1238250" y="1638300"/>
            <a:ext cx="17392650" cy="540990"/>
          </a:xfrm>
          <a:prstGeom prst="rect">
            <a:avLst/>
          </a:prstGeom>
          <a:noFill/>
          <a:ln/>
        </p:spPr>
        <p:txBody>
          <a:bodyPr wrap="square" lIns="25400" tIns="25400" rIns="25400" bIns="25400" rtlCol="0" anchor="t">
            <a:normAutofit/>
          </a:bodyPr>
          <a:lstStyle/>
          <a:p>
            <a:pPr marL="0" indent="0" algn="l">
              <a:lnSpc>
                <a:spcPct val="73333"/>
              </a:lnSpc>
              <a:buNone/>
            </a:pPr>
            <a:r>
              <a:rPr lang="en-US" sz="3600" b="1" kern="0" spc="-72" dirty="0">
                <a:solidFill>
                  <a:srgbClr val="005596"/>
                </a:solidFill>
                <a:latin typeface="Poppins" pitchFamily="34" charset="0"/>
                <a:ea typeface="Poppins" pitchFamily="34" charset="-122"/>
                <a:cs typeface="Poppins" pitchFamily="34" charset="-120"/>
              </a:rPr>
              <a:t>Basic Prompting vs. DLP Completion</a:t>
            </a:r>
            <a:endParaRPr lang="en-US" sz="3600" dirty="0"/>
          </a:p>
        </p:txBody>
      </p:sp>
      <p:sp>
        <p:nvSpPr>
          <p:cNvPr id="5" name="Text 3"/>
          <p:cNvSpPr/>
          <p:nvPr/>
        </p:nvSpPr>
        <p:spPr>
          <a:xfrm>
            <a:off x="1238250" y="2426940"/>
            <a:ext cx="78486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A7A8A9"/>
                </a:solidFill>
                <a:latin typeface="Poppins" pitchFamily="34" charset="0"/>
                <a:ea typeface="Poppins" pitchFamily="34" charset="-122"/>
                <a:cs typeface="Poppins" pitchFamily="34" charset="-120"/>
              </a:rPr>
              <a:t>LEAVING BEHIND</a:t>
            </a:r>
            <a:endParaRPr lang="en-US" sz="1800" dirty="0"/>
          </a:p>
        </p:txBody>
      </p:sp>
      <p:sp>
        <p:nvSpPr>
          <p:cNvPr id="6" name="Text 4"/>
          <p:cNvSpPr/>
          <p:nvPr/>
        </p:nvSpPr>
        <p:spPr>
          <a:xfrm>
            <a:off x="9429750" y="2426940"/>
            <a:ext cx="78486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005596"/>
                </a:solidFill>
                <a:latin typeface="Poppins" pitchFamily="34" charset="0"/>
                <a:ea typeface="Poppins" pitchFamily="34" charset="-122"/>
                <a:cs typeface="Poppins" pitchFamily="34" charset="-120"/>
              </a:rPr>
              <a:t>ADOPTING</a:t>
            </a:r>
            <a:endParaRPr lang="en-US" sz="1800" dirty="0"/>
          </a:p>
        </p:txBody>
      </p:sp>
      <p:sp>
        <p:nvSpPr>
          <p:cNvPr id="7" name="Shape 5"/>
          <p:cNvSpPr/>
          <p:nvPr/>
        </p:nvSpPr>
        <p:spPr>
          <a:xfrm>
            <a:off x="1238250" y="3074640"/>
            <a:ext cx="7620000" cy="571500"/>
          </a:xfrm>
          <a:prstGeom prst="roundRect">
            <a:avLst>
              <a:gd name="adj" fmla="val 16667"/>
            </a:avLst>
          </a:prstGeom>
          <a:solidFill>
            <a:srgbClr val="F4F7FA"/>
          </a:solidFill>
          <a:ln/>
        </p:spPr>
        <p:txBody>
          <a:bodyPr/>
          <a:lstStyle/>
          <a:p>
            <a:endParaRPr lang="en-US"/>
          </a:p>
        </p:txBody>
      </p:sp>
      <p:sp>
        <p:nvSpPr>
          <p:cNvPr id="8" name="Text 6"/>
          <p:cNvSpPr/>
          <p:nvPr/>
        </p:nvSpPr>
        <p:spPr>
          <a:xfrm>
            <a:off x="1447800" y="31889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Ad-hoc prompts, never committed</a:t>
            </a:r>
            <a:endParaRPr lang="en-US" sz="1800" dirty="0"/>
          </a:p>
        </p:txBody>
      </p:sp>
      <p:sp>
        <p:nvSpPr>
          <p:cNvPr id="9" name="Text 7"/>
          <p:cNvSpPr/>
          <p:nvPr/>
        </p:nvSpPr>
        <p:spPr>
          <a:xfrm>
            <a:off x="8820150" y="3188940"/>
            <a:ext cx="647700"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0" name="Shape 8"/>
          <p:cNvSpPr/>
          <p:nvPr/>
        </p:nvSpPr>
        <p:spPr>
          <a:xfrm>
            <a:off x="9429750" y="3074640"/>
            <a:ext cx="7620000" cy="571500"/>
          </a:xfrm>
          <a:prstGeom prst="roundRect">
            <a:avLst>
              <a:gd name="adj" fmla="val 16667"/>
            </a:avLst>
          </a:prstGeom>
          <a:solidFill>
            <a:srgbClr val="E9F1FA"/>
          </a:solidFill>
          <a:ln/>
        </p:spPr>
        <p:txBody>
          <a:bodyPr/>
          <a:lstStyle/>
          <a:p>
            <a:endParaRPr lang="en-US"/>
          </a:p>
        </p:txBody>
      </p:sp>
      <p:sp>
        <p:nvSpPr>
          <p:cNvPr id="11" name="Text 9"/>
          <p:cNvSpPr/>
          <p:nvPr/>
        </p:nvSpPr>
        <p:spPr>
          <a:xfrm>
            <a:off x="9639300" y="31889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b="1" dirty="0">
                <a:solidFill>
                  <a:srgbClr val="0E1A26"/>
                </a:solidFill>
                <a:latin typeface="Khula" pitchFamily="34" charset="0"/>
                <a:ea typeface="Khula" pitchFamily="34" charset="-122"/>
                <a:cs typeface="Khula" pitchFamily="34" charset="-120"/>
              </a:rPr>
              <a:t>Skills with RTCC structure, committed to repo</a:t>
            </a:r>
            <a:endParaRPr lang="en-US" sz="1800" dirty="0"/>
          </a:p>
        </p:txBody>
      </p:sp>
      <p:sp>
        <p:nvSpPr>
          <p:cNvPr id="12" name="Shape 10"/>
          <p:cNvSpPr/>
          <p:nvPr/>
        </p:nvSpPr>
        <p:spPr>
          <a:xfrm>
            <a:off x="1238250" y="3722340"/>
            <a:ext cx="7620000" cy="571500"/>
          </a:xfrm>
          <a:prstGeom prst="roundRect">
            <a:avLst>
              <a:gd name="adj" fmla="val 16667"/>
            </a:avLst>
          </a:prstGeom>
          <a:solidFill>
            <a:srgbClr val="F4F7FA"/>
          </a:solidFill>
          <a:ln/>
        </p:spPr>
        <p:txBody>
          <a:bodyPr/>
          <a:lstStyle/>
          <a:p>
            <a:endParaRPr lang="en-US"/>
          </a:p>
        </p:txBody>
      </p:sp>
      <p:sp>
        <p:nvSpPr>
          <p:cNvPr id="13" name="Text 11"/>
          <p:cNvSpPr/>
          <p:nvPr/>
        </p:nvSpPr>
        <p:spPr>
          <a:xfrm>
            <a:off x="1447800" y="38366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No way to know if changes improve or just change</a:t>
            </a:r>
            <a:endParaRPr lang="en-US" sz="1800" dirty="0"/>
          </a:p>
        </p:txBody>
      </p:sp>
      <p:sp>
        <p:nvSpPr>
          <p:cNvPr id="14" name="Text 12"/>
          <p:cNvSpPr/>
          <p:nvPr/>
        </p:nvSpPr>
        <p:spPr>
          <a:xfrm>
            <a:off x="8820150" y="3836640"/>
            <a:ext cx="647700"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15" name="Shape 13"/>
          <p:cNvSpPr/>
          <p:nvPr/>
        </p:nvSpPr>
        <p:spPr>
          <a:xfrm>
            <a:off x="9429750" y="3722340"/>
            <a:ext cx="7620000" cy="571500"/>
          </a:xfrm>
          <a:prstGeom prst="roundRect">
            <a:avLst>
              <a:gd name="adj" fmla="val 16667"/>
            </a:avLst>
          </a:prstGeom>
          <a:solidFill>
            <a:srgbClr val="E9F1FA"/>
          </a:solidFill>
          <a:ln/>
        </p:spPr>
        <p:txBody>
          <a:bodyPr/>
          <a:lstStyle/>
          <a:p>
            <a:endParaRPr lang="en-US"/>
          </a:p>
        </p:txBody>
      </p:sp>
      <p:sp>
        <p:nvSpPr>
          <p:cNvPr id="16" name="Text 14"/>
          <p:cNvSpPr/>
          <p:nvPr/>
        </p:nvSpPr>
        <p:spPr>
          <a:xfrm>
            <a:off x="9639300" y="38366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b="1" dirty="0">
                <a:solidFill>
                  <a:srgbClr val="0E1A26"/>
                </a:solidFill>
                <a:latin typeface="Khula" pitchFamily="34" charset="0"/>
                <a:ea typeface="Khula" pitchFamily="34" charset="-122"/>
                <a:cs typeface="Khula" pitchFamily="34" charset="-120"/>
              </a:rPr>
              <a:t>EC written first; evaluation is non-negotiable</a:t>
            </a:r>
            <a:endParaRPr lang="en-US" sz="1800" dirty="0"/>
          </a:p>
        </p:txBody>
      </p:sp>
      <p:sp>
        <p:nvSpPr>
          <p:cNvPr id="17" name="Shape 15"/>
          <p:cNvSpPr/>
          <p:nvPr/>
        </p:nvSpPr>
        <p:spPr>
          <a:xfrm>
            <a:off x="1238250" y="4370040"/>
            <a:ext cx="7620000" cy="571500"/>
          </a:xfrm>
          <a:prstGeom prst="roundRect">
            <a:avLst>
              <a:gd name="adj" fmla="val 16667"/>
            </a:avLst>
          </a:prstGeom>
          <a:solidFill>
            <a:srgbClr val="F4F7FA"/>
          </a:solidFill>
          <a:ln/>
        </p:spPr>
        <p:txBody>
          <a:bodyPr/>
          <a:lstStyle/>
          <a:p>
            <a:endParaRPr lang="en-US"/>
          </a:p>
        </p:txBody>
      </p:sp>
      <p:sp>
        <p:nvSpPr>
          <p:cNvPr id="18" name="Text 16"/>
          <p:cNvSpPr/>
          <p:nvPr/>
        </p:nvSpPr>
        <p:spPr>
          <a:xfrm>
            <a:off x="1447800" y="44843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AI used occasionally, off-the-shelf</a:t>
            </a:r>
            <a:endParaRPr lang="en-US" sz="1800" dirty="0"/>
          </a:p>
        </p:txBody>
      </p:sp>
      <p:sp>
        <p:nvSpPr>
          <p:cNvPr id="19" name="Text 17"/>
          <p:cNvSpPr/>
          <p:nvPr/>
        </p:nvSpPr>
        <p:spPr>
          <a:xfrm>
            <a:off x="8820150" y="4484340"/>
            <a:ext cx="647700"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0" name="Shape 18"/>
          <p:cNvSpPr/>
          <p:nvPr/>
        </p:nvSpPr>
        <p:spPr>
          <a:xfrm>
            <a:off x="9429750" y="4370040"/>
            <a:ext cx="7620000" cy="571500"/>
          </a:xfrm>
          <a:prstGeom prst="roundRect">
            <a:avLst>
              <a:gd name="adj" fmla="val 16667"/>
            </a:avLst>
          </a:prstGeom>
          <a:solidFill>
            <a:srgbClr val="E9F1FA"/>
          </a:solidFill>
          <a:ln/>
        </p:spPr>
        <p:txBody>
          <a:bodyPr/>
          <a:lstStyle/>
          <a:p>
            <a:endParaRPr lang="en-US"/>
          </a:p>
        </p:txBody>
      </p:sp>
      <p:sp>
        <p:nvSpPr>
          <p:cNvPr id="21" name="Text 19"/>
          <p:cNvSpPr/>
          <p:nvPr/>
        </p:nvSpPr>
        <p:spPr>
          <a:xfrm>
            <a:off x="9639300" y="44843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b="1" dirty="0">
                <a:solidFill>
                  <a:srgbClr val="0E1A26"/>
                </a:solidFill>
                <a:latin typeface="Khula" pitchFamily="34" charset="0"/>
                <a:ea typeface="Khula" pitchFamily="34" charset="-122"/>
                <a:cs typeface="Khula" pitchFamily="34" charset="-120"/>
              </a:rPr>
              <a:t>AI-assisted work is default behavior</a:t>
            </a:r>
            <a:endParaRPr lang="en-US" sz="1800" dirty="0"/>
          </a:p>
        </p:txBody>
      </p:sp>
      <p:sp>
        <p:nvSpPr>
          <p:cNvPr id="22" name="Shape 20"/>
          <p:cNvSpPr/>
          <p:nvPr/>
        </p:nvSpPr>
        <p:spPr>
          <a:xfrm>
            <a:off x="1238250" y="5017740"/>
            <a:ext cx="7620000" cy="571500"/>
          </a:xfrm>
          <a:prstGeom prst="roundRect">
            <a:avLst>
              <a:gd name="adj" fmla="val 16667"/>
            </a:avLst>
          </a:prstGeom>
          <a:solidFill>
            <a:srgbClr val="F4F7FA"/>
          </a:solidFill>
          <a:ln/>
        </p:spPr>
        <p:txBody>
          <a:bodyPr/>
          <a:lstStyle/>
          <a:p>
            <a:endParaRPr lang="en-US"/>
          </a:p>
        </p:txBody>
      </p:sp>
      <p:sp>
        <p:nvSpPr>
          <p:cNvPr id="23" name="Text 21"/>
          <p:cNvSpPr/>
          <p:nvPr/>
        </p:nvSpPr>
        <p:spPr>
          <a:xfrm>
            <a:off x="1447800" y="51320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No shared artifacts across the team</a:t>
            </a:r>
            <a:endParaRPr lang="en-US" sz="1800" dirty="0"/>
          </a:p>
        </p:txBody>
      </p:sp>
      <p:sp>
        <p:nvSpPr>
          <p:cNvPr id="24" name="Text 22"/>
          <p:cNvSpPr/>
          <p:nvPr/>
        </p:nvSpPr>
        <p:spPr>
          <a:xfrm>
            <a:off x="8820150" y="5132040"/>
            <a:ext cx="647700"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25" name="Shape 23"/>
          <p:cNvSpPr/>
          <p:nvPr/>
        </p:nvSpPr>
        <p:spPr>
          <a:xfrm>
            <a:off x="9429750" y="5017740"/>
            <a:ext cx="7620000" cy="571500"/>
          </a:xfrm>
          <a:prstGeom prst="roundRect">
            <a:avLst>
              <a:gd name="adj" fmla="val 16667"/>
            </a:avLst>
          </a:prstGeom>
          <a:solidFill>
            <a:srgbClr val="E9F1FA"/>
          </a:solidFill>
          <a:ln/>
        </p:spPr>
        <p:txBody>
          <a:bodyPr/>
          <a:lstStyle/>
          <a:p>
            <a:endParaRPr lang="en-US"/>
          </a:p>
        </p:txBody>
      </p:sp>
      <p:sp>
        <p:nvSpPr>
          <p:cNvPr id="26" name="Text 24"/>
          <p:cNvSpPr/>
          <p:nvPr/>
        </p:nvSpPr>
        <p:spPr>
          <a:xfrm>
            <a:off x="9639300" y="51320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b="1" dirty="0">
                <a:solidFill>
                  <a:srgbClr val="0E1A26"/>
                </a:solidFill>
                <a:latin typeface="Khula" pitchFamily="34" charset="0"/>
                <a:ea typeface="Khula" pitchFamily="34" charset="-122"/>
                <a:cs typeface="Khula" pitchFamily="34" charset="-120"/>
              </a:rPr>
              <a:t>Skills are transferable, repeatable, shareable</a:t>
            </a:r>
            <a:endParaRPr lang="en-US" sz="1800" dirty="0"/>
          </a:p>
        </p:txBody>
      </p:sp>
      <p:sp>
        <p:nvSpPr>
          <p:cNvPr id="27" name="Shape 25"/>
          <p:cNvSpPr/>
          <p:nvPr/>
        </p:nvSpPr>
        <p:spPr>
          <a:xfrm>
            <a:off x="1238250" y="5665440"/>
            <a:ext cx="7620000" cy="571500"/>
          </a:xfrm>
          <a:prstGeom prst="roundRect">
            <a:avLst>
              <a:gd name="adj" fmla="val 16667"/>
            </a:avLst>
          </a:prstGeom>
          <a:solidFill>
            <a:srgbClr val="F4F7FA"/>
          </a:solidFill>
          <a:ln/>
        </p:spPr>
        <p:txBody>
          <a:bodyPr/>
          <a:lstStyle/>
          <a:p>
            <a:endParaRPr lang="en-US"/>
          </a:p>
        </p:txBody>
      </p:sp>
      <p:sp>
        <p:nvSpPr>
          <p:cNvPr id="28" name="Text 26"/>
          <p:cNvSpPr/>
          <p:nvPr/>
        </p:nvSpPr>
        <p:spPr>
          <a:xfrm>
            <a:off x="1447800" y="57797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"It seemed better" is the quality bar</a:t>
            </a:r>
            <a:endParaRPr lang="en-US" sz="1800" dirty="0"/>
          </a:p>
        </p:txBody>
      </p:sp>
      <p:sp>
        <p:nvSpPr>
          <p:cNvPr id="29" name="Text 27"/>
          <p:cNvSpPr/>
          <p:nvPr/>
        </p:nvSpPr>
        <p:spPr>
          <a:xfrm>
            <a:off x="8820150" y="5779740"/>
            <a:ext cx="647700"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4597D3"/>
                </a:solidFill>
                <a:latin typeface="Khula" pitchFamily="34" charset="0"/>
                <a:ea typeface="Khula" pitchFamily="34" charset="-122"/>
                <a:cs typeface="Khula" pitchFamily="34" charset="-120"/>
              </a:rPr>
              <a:t>→</a:t>
            </a:r>
            <a:endParaRPr lang="en-US" sz="1800" dirty="0"/>
          </a:p>
        </p:txBody>
      </p:sp>
      <p:sp>
        <p:nvSpPr>
          <p:cNvPr id="30" name="Shape 28"/>
          <p:cNvSpPr/>
          <p:nvPr/>
        </p:nvSpPr>
        <p:spPr>
          <a:xfrm>
            <a:off x="9429750" y="5665440"/>
            <a:ext cx="7620000" cy="571500"/>
          </a:xfrm>
          <a:prstGeom prst="roundRect">
            <a:avLst>
              <a:gd name="adj" fmla="val 16667"/>
            </a:avLst>
          </a:prstGeom>
          <a:solidFill>
            <a:srgbClr val="E9F1FA"/>
          </a:solidFill>
          <a:ln/>
        </p:spPr>
        <p:txBody>
          <a:bodyPr/>
          <a:lstStyle/>
          <a:p>
            <a:endParaRPr lang="en-US"/>
          </a:p>
        </p:txBody>
      </p:sp>
      <p:sp>
        <p:nvSpPr>
          <p:cNvPr id="31" name="Text 29"/>
          <p:cNvSpPr/>
          <p:nvPr/>
        </p:nvSpPr>
        <p:spPr>
          <a:xfrm>
            <a:off x="9639300" y="5779740"/>
            <a:ext cx="7429500" cy="381000"/>
          </a:xfrm>
          <a:prstGeom prst="rect">
            <a:avLst/>
          </a:prstGeom>
          <a:noFill/>
          <a:ln/>
        </p:spPr>
        <p:txBody>
          <a:bodyPr wrap="square" lIns="25400" tIns="25400" rIns="25400" bIns="25400" rtlCol="0" anchor="t">
            <a:normAutofit/>
          </a:bodyPr>
          <a:lstStyle/>
          <a:p>
            <a:pPr marL="0" indent="0" algn="l">
              <a:lnSpc>
                <a:spcPct val="92308"/>
              </a:lnSpc>
              <a:buNone/>
            </a:pPr>
            <a:r>
              <a:rPr lang="en-US" sz="1800" b="1" dirty="0">
                <a:solidFill>
                  <a:srgbClr val="0E1A26"/>
                </a:solidFill>
                <a:latin typeface="Khula" pitchFamily="34" charset="0"/>
                <a:ea typeface="Khula" pitchFamily="34" charset="-122"/>
                <a:cs typeface="Khula" pitchFamily="34" charset="-120"/>
              </a:rPr>
              <a:t>Documented iteration cycles with evidence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1649909"/>
            <a:ext cx="2927747" cy="533400"/>
          </a:xfrm>
          <a:prstGeom prst="roundRect">
            <a:avLst>
              <a:gd name="adj" fmla="val 50000"/>
            </a:avLst>
          </a:prstGeom>
          <a:solidFill>
            <a:srgbClr val="5BC2A7"/>
          </a:solidFill>
          <a:ln/>
        </p:spPr>
        <p:txBody>
          <a:bodyPr/>
          <a:lstStyle/>
          <a:p>
            <a:endParaRPr lang="en-US"/>
          </a:p>
        </p:txBody>
      </p:sp>
      <p:sp>
        <p:nvSpPr>
          <p:cNvPr id="3" name="Text 1"/>
          <p:cNvSpPr/>
          <p:nvPr/>
        </p:nvSpPr>
        <p:spPr>
          <a:xfrm>
            <a:off x="1485900" y="1745159"/>
            <a:ext cx="2520279"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0E1A26"/>
                </a:solidFill>
                <a:latin typeface="Poppins" pitchFamily="34" charset="0"/>
                <a:ea typeface="Poppins" pitchFamily="34" charset="-122"/>
                <a:cs typeface="Poppins" pitchFamily="34" charset="-120"/>
              </a:rPr>
              <a:t>SLIDE TYPE — DEMO</a:t>
            </a:r>
            <a:endParaRPr lang="en-US" sz="1800" dirty="0"/>
          </a:p>
        </p:txBody>
      </p:sp>
      <p:sp>
        <p:nvSpPr>
          <p:cNvPr id="4" name="Text 2"/>
          <p:cNvSpPr/>
          <p:nvPr/>
        </p:nvSpPr>
        <p:spPr>
          <a:xfrm>
            <a:off x="1238250" y="2602409"/>
            <a:ext cx="17392650" cy="624780"/>
          </a:xfrm>
          <a:prstGeom prst="rect">
            <a:avLst/>
          </a:prstGeom>
          <a:noFill/>
          <a:ln/>
        </p:spPr>
        <p:txBody>
          <a:bodyPr wrap="square" lIns="25400" tIns="25400" rIns="25400" bIns="25400" rtlCol="0" anchor="t">
            <a:normAutofit/>
          </a:bodyPr>
          <a:lstStyle/>
          <a:p>
            <a:pPr marL="0" indent="0" algn="l">
              <a:lnSpc>
                <a:spcPct val="72471"/>
              </a:lnSpc>
              <a:buNone/>
            </a:pPr>
            <a:r>
              <a:rPr lang="en-US" sz="4200" b="1" kern="0" spc="-84" dirty="0">
                <a:solidFill>
                  <a:srgbClr val="005596"/>
                </a:solidFill>
                <a:latin typeface="Poppins" pitchFamily="34" charset="0"/>
                <a:ea typeface="Poppins" pitchFamily="34" charset="-122"/>
                <a:cs typeface="Poppins" pitchFamily="34" charset="-120"/>
              </a:rPr>
              <a:t>Demo: What Good Epics and Stories Look Like</a:t>
            </a:r>
            <a:endParaRPr lang="en-US" sz="4200" dirty="0"/>
          </a:p>
        </p:txBody>
      </p:sp>
      <p:sp>
        <p:nvSpPr>
          <p:cNvPr id="5" name="Text 3"/>
          <p:cNvSpPr/>
          <p:nvPr/>
        </p:nvSpPr>
        <p:spPr>
          <a:xfrm>
            <a:off x="1238250" y="3608189"/>
            <a:ext cx="1739265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A7A8A9"/>
                </a:solidFill>
                <a:latin typeface="Poppins" pitchFamily="34" charset="0"/>
                <a:ea typeface="Poppins" pitchFamily="34" charset="-122"/>
                <a:cs typeface="Poppins" pitchFamily="34" charset="-120"/>
              </a:rPr>
              <a:t>DESCRIPTION</a:t>
            </a:r>
            <a:endParaRPr lang="en-US" sz="1800" dirty="0"/>
          </a:p>
        </p:txBody>
      </p:sp>
      <p:sp>
        <p:nvSpPr>
          <p:cNvPr id="6" name="Text 4"/>
          <p:cNvSpPr/>
          <p:nvPr/>
        </p:nvSpPr>
        <p:spPr>
          <a:xfrm>
            <a:off x="1238250" y="4065389"/>
            <a:ext cx="14225588" cy="1980754"/>
          </a:xfrm>
          <a:prstGeom prst="rect">
            <a:avLst/>
          </a:prstGeom>
          <a:noFill/>
          <a:ln/>
        </p:spPr>
        <p:txBody>
          <a:bodyPr wrap="square" lIns="25400" tIns="25400" rIns="25400" bIns="25400" rtlCol="0" anchor="t">
            <a:normAutofit/>
          </a:bodyPr>
          <a:lstStyle/>
          <a:p>
            <a:pPr marL="0" indent="0" algn="l">
              <a:lnSpc>
                <a:spcPct val="98462"/>
              </a:lnSpc>
              <a:buNone/>
            </a:pPr>
            <a:r>
              <a:rPr lang="en-US" sz="1800" dirty="0">
                <a:solidFill>
                  <a:srgbClr val="0E1A26"/>
                </a:solidFill>
                <a:latin typeface="Khula" pitchFamily="34" charset="0"/>
                <a:ea typeface="Khula" pitchFamily="34" charset="-122"/>
                <a:cs typeface="Khula" pitchFamily="34" charset="-120"/>
              </a:rPr>
              <a:t>Three examples of epics and stories from the </a:t>
            </a:r>
            <a:r>
              <a:rPr lang="en-US" sz="1800" dirty="0">
                <a:solidFill>
                  <a:srgbClr val="0E1A26"/>
                </a:solidFill>
                <a:highlight>
                  <a:srgbClr val="F4F7FA"/>
                </a:highlight>
                <a:latin typeface="Courier New" pitchFamily="34" charset="0"/>
                <a:ea typeface="Courier New" pitchFamily="34" charset="-122"/>
                <a:cs typeface="Courier New" pitchFamily="34" charset="-120"/>
              </a:rPr>
              <a:t>sample-stories/ </a:t>
            </a:r>
            <a:r>
              <a:rPr lang="en-US" sz="1800" dirty="0">
                <a:solidFill>
                  <a:srgbClr val="0E1A26"/>
                </a:solidFill>
                <a:latin typeface="Khula" pitchFamily="34" charset="0"/>
                <a:ea typeface="Khula" pitchFamily="34" charset="-122"/>
                <a:cs typeface="Khula" pitchFamily="34" charset="-120"/>
              </a:rPr>
              <a:t>directory: one good (</a:t>
            </a:r>
            <a:r>
              <a:rPr lang="en-US" sz="1800" dirty="0">
                <a:solidFill>
                  <a:srgbClr val="0E1A26"/>
                </a:solidFill>
                <a:highlight>
                  <a:srgbClr val="F4F7FA"/>
                </a:highlight>
                <a:latin typeface="Courier New" pitchFamily="34" charset="0"/>
                <a:ea typeface="Courier New" pitchFamily="34" charset="-122"/>
                <a:cs typeface="Courier New" pitchFamily="34" charset="-120"/>
              </a:rPr>
              <a:t>pantry-inventory.md </a:t>
            </a:r>
            <a:r>
              <a:rPr lang="en-US" sz="1800" dirty="0">
                <a:solidFill>
                  <a:srgbClr val="0E1A26"/>
                </a:solidFill>
                <a:latin typeface="Khula" pitchFamily="34" charset="0"/>
                <a:ea typeface="Khula" pitchFamily="34" charset="-122"/>
                <a:cs typeface="Khula" pitchFamily="34" charset="-120"/>
              </a:rPr>
              <a:t>/ </a:t>
            </a:r>
            <a:r>
              <a:rPr lang="en-US" sz="1800" dirty="0">
                <a:solidFill>
                  <a:srgbClr val="0E1A26"/>
                </a:solidFill>
                <a:highlight>
                  <a:srgbClr val="F4F7FA"/>
                </a:highlight>
                <a:latin typeface="Courier New" pitchFamily="34" charset="0"/>
                <a:ea typeface="Courier New" pitchFamily="34" charset="-122"/>
                <a:cs typeface="Courier New" pitchFamily="34" charset="-120"/>
              </a:rPr>
              <a:t>shopping-list.md </a:t>
            </a:r>
            <a:r>
              <a:rPr lang="en-US" sz="1800" dirty="0">
                <a:solidFill>
                  <a:srgbClr val="0E1A26"/>
                </a:solidFill>
                <a:latin typeface="Khula" pitchFamily="34" charset="0"/>
                <a:ea typeface="Khula" pitchFamily="34" charset="-122"/>
                <a:cs typeface="Khula" pitchFamily="34" charset="-120"/>
              </a:rPr>
              <a:t>— clear AC, testable, edge cases covered), one vague (</a:t>
            </a:r>
            <a:r>
              <a:rPr lang="en-US" sz="1800" dirty="0">
                <a:solidFill>
                  <a:srgbClr val="0E1A26"/>
                </a:solidFill>
                <a:highlight>
                  <a:srgbClr val="F4F7FA"/>
                </a:highlight>
                <a:latin typeface="Courier New" pitchFamily="34" charset="0"/>
                <a:ea typeface="Courier New" pitchFamily="34" charset="-122"/>
                <a:cs typeface="Courier New" pitchFamily="34" charset="-120"/>
              </a:rPr>
              <a:t>vague-pantry-stories.md </a:t>
            </a:r>
            <a:r>
              <a:rPr lang="en-US" sz="1800" dirty="0">
                <a:solidFill>
                  <a:srgbClr val="0E1A26"/>
                </a:solidFill>
                <a:latin typeface="Khula" pitchFamily="34" charset="0"/>
                <a:ea typeface="Khula" pitchFamily="34" charset="-122"/>
                <a:cs typeface="Khula" pitchFamily="34" charset="-120"/>
              </a:rPr>
              <a:t>— plausible-sounding but untestable, missing AC detail, no edge cases), and one AI-generated-without-care ( </a:t>
            </a:r>
            <a:r>
              <a:rPr lang="en-US" sz="1800" dirty="0">
                <a:solidFill>
                  <a:srgbClr val="0E1A26"/>
                </a:solidFill>
                <a:highlight>
                  <a:srgbClr val="F4F7FA"/>
                </a:highlight>
                <a:latin typeface="Courier New" pitchFamily="34" charset="0"/>
                <a:ea typeface="Courier New" pitchFamily="34" charset="-122"/>
                <a:cs typeface="Courier New" pitchFamily="34" charset="-120"/>
              </a:rPr>
              <a:t>ai-generated-pantry-stories.md </a:t>
            </a:r>
            <a:r>
              <a:rPr lang="en-US" sz="1800" dirty="0">
                <a:solidFill>
                  <a:srgbClr val="0E1A26"/>
                </a:solidFill>
                <a:latin typeface="Khula" pitchFamily="34" charset="0"/>
                <a:ea typeface="Khula" pitchFamily="34" charset="-122"/>
                <a:cs typeface="Khula" pitchFamily="34" charset="-120"/>
              </a:rPr>
              <a:t>— polished-sounding but AC describe implementation detail like PostgreSQL/JWT/Redux, epics too large, edge cases missing). This shows what the epics-and-stories skill should produce and what it shouldn't, making the quality bar concrete before you build your own skill.</a:t>
            </a:r>
            <a:endParaRPr lang="en-US" sz="1800" dirty="0"/>
          </a:p>
        </p:txBody>
      </p:sp>
      <p:sp>
        <p:nvSpPr>
          <p:cNvPr id="7" name="Shape 5"/>
          <p:cNvSpPr/>
          <p:nvPr/>
        </p:nvSpPr>
        <p:spPr>
          <a:xfrm>
            <a:off x="1238250" y="6655743"/>
            <a:ext cx="14630400" cy="1981200"/>
          </a:xfrm>
          <a:prstGeom prst="roundRect">
            <a:avLst>
              <a:gd name="adj" fmla="val 7692"/>
            </a:avLst>
          </a:prstGeom>
          <a:solidFill>
            <a:srgbClr val="EAF6F1"/>
          </a:solidFill>
          <a:ln/>
        </p:spPr>
        <p:txBody>
          <a:bodyPr/>
          <a:lstStyle/>
          <a:p>
            <a:endParaRPr lang="en-US"/>
          </a:p>
        </p:txBody>
      </p:sp>
      <p:sp>
        <p:nvSpPr>
          <p:cNvPr id="8" name="Shape 6"/>
          <p:cNvSpPr/>
          <p:nvPr/>
        </p:nvSpPr>
        <p:spPr>
          <a:xfrm>
            <a:off x="1238250" y="6655743"/>
            <a:ext cx="57150" cy="1981200"/>
          </a:xfrm>
          <a:prstGeom prst="rect">
            <a:avLst/>
          </a:prstGeom>
          <a:solidFill>
            <a:srgbClr val="5BC2A7"/>
          </a:solidFill>
          <a:ln/>
        </p:spPr>
        <p:txBody>
          <a:bodyPr/>
          <a:lstStyle/>
          <a:p>
            <a:endParaRPr lang="en-US"/>
          </a:p>
        </p:txBody>
      </p:sp>
      <p:sp>
        <p:nvSpPr>
          <p:cNvPr id="9" name="Text 7"/>
          <p:cNvSpPr/>
          <p:nvPr/>
        </p:nvSpPr>
        <p:spPr>
          <a:xfrm>
            <a:off x="1676400" y="6960543"/>
            <a:ext cx="15192375"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0E1A26"/>
                </a:solidFill>
                <a:latin typeface="Poppins" pitchFamily="34" charset="0"/>
                <a:ea typeface="Poppins" pitchFamily="34" charset="-122"/>
                <a:cs typeface="Poppins" pitchFamily="34" charset="-120"/>
              </a:rPr>
              <a:t>WHAT TO FOCUS ON</a:t>
            </a:r>
            <a:endParaRPr lang="en-US" sz="1800" dirty="0"/>
          </a:p>
        </p:txBody>
      </p:sp>
      <p:sp>
        <p:nvSpPr>
          <p:cNvPr id="10" name="Text 8"/>
          <p:cNvSpPr/>
          <p:nvPr/>
        </p:nvSpPr>
        <p:spPr>
          <a:xfrm>
            <a:off x="1676400" y="7417743"/>
            <a:ext cx="14225588" cy="723900"/>
          </a:xfrm>
          <a:prstGeom prst="rect">
            <a:avLst/>
          </a:prstGeom>
          <a:noFill/>
          <a:ln/>
        </p:spPr>
        <p:txBody>
          <a:bodyPr wrap="square" lIns="25400" tIns="25400" rIns="25400" bIns="25400" rtlCol="0" anchor="t">
            <a:normAutofit/>
          </a:bodyPr>
          <a:lstStyle/>
          <a:p>
            <a:pPr marL="0" indent="0" algn="l">
              <a:lnSpc>
                <a:spcPct val="92308"/>
              </a:lnSpc>
              <a:buNone/>
            </a:pPr>
            <a:r>
              <a:rPr lang="en-US" sz="1800" dirty="0">
                <a:solidFill>
                  <a:srgbClr val="0E1A26"/>
                </a:solidFill>
                <a:latin typeface="Khula" pitchFamily="34" charset="0"/>
                <a:ea typeface="Khula" pitchFamily="34" charset="-122"/>
                <a:cs typeface="Khula" pitchFamily="34" charset="-120"/>
              </a:rPr>
              <a:t>Notice the difference between "plausible-sounding but untestable" and "specific and testable." Watch for what AI gets wrong: stories without clear acceptance criteria, epics that are too large, missing edge cases.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857250"/>
            <a:ext cx="3368873" cy="533400"/>
          </a:xfrm>
          <a:prstGeom prst="roundRect">
            <a:avLst>
              <a:gd name="adj" fmla="val 50000"/>
            </a:avLst>
          </a:prstGeom>
          <a:solidFill>
            <a:srgbClr val="F5BB41"/>
          </a:solidFill>
          <a:ln/>
        </p:spPr>
        <p:txBody>
          <a:bodyPr/>
          <a:lstStyle/>
          <a:p>
            <a:endParaRPr lang="en-US"/>
          </a:p>
        </p:txBody>
      </p:sp>
      <p:sp>
        <p:nvSpPr>
          <p:cNvPr id="3" name="Text 1"/>
          <p:cNvSpPr/>
          <p:nvPr/>
        </p:nvSpPr>
        <p:spPr>
          <a:xfrm>
            <a:off x="1485900" y="952500"/>
            <a:ext cx="2974640"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666875"/>
            <a:ext cx="6751275" cy="561975"/>
          </a:xfrm>
          <a:prstGeom prst="rect">
            <a:avLst/>
          </a:prstGeom>
          <a:noFill/>
          <a:ln/>
        </p:spPr>
        <p:txBody>
          <a:bodyPr wrap="square" lIns="25400" tIns="25400" rIns="25400" bIns="25400" rtlCol="0" anchor="t">
            <a:normAutofit/>
          </a:bodyPr>
          <a:lstStyle/>
          <a:p>
            <a:pPr marL="0" indent="0" algn="l">
              <a:lnSpc>
                <a:spcPct val="72368"/>
              </a:lnSpc>
              <a:buNone/>
            </a:pPr>
            <a:r>
              <a:rPr lang="en-US" sz="3750" b="1" kern="0" spc="-75" dirty="0">
                <a:solidFill>
                  <a:srgbClr val="005596"/>
                </a:solidFill>
                <a:latin typeface="Poppins" pitchFamily="34" charset="0"/>
                <a:ea typeface="Poppins" pitchFamily="34" charset="-122"/>
                <a:cs typeface="Poppins" pitchFamily="34" charset="-120"/>
              </a:rPr>
              <a:t>Lab 1: IDE Setup + Rules File</a:t>
            </a:r>
            <a:endParaRPr lang="en-US" sz="3750" dirty="0"/>
          </a:p>
        </p:txBody>
      </p:sp>
      <p:sp>
        <p:nvSpPr>
          <p:cNvPr id="5" name="Shape 3"/>
          <p:cNvSpPr/>
          <p:nvPr/>
        </p:nvSpPr>
        <p:spPr>
          <a:xfrm>
            <a:off x="14825067" y="1657350"/>
            <a:ext cx="2224683" cy="533400"/>
          </a:xfrm>
          <a:prstGeom prst="roundRect">
            <a:avLst>
              <a:gd name="adj" fmla="val 50000"/>
            </a:avLst>
          </a:prstGeom>
          <a:solidFill>
            <a:srgbClr val="005596"/>
          </a:solidFill>
          <a:ln/>
        </p:spPr>
        <p:txBody>
          <a:bodyPr/>
          <a:lstStyle/>
          <a:p>
            <a:endParaRPr lang="en-US"/>
          </a:p>
        </p:txBody>
      </p:sp>
      <p:sp>
        <p:nvSpPr>
          <p:cNvPr id="6" name="Text 4"/>
          <p:cNvSpPr/>
          <p:nvPr/>
        </p:nvSpPr>
        <p:spPr>
          <a:xfrm>
            <a:off x="15072717" y="1752600"/>
            <a:ext cx="1805583"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 20 MINUTES</a:t>
            </a:r>
            <a:endParaRPr lang="en-US" sz="1800" dirty="0"/>
          </a:p>
        </p:txBody>
      </p:sp>
      <p:sp>
        <p:nvSpPr>
          <p:cNvPr id="7" name="Text 5"/>
          <p:cNvSpPr/>
          <p:nvPr/>
        </p:nvSpPr>
        <p:spPr>
          <a:xfrm>
            <a:off x="1200150" y="2457450"/>
            <a:ext cx="14706600" cy="1318022"/>
          </a:xfrm>
          <a:prstGeom prst="rect">
            <a:avLst/>
          </a:prstGeom>
          <a:noFill/>
          <a:ln/>
        </p:spPr>
        <p:txBody>
          <a:bodyPr wrap="square" lIns="25400" tIns="25400" rIns="25400" bIns="25400" rtlCol="0" anchor="t">
            <a:normAutofit/>
          </a:bodyPr>
          <a:lstStyle/>
          <a:p>
            <a:pPr marL="342900" indent="-342900" algn="l">
              <a:lnSpc>
                <a:spcPct val="86154"/>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Configure your harness of choice (M365 Copilot, Claude Code, Devin, GitHub Copilot, or equivalent)</a:t>
            </a:r>
            <a:endParaRPr lang="en-US" sz="1800" dirty="0"/>
          </a:p>
          <a:p>
            <a:pPr marL="342900" indent="-342900" algn="l">
              <a:lnSpc>
                <a:spcPct val="86154"/>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Create a project directory you will use throughout this project.  Install the skill if you are in a Harness that supports skills.</a:t>
            </a:r>
            <a:endParaRPr lang="en-US" sz="1800" dirty="0"/>
          </a:p>
          <a:p>
            <a:pPr marL="342900" indent="-342900" algn="l">
              <a:lnSpc>
                <a:spcPct val="86154"/>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Verify the harness is running by running the Pantry Inventory Tracking file.</a:t>
            </a:r>
            <a:endParaRPr lang="en-US" sz="1800" dirty="0"/>
          </a:p>
          <a:p>
            <a:pPr marL="342900" indent="-342900" algn="l">
              <a:lnSpc>
                <a:spcPct val="86154"/>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If you hit setup issues, pair with someone in your breakout room</a:t>
            </a:r>
            <a:endParaRPr lang="en-US" sz="1800" dirty="0"/>
          </a:p>
        </p:txBody>
      </p:sp>
      <p:sp>
        <p:nvSpPr>
          <p:cNvPr id="8" name="Shape 6"/>
          <p:cNvSpPr/>
          <p:nvPr/>
        </p:nvSpPr>
        <p:spPr>
          <a:xfrm>
            <a:off x="1238250" y="4004072"/>
            <a:ext cx="15811500" cy="1268611"/>
          </a:xfrm>
          <a:prstGeom prst="roundRect">
            <a:avLst>
              <a:gd name="adj" fmla="val 12013"/>
            </a:avLst>
          </a:prstGeom>
          <a:solidFill>
            <a:srgbClr val="005596"/>
          </a:solidFill>
          <a:ln/>
          <a:effectLst>
            <a:outerShdw blurRad="266700" dist="114300" dir="5400000" algn="bl" rotWithShape="0">
              <a:srgbClr val="005596">
                <a:alpha val="28000"/>
              </a:srgbClr>
            </a:outerShdw>
          </a:effectLst>
        </p:spPr>
        <p:txBody>
          <a:bodyPr/>
          <a:lstStyle/>
          <a:p>
            <a:endParaRPr lang="en-US"/>
          </a:p>
        </p:txBody>
      </p:sp>
      <p:sp>
        <p:nvSpPr>
          <p:cNvPr id="9" name="Text 7"/>
          <p:cNvSpPr/>
          <p:nvPr/>
        </p:nvSpPr>
        <p:spPr>
          <a:xfrm>
            <a:off x="1543050" y="4175522"/>
            <a:ext cx="1672209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108"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43050" y="4575572"/>
            <a:ext cx="16722090" cy="335161"/>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FFFFFF"/>
                </a:solidFill>
                <a:latin typeface="Khula" pitchFamily="34" charset="0"/>
                <a:ea typeface="Khula" pitchFamily="34" charset="-122"/>
                <a:cs typeface="Khula" pitchFamily="34" charset="-120"/>
              </a:rPr>
              <a:t>You have a running agentic IDE with a committed rules file that gives the model context about the student workspace.</a:t>
            </a:r>
            <a:endParaRPr lang="en-US" sz="1800" dirty="0"/>
          </a:p>
        </p:txBody>
      </p:sp>
      <p:sp>
        <p:nvSpPr>
          <p:cNvPr id="11" name="Shape 9"/>
          <p:cNvSpPr/>
          <p:nvPr/>
        </p:nvSpPr>
        <p:spPr>
          <a:xfrm>
            <a:off x="1238250" y="5539383"/>
            <a:ext cx="15811500" cy="1078111"/>
          </a:xfrm>
          <a:prstGeom prst="roundRect">
            <a:avLst>
              <a:gd name="adj" fmla="val 14136"/>
            </a:avLst>
          </a:prstGeom>
          <a:solidFill>
            <a:srgbClr val="FBF1FA"/>
          </a:solidFill>
          <a:ln w="28575">
            <a:solidFill>
              <a:srgbClr val="9D1D96"/>
            </a:solidFill>
            <a:prstDash val="dash"/>
          </a:ln>
        </p:spPr>
        <p:txBody>
          <a:bodyPr/>
          <a:lstStyle/>
          <a:p>
            <a:endParaRPr lang="en-US"/>
          </a:p>
        </p:txBody>
      </p:sp>
      <p:sp>
        <p:nvSpPr>
          <p:cNvPr id="12" name="Text 10"/>
          <p:cNvSpPr/>
          <p:nvPr/>
        </p:nvSpPr>
        <p:spPr>
          <a:xfrm>
            <a:off x="1571625" y="5720358"/>
            <a:ext cx="16659225"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9D1D96"/>
                </a:solidFill>
                <a:latin typeface="Poppins" pitchFamily="34" charset="0"/>
                <a:ea typeface="Poppins" pitchFamily="34" charset="-122"/>
                <a:cs typeface="Poppins" pitchFamily="34" charset="-120"/>
              </a:rPr>
              <a:t>STRETCH GOALS (FOR ADVANCED USERS) — OPTIONAL</a:t>
            </a:r>
            <a:endParaRPr lang="en-US" sz="1800" dirty="0"/>
          </a:p>
        </p:txBody>
      </p:sp>
      <p:sp>
        <p:nvSpPr>
          <p:cNvPr id="13" name="Text 11"/>
          <p:cNvSpPr/>
          <p:nvPr/>
        </p:nvSpPr>
        <p:spPr>
          <a:xfrm>
            <a:off x="1571625" y="6139458"/>
            <a:ext cx="16659225" cy="335161"/>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0E1A26"/>
                </a:solidFill>
                <a:latin typeface="Khula" pitchFamily="34" charset="0"/>
                <a:ea typeface="Khula" pitchFamily="34" charset="-122"/>
                <a:cs typeface="Khula" pitchFamily="34" charset="-120"/>
              </a:rPr>
              <a:t>Configure rules with specific TypeScript/React conventions for the pantry app — naming, ShadCN/Tailwind, Express routes, strict mode.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671018"/>
            <a:ext cx="3368873" cy="533400"/>
          </a:xfrm>
          <a:prstGeom prst="roundRect">
            <a:avLst>
              <a:gd name="adj" fmla="val 50000"/>
            </a:avLst>
          </a:prstGeom>
          <a:solidFill>
            <a:srgbClr val="F5BB41"/>
          </a:solidFill>
          <a:ln/>
        </p:spPr>
        <p:txBody>
          <a:bodyPr/>
          <a:lstStyle/>
          <a:p>
            <a:endParaRPr lang="en-US"/>
          </a:p>
        </p:txBody>
      </p:sp>
      <p:sp>
        <p:nvSpPr>
          <p:cNvPr id="3" name="Text 1"/>
          <p:cNvSpPr/>
          <p:nvPr/>
        </p:nvSpPr>
        <p:spPr>
          <a:xfrm>
            <a:off x="1485900" y="2766268"/>
            <a:ext cx="2974640"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3516957"/>
            <a:ext cx="14566508" cy="563761"/>
          </a:xfrm>
          <a:prstGeom prst="rect">
            <a:avLst/>
          </a:prstGeom>
          <a:noFill/>
          <a:ln/>
        </p:spPr>
        <p:txBody>
          <a:bodyPr wrap="square" lIns="25400" tIns="25400" rIns="25400" bIns="25400" rtlCol="0" anchor="t">
            <a:normAutofit/>
          </a:bodyPr>
          <a:lstStyle/>
          <a:p>
            <a:pPr marL="0" indent="0" algn="l">
              <a:lnSpc>
                <a:spcPct val="80000"/>
              </a:lnSpc>
              <a:buNone/>
            </a:pPr>
            <a:r>
              <a:rPr lang="en-US" sz="3450" b="1" kern="0" spc="-69" dirty="0">
                <a:solidFill>
                  <a:srgbClr val="005596"/>
                </a:solidFill>
                <a:latin typeface="Poppins" pitchFamily="34" charset="0"/>
                <a:ea typeface="Poppins" pitchFamily="34" charset="-122"/>
                <a:cs typeface="Poppins" pitchFamily="34" charset="-120"/>
              </a:rPr>
              <a:t>Lab 2: Write Evaluation Criteria for Your Epics-and-Stories Skill</a:t>
            </a:r>
            <a:endParaRPr lang="en-US" sz="3450" dirty="0"/>
          </a:p>
        </p:txBody>
      </p:sp>
      <p:sp>
        <p:nvSpPr>
          <p:cNvPr id="5" name="Shape 3"/>
          <p:cNvSpPr/>
          <p:nvPr/>
        </p:nvSpPr>
        <p:spPr>
          <a:xfrm>
            <a:off x="14870013" y="3509218"/>
            <a:ext cx="2179737" cy="533400"/>
          </a:xfrm>
          <a:prstGeom prst="roundRect">
            <a:avLst>
              <a:gd name="adj" fmla="val 50000"/>
            </a:avLst>
          </a:prstGeom>
          <a:solidFill>
            <a:srgbClr val="005596"/>
          </a:solidFill>
          <a:ln/>
        </p:spPr>
        <p:txBody>
          <a:bodyPr/>
          <a:lstStyle/>
          <a:p>
            <a:endParaRPr lang="en-US"/>
          </a:p>
        </p:txBody>
      </p:sp>
      <p:sp>
        <p:nvSpPr>
          <p:cNvPr id="6" name="Text 4"/>
          <p:cNvSpPr/>
          <p:nvPr/>
        </p:nvSpPr>
        <p:spPr>
          <a:xfrm>
            <a:off x="15117663" y="3604468"/>
            <a:ext cx="1760637"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 15 MINUTES</a:t>
            </a:r>
            <a:endParaRPr lang="en-US" sz="1800" dirty="0"/>
          </a:p>
        </p:txBody>
      </p:sp>
      <p:sp>
        <p:nvSpPr>
          <p:cNvPr id="7" name="Text 5"/>
          <p:cNvSpPr/>
          <p:nvPr/>
        </p:nvSpPr>
        <p:spPr>
          <a:xfrm>
            <a:off x="1200150" y="4347418"/>
            <a:ext cx="15182850" cy="1638002"/>
          </a:xfrm>
          <a:prstGeom prst="rect">
            <a:avLst/>
          </a:prstGeom>
          <a:noFill/>
          <a:ln/>
        </p:spPr>
        <p:txBody>
          <a:bodyPr wrap="square" lIns="25400" tIns="25400" rIns="25400" bIns="25400" rtlCol="0" anchor="t">
            <a:normAutofit/>
          </a:bodyPr>
          <a:lstStyle/>
          <a:p>
            <a:pPr marL="342900" indent="-342900" algn="l">
              <a:lnSpc>
                <a:spcPct val="86154"/>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For your epics-and-stories skill: write 4–6 EC that define what good output looks like</a:t>
            </a:r>
            <a:endParaRPr lang="en-US" sz="1800" dirty="0"/>
          </a:p>
          <a:p>
            <a:pPr marL="342900" indent="-342900" algn="l">
              <a:lnSpc>
                <a:spcPct val="86154"/>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Suggested starting EC: every story has clear Acceptance Criteria; stories are independently deliverable; 3–8 stories per epic; at least one story covers a failure or edge case; no story describes implementation detail</a:t>
            </a:r>
            <a:endParaRPr lang="en-US" sz="1800" dirty="0"/>
          </a:p>
          <a:p>
            <a:pPr marL="342900" indent="-342900" algn="l">
              <a:lnSpc>
                <a:spcPct val="86154"/>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Remember: EC evaluates the skill's output quality. AC is what each story must satisfy. Don't confuse them.</a:t>
            </a:r>
            <a:endParaRPr lang="en-US" sz="1800" dirty="0"/>
          </a:p>
          <a:p>
            <a:pPr marL="342900" indent="-342900" algn="l">
              <a:lnSpc>
                <a:spcPct val="86154"/>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Write your evaluation criteria into a file stored in your class directory.</a:t>
            </a:r>
            <a:endParaRPr lang="en-US" sz="1800" dirty="0"/>
          </a:p>
        </p:txBody>
      </p:sp>
      <p:sp>
        <p:nvSpPr>
          <p:cNvPr id="8" name="Shape 6"/>
          <p:cNvSpPr/>
          <p:nvPr/>
        </p:nvSpPr>
        <p:spPr>
          <a:xfrm>
            <a:off x="1238250" y="6252121"/>
            <a:ext cx="15811500" cy="1363861"/>
          </a:xfrm>
          <a:prstGeom prst="roundRect">
            <a:avLst>
              <a:gd name="adj" fmla="val 11174"/>
            </a:avLst>
          </a:prstGeom>
          <a:solidFill>
            <a:srgbClr val="005596"/>
          </a:solidFill>
          <a:ln/>
          <a:effectLst>
            <a:outerShdw blurRad="266700" dist="114300" dir="5400000" algn="bl" rotWithShape="0">
              <a:srgbClr val="005596">
                <a:alpha val="28000"/>
              </a:srgbClr>
            </a:outerShdw>
          </a:effectLst>
        </p:spPr>
        <p:txBody>
          <a:bodyPr/>
          <a:lstStyle/>
          <a:p>
            <a:endParaRPr lang="en-US"/>
          </a:p>
        </p:txBody>
      </p:sp>
      <p:sp>
        <p:nvSpPr>
          <p:cNvPr id="9" name="Text 7"/>
          <p:cNvSpPr/>
          <p:nvPr/>
        </p:nvSpPr>
        <p:spPr>
          <a:xfrm>
            <a:off x="1581150" y="6461671"/>
            <a:ext cx="1663827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108"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81150" y="6880771"/>
            <a:ext cx="16638270" cy="335161"/>
          </a:xfrm>
          <a:prstGeom prst="rect">
            <a:avLst/>
          </a:prstGeom>
          <a:noFill/>
          <a:ln/>
        </p:spPr>
        <p:txBody>
          <a:bodyPr wrap="square" lIns="25400" tIns="25400" rIns="25400" bIns="25400" rtlCol="0" anchor="t">
            <a:normAutofit/>
          </a:bodyPr>
          <a:lstStyle/>
          <a:p>
            <a:pPr marL="0" indent="0" algn="l">
              <a:lnSpc>
                <a:spcPct val="80000"/>
              </a:lnSpc>
              <a:buNone/>
            </a:pPr>
            <a:r>
              <a:rPr lang="en-US" sz="1800" dirty="0">
                <a:solidFill>
                  <a:srgbClr val="FFFFFF"/>
                </a:solidFill>
                <a:latin typeface="Khula" pitchFamily="34" charset="0"/>
                <a:ea typeface="Khula" pitchFamily="34" charset="-122"/>
                <a:cs typeface="Khula" pitchFamily="34" charset="-120"/>
              </a:rPr>
              <a:t>You have 4–6 written EC for your epics-and-stories skill, each specific and measurable, committed before building the skill.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609600"/>
            <a:ext cx="3368873" cy="533400"/>
          </a:xfrm>
          <a:prstGeom prst="roundRect">
            <a:avLst>
              <a:gd name="adj" fmla="val 50000"/>
            </a:avLst>
          </a:prstGeom>
          <a:solidFill>
            <a:srgbClr val="F5BB41"/>
          </a:solidFill>
          <a:ln/>
        </p:spPr>
        <p:txBody>
          <a:bodyPr/>
          <a:lstStyle/>
          <a:p>
            <a:endParaRPr lang="en-US"/>
          </a:p>
        </p:txBody>
      </p:sp>
      <p:sp>
        <p:nvSpPr>
          <p:cNvPr id="3" name="Text 1"/>
          <p:cNvSpPr/>
          <p:nvPr/>
        </p:nvSpPr>
        <p:spPr>
          <a:xfrm>
            <a:off x="1485900" y="704850"/>
            <a:ext cx="2974640"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365945"/>
            <a:ext cx="8962192" cy="520005"/>
          </a:xfrm>
          <a:prstGeom prst="rect">
            <a:avLst/>
          </a:prstGeom>
          <a:noFill/>
          <a:ln/>
        </p:spPr>
        <p:txBody>
          <a:bodyPr wrap="square" lIns="25400" tIns="25400" rIns="25400" bIns="25400" rtlCol="0" anchor="t">
            <a:normAutofit/>
          </a:bodyPr>
          <a:lstStyle/>
          <a:p>
            <a:pPr marL="0" indent="0" algn="l">
              <a:lnSpc>
                <a:spcPct val="73333"/>
              </a:lnSpc>
              <a:buNone/>
            </a:pPr>
            <a:r>
              <a:rPr lang="en-US" sz="3450" b="1" kern="0" spc="-69" dirty="0">
                <a:solidFill>
                  <a:srgbClr val="005596"/>
                </a:solidFill>
                <a:latin typeface="Poppins" pitchFamily="34" charset="0"/>
                <a:ea typeface="Poppins" pitchFamily="34" charset="-122"/>
                <a:cs typeface="Poppins" pitchFamily="34" charset="-120"/>
              </a:rPr>
              <a:t>Lab 3: Build the Epics-and-Stories Skill</a:t>
            </a:r>
            <a:endParaRPr lang="en-US" sz="3450" dirty="0"/>
          </a:p>
        </p:txBody>
      </p:sp>
      <p:sp>
        <p:nvSpPr>
          <p:cNvPr id="5" name="Shape 3"/>
          <p:cNvSpPr/>
          <p:nvPr/>
        </p:nvSpPr>
        <p:spPr>
          <a:xfrm>
            <a:off x="14801255" y="1314450"/>
            <a:ext cx="2248495" cy="533400"/>
          </a:xfrm>
          <a:prstGeom prst="roundRect">
            <a:avLst>
              <a:gd name="adj" fmla="val 50000"/>
            </a:avLst>
          </a:prstGeom>
          <a:solidFill>
            <a:srgbClr val="005596"/>
          </a:solidFill>
          <a:ln/>
        </p:spPr>
        <p:txBody>
          <a:bodyPr/>
          <a:lstStyle/>
          <a:p>
            <a:endParaRPr lang="en-US"/>
          </a:p>
        </p:txBody>
      </p:sp>
      <p:sp>
        <p:nvSpPr>
          <p:cNvPr id="6" name="Text 4"/>
          <p:cNvSpPr/>
          <p:nvPr/>
        </p:nvSpPr>
        <p:spPr>
          <a:xfrm>
            <a:off x="15048905" y="1409700"/>
            <a:ext cx="1829395"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 45 MINUTES</a:t>
            </a:r>
            <a:endParaRPr lang="en-US" sz="1800" dirty="0"/>
          </a:p>
        </p:txBody>
      </p:sp>
      <p:sp>
        <p:nvSpPr>
          <p:cNvPr id="7" name="Text 5"/>
          <p:cNvSpPr/>
          <p:nvPr/>
        </p:nvSpPr>
        <p:spPr>
          <a:xfrm>
            <a:off x="1162050" y="2019300"/>
            <a:ext cx="15963900" cy="1752600"/>
          </a:xfrm>
          <a:prstGeom prst="rect">
            <a:avLst/>
          </a:prstGeom>
          <a:noFill/>
          <a:ln/>
        </p:spPr>
        <p:txBody>
          <a:bodyPr wrap="square" lIns="25400" tIns="25400" rIns="25400" bIns="25400" rtlCol="0" anchor="t">
            <a:normAutofit/>
          </a:bodyPr>
          <a:lstStyle/>
          <a:p>
            <a:pPr marL="342900" indent="-342900" algn="l">
              <a:lnSpc>
                <a:spcPct val="76923"/>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Open the create-epics-</a:t>
            </a:r>
            <a:r>
              <a:rPr lang="en-US" sz="1800" dirty="0" err="1">
                <a:solidFill>
                  <a:srgbClr val="0E1A26"/>
                </a:solidFill>
                <a:latin typeface="Khula" pitchFamily="34" charset="0"/>
                <a:ea typeface="Khula" pitchFamily="34" charset="-122"/>
                <a:cs typeface="Khula" pitchFamily="34" charset="-120"/>
              </a:rPr>
              <a:t>stories.skill.md</a:t>
            </a:r>
            <a:r>
              <a:rPr lang="en-US" sz="1800" dirty="0">
                <a:solidFill>
                  <a:srgbClr val="0E1A26"/>
                </a:solidFill>
                <a:latin typeface="Khula" pitchFamily="34" charset="0"/>
                <a:ea typeface="Khula" pitchFamily="34" charset="-122"/>
                <a:cs typeface="Khula" pitchFamily="34" charset="-120"/>
              </a:rPr>
              <a:t> (renamed </a:t>
            </a:r>
            <a:r>
              <a:rPr lang="en-US" sz="1800" dirty="0" err="1">
                <a:solidFill>
                  <a:srgbClr val="0E1A26"/>
                </a:solidFill>
                <a:latin typeface="Khula" pitchFamily="34" charset="0"/>
                <a:ea typeface="Khula" pitchFamily="34" charset="-122"/>
                <a:cs typeface="Khula" pitchFamily="34" charset="-120"/>
              </a:rPr>
              <a:t>SKILL.md</a:t>
            </a:r>
            <a:r>
              <a:rPr lang="en-US" sz="1800" dirty="0">
                <a:solidFill>
                  <a:srgbClr val="0E1A26"/>
                </a:solidFill>
                <a:latin typeface="Khula" pitchFamily="34" charset="0"/>
                <a:ea typeface="Khula" pitchFamily="34" charset="-122"/>
                <a:cs typeface="Khula" pitchFamily="34" charset="-120"/>
              </a:rPr>
              <a:t> during Lab 1 in some harnesses) skeleton — Role and Task defined, Context and Constraints empty</a:t>
            </a:r>
            <a:endParaRPr lang="en-US" sz="1800" dirty="0"/>
          </a:p>
          <a:p>
            <a:pPr marL="342900" indent="-342900" algn="l">
              <a:lnSpc>
                <a:spcPct val="76923"/>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Using RTCC, fill in Context (WHY) and Constraints (HOW: story format, team standards, domain details)</a:t>
            </a:r>
            <a:endParaRPr lang="en-US" sz="1800" dirty="0"/>
          </a:p>
          <a:p>
            <a:pPr marL="342900" indent="-342900" algn="l">
              <a:lnSpc>
                <a:spcPct val="76923"/>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The skill has disable-model-invocation: true — invoke it via slash command</a:t>
            </a:r>
            <a:endParaRPr lang="en-US" sz="1800" dirty="0"/>
          </a:p>
          <a:p>
            <a:pPr marL="342900" indent="-342900" algn="l">
              <a:lnSpc>
                <a:spcPct val="76923"/>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The skill writes to stories.yaml in the workspace root — Session 2's plan-story skill reads it</a:t>
            </a:r>
            <a:endParaRPr lang="en-US" sz="1800" dirty="0"/>
          </a:p>
          <a:p>
            <a:pPr marL="342900" indent="-342900" algn="l">
              <a:lnSpc>
                <a:spcPct val="76923"/>
              </a:lnSpc>
              <a:buSzPct val="100000"/>
              <a:buFont typeface="+mj-lt"/>
              <a:buAutoNum type="arabicPeriod"/>
              <a:tabLst>
                <a:tab pos="342900" algn="l"/>
              </a:tabLst>
            </a:pPr>
            <a:r>
              <a:rPr lang="en-US" sz="1800" dirty="0">
                <a:solidFill>
                  <a:srgbClr val="0E1A26"/>
                </a:solidFill>
                <a:latin typeface="Khula" pitchFamily="34" charset="0"/>
                <a:ea typeface="Khula" pitchFamily="34" charset="-122"/>
                <a:cs typeface="Khula" pitchFamily="34" charset="-120"/>
              </a:rPr>
              <a:t>Run the skill on the demo PRD/Architecture/UX outputs, then evaluate against your EC and commit</a:t>
            </a:r>
          </a:p>
          <a:p>
            <a:pPr marL="342900" indent="-342900" algn="l">
              <a:lnSpc>
                <a:spcPct val="76923"/>
              </a:lnSpc>
              <a:buSzPct val="100000"/>
              <a:buFont typeface="+mj-lt"/>
              <a:buAutoNum type="arabicPeriod"/>
              <a:tabLst>
                <a:tab pos="342900" algn="l"/>
              </a:tabLst>
            </a:pPr>
            <a:r>
              <a:rPr lang="en-US" sz="1800" dirty="0">
                <a:solidFill>
                  <a:srgbClr val="0E1A26"/>
                </a:solidFill>
                <a:latin typeface="Khula" pitchFamily="34" charset="0"/>
                <a:cs typeface="Khula" pitchFamily="34" charset="-120"/>
              </a:rPr>
              <a:t>Compare the results to your EC</a:t>
            </a:r>
            <a:r>
              <a:rPr lang="en-US" dirty="0">
                <a:solidFill>
                  <a:srgbClr val="0E1A26"/>
                </a:solidFill>
                <a:latin typeface="Khula" pitchFamily="34" charset="0"/>
                <a:cs typeface="Khula" pitchFamily="34" charset="-120"/>
              </a:rPr>
              <a:t>, modify the prompt in a way that brings it closer to your skills, and then run Step 5 again.</a:t>
            </a:r>
            <a:endParaRPr lang="en-US" sz="1800" dirty="0"/>
          </a:p>
        </p:txBody>
      </p:sp>
      <p:sp>
        <p:nvSpPr>
          <p:cNvPr id="8" name="Shape 6"/>
          <p:cNvSpPr/>
          <p:nvPr/>
        </p:nvSpPr>
        <p:spPr>
          <a:xfrm>
            <a:off x="1238250" y="3905250"/>
            <a:ext cx="15811500" cy="1188690"/>
          </a:xfrm>
          <a:prstGeom prst="roundRect">
            <a:avLst>
              <a:gd name="adj" fmla="val 12821"/>
            </a:avLst>
          </a:prstGeom>
          <a:solidFill>
            <a:srgbClr val="005596"/>
          </a:solidFill>
          <a:ln/>
          <a:effectLst>
            <a:outerShdw blurRad="266700" dist="114300" dir="5400000" algn="bl" rotWithShape="0">
              <a:srgbClr val="005596">
                <a:alpha val="28000"/>
              </a:srgbClr>
            </a:outerShdw>
          </a:effectLst>
        </p:spPr>
        <p:txBody>
          <a:bodyPr/>
          <a:lstStyle/>
          <a:p>
            <a:endParaRPr lang="en-US"/>
          </a:p>
        </p:txBody>
      </p:sp>
      <p:sp>
        <p:nvSpPr>
          <p:cNvPr id="9" name="Text 7"/>
          <p:cNvSpPr/>
          <p:nvPr/>
        </p:nvSpPr>
        <p:spPr>
          <a:xfrm>
            <a:off x="1524000" y="4057650"/>
            <a:ext cx="16764000"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108"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24000" y="4438650"/>
            <a:ext cx="16764000" cy="312390"/>
          </a:xfrm>
          <a:prstGeom prst="rect">
            <a:avLst/>
          </a:prstGeom>
          <a:noFill/>
          <a:ln/>
        </p:spPr>
        <p:txBody>
          <a:bodyPr wrap="square" lIns="25400" tIns="25400" rIns="25400" bIns="25400" rtlCol="0" anchor="t">
            <a:normAutofit/>
          </a:bodyPr>
          <a:lstStyle/>
          <a:p>
            <a:pPr marL="0" indent="0" algn="l">
              <a:lnSpc>
                <a:spcPct val="73846"/>
              </a:lnSpc>
              <a:buNone/>
            </a:pPr>
            <a:r>
              <a:rPr lang="en-US" sz="1800" dirty="0">
                <a:solidFill>
                  <a:srgbClr val="FFFFFF"/>
                </a:solidFill>
                <a:latin typeface="Khula" pitchFamily="34" charset="0"/>
                <a:ea typeface="Khula" pitchFamily="34" charset="-122"/>
                <a:cs typeface="Khula" pitchFamily="34" charset="-120"/>
              </a:rPr>
              <a:t>A committed skill with RTCC structure filled in, every instruction mapped to an EC, and output evaluated against your EC on the demo inputs.</a:t>
            </a:r>
            <a:endParaRPr lang="en-US" sz="1800" dirty="0"/>
          </a:p>
        </p:txBody>
      </p:sp>
      <p:sp>
        <p:nvSpPr>
          <p:cNvPr id="11" name="Shape 9"/>
          <p:cNvSpPr/>
          <p:nvPr/>
        </p:nvSpPr>
        <p:spPr>
          <a:xfrm>
            <a:off x="1238250" y="5265390"/>
            <a:ext cx="15811500" cy="998190"/>
          </a:xfrm>
          <a:prstGeom prst="roundRect">
            <a:avLst>
              <a:gd name="adj" fmla="val 15268"/>
            </a:avLst>
          </a:prstGeom>
          <a:solidFill>
            <a:srgbClr val="FBF1FA"/>
          </a:solidFill>
          <a:ln w="28575">
            <a:solidFill>
              <a:srgbClr val="9D1D96"/>
            </a:solidFill>
            <a:prstDash val="dash"/>
          </a:ln>
        </p:spPr>
        <p:txBody>
          <a:bodyPr/>
          <a:lstStyle/>
          <a:p>
            <a:endParaRPr lang="en-US"/>
          </a:p>
        </p:txBody>
      </p:sp>
      <p:sp>
        <p:nvSpPr>
          <p:cNvPr id="12" name="Text 10"/>
          <p:cNvSpPr/>
          <p:nvPr/>
        </p:nvSpPr>
        <p:spPr>
          <a:xfrm>
            <a:off x="1533525" y="5427315"/>
            <a:ext cx="16743045" cy="381000"/>
          </a:xfrm>
          <a:prstGeom prst="rect">
            <a:avLst/>
          </a:prstGeom>
          <a:noFill/>
          <a:ln/>
        </p:spPr>
        <p:txBody>
          <a:bodyPr wrap="square" lIns="25400" tIns="25400" rIns="25400" bIns="25400" rtlCol="0" anchor="t">
            <a:normAutofit/>
          </a:bodyPr>
          <a:lstStyle/>
          <a:p>
            <a:pPr marL="0" indent="0" algn="l">
              <a:lnSpc>
                <a:spcPct val="102857"/>
              </a:lnSpc>
              <a:buNone/>
            </a:pPr>
            <a:r>
              <a:rPr lang="en-US" sz="1800" b="1" kern="0" spc="90" dirty="0">
                <a:solidFill>
                  <a:srgbClr val="9D1D96"/>
                </a:solidFill>
                <a:latin typeface="Poppins" pitchFamily="34" charset="0"/>
                <a:ea typeface="Poppins" pitchFamily="34" charset="-122"/>
                <a:cs typeface="Poppins" pitchFamily="34" charset="-120"/>
              </a:rPr>
              <a:t>STRETCH GOALS (FOR ADVANCED USERS) — OPTIONAL</a:t>
            </a:r>
            <a:endParaRPr lang="en-US" sz="1800" dirty="0"/>
          </a:p>
        </p:txBody>
      </p:sp>
      <p:sp>
        <p:nvSpPr>
          <p:cNvPr id="13" name="Text 11"/>
          <p:cNvSpPr/>
          <p:nvPr/>
        </p:nvSpPr>
        <p:spPr>
          <a:xfrm>
            <a:off x="1533525" y="5827365"/>
            <a:ext cx="16743045" cy="312390"/>
          </a:xfrm>
          <a:prstGeom prst="rect">
            <a:avLst/>
          </a:prstGeom>
          <a:noFill/>
          <a:ln/>
        </p:spPr>
        <p:txBody>
          <a:bodyPr wrap="square" lIns="25400" tIns="25400" rIns="25400" bIns="25400" rtlCol="0" anchor="t">
            <a:normAutofit/>
          </a:bodyPr>
          <a:lstStyle/>
          <a:p>
            <a:pPr marL="0" indent="0" algn="l">
              <a:lnSpc>
                <a:spcPct val="73846"/>
              </a:lnSpc>
              <a:buNone/>
            </a:pPr>
            <a:r>
              <a:rPr lang="en-US" sz="1800" dirty="0">
                <a:solidFill>
                  <a:srgbClr val="0E1A26"/>
                </a:solidFill>
                <a:latin typeface="Khula" pitchFamily="34" charset="0"/>
                <a:ea typeface="Khula" pitchFamily="34" charset="-122"/>
                <a:cs typeface="Khula" pitchFamily="34" charset="-120"/>
              </a:rPr>
              <a:t>Write down criteria data-elements that have specific bounds/constraints on them and what those constraints are.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238250" y="2755553"/>
            <a:ext cx="3265289" cy="533400"/>
          </a:xfrm>
          <a:prstGeom prst="roundRect">
            <a:avLst>
              <a:gd name="adj" fmla="val 50000"/>
            </a:avLst>
          </a:prstGeom>
          <a:solidFill>
            <a:srgbClr val="005596"/>
          </a:solidFill>
          <a:ln/>
        </p:spPr>
        <p:txBody>
          <a:bodyPr/>
          <a:lstStyle/>
          <a:p>
            <a:endParaRPr lang="en-US"/>
          </a:p>
        </p:txBody>
      </p:sp>
      <p:sp>
        <p:nvSpPr>
          <p:cNvPr id="3" name="Text 1"/>
          <p:cNvSpPr/>
          <p:nvPr/>
        </p:nvSpPr>
        <p:spPr>
          <a:xfrm>
            <a:off x="1485900" y="2850803"/>
            <a:ext cx="2867948"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669953"/>
            <a:ext cx="17392650" cy="603796"/>
          </a:xfrm>
          <a:prstGeom prst="rect">
            <a:avLst/>
          </a:prstGeom>
          <a:noFill/>
          <a:ln/>
        </p:spPr>
        <p:txBody>
          <a:bodyPr wrap="square" lIns="25400" tIns="25400" rIns="25400" bIns="25400" rtlCol="0" anchor="t">
            <a:normAutofit/>
          </a:bodyPr>
          <a:lstStyle/>
          <a:p>
            <a:pPr marL="0" indent="0" algn="l">
              <a:lnSpc>
                <a:spcPct val="73333"/>
              </a:lnSpc>
              <a:buNone/>
            </a:pPr>
            <a:r>
              <a:rPr lang="en-US" sz="4050" b="1" kern="0" spc="-81" dirty="0">
                <a:solidFill>
                  <a:srgbClr val="005596"/>
                </a:solidFill>
                <a:latin typeface="Poppins" pitchFamily="34" charset="0"/>
                <a:ea typeface="Poppins" pitchFamily="34" charset="-122"/>
                <a:cs typeface="Poppins" pitchFamily="34" charset="-120"/>
              </a:rPr>
              <a:t>Baseline Self-Assessment</a:t>
            </a:r>
            <a:endParaRPr lang="en-US" sz="4050" dirty="0"/>
          </a:p>
        </p:txBody>
      </p:sp>
      <p:sp>
        <p:nvSpPr>
          <p:cNvPr id="5" name="Shape 3"/>
          <p:cNvSpPr/>
          <p:nvPr/>
        </p:nvSpPr>
        <p:spPr>
          <a:xfrm>
            <a:off x="1238250" y="4616648"/>
            <a:ext cx="5118050" cy="1790700"/>
          </a:xfrm>
          <a:prstGeom prst="roundRect">
            <a:avLst>
              <a:gd name="adj" fmla="val 8511"/>
            </a:avLst>
          </a:prstGeom>
          <a:solidFill>
            <a:srgbClr val="F4F7FA"/>
          </a:solidFill>
          <a:ln/>
        </p:spPr>
        <p:txBody>
          <a:bodyPr/>
          <a:lstStyle/>
          <a:p>
            <a:endParaRPr lang="en-US"/>
          </a:p>
        </p:txBody>
      </p:sp>
      <p:sp>
        <p:nvSpPr>
          <p:cNvPr id="6" name="Text 4"/>
          <p:cNvSpPr/>
          <p:nvPr/>
        </p:nvSpPr>
        <p:spPr>
          <a:xfrm>
            <a:off x="1359537" y="4902398"/>
            <a:ext cx="4875475" cy="838200"/>
          </a:xfrm>
          <a:prstGeom prst="rect">
            <a:avLst/>
          </a:prstGeom>
          <a:noFill/>
          <a:ln/>
        </p:spPr>
        <p:txBody>
          <a:bodyPr wrap="square" lIns="25400" tIns="25400" rIns="25400" bIns="25400" rtlCol="0" anchor="t">
            <a:normAutofit/>
          </a:bodyPr>
          <a:lstStyle/>
          <a:p>
            <a:pPr marL="0" indent="0" algn="ctr">
              <a:lnSpc>
                <a:spcPct val="98824"/>
              </a:lnSpc>
              <a:buNone/>
            </a:pPr>
            <a:r>
              <a:rPr lang="en-US" sz="4200" b="1" dirty="0">
                <a:solidFill>
                  <a:srgbClr val="005596"/>
                </a:solidFill>
                <a:latin typeface="Poppins" pitchFamily="34" charset="0"/>
                <a:ea typeface="Poppins" pitchFamily="34" charset="-122"/>
                <a:cs typeface="Poppins" pitchFamily="34" charset="-120"/>
              </a:rPr>
              <a:t>21</a:t>
            </a:r>
            <a:endParaRPr lang="en-US" sz="4200" dirty="0"/>
          </a:p>
        </p:txBody>
      </p:sp>
      <p:sp>
        <p:nvSpPr>
          <p:cNvPr id="7" name="Text 5"/>
          <p:cNvSpPr/>
          <p:nvPr/>
        </p:nvSpPr>
        <p:spPr>
          <a:xfrm>
            <a:off x="1359537" y="5778698"/>
            <a:ext cx="4875475"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0E1A26"/>
                </a:solidFill>
                <a:latin typeface="Khula" pitchFamily="34" charset="0"/>
                <a:ea typeface="Khula" pitchFamily="34" charset="-122"/>
                <a:cs typeface="Khula" pitchFamily="34" charset="-120"/>
              </a:rPr>
              <a:t>questions across 7 dimensions</a:t>
            </a:r>
            <a:endParaRPr lang="en-US" sz="1800" dirty="0"/>
          </a:p>
        </p:txBody>
      </p:sp>
      <p:sp>
        <p:nvSpPr>
          <p:cNvPr id="8" name="Shape 6"/>
          <p:cNvSpPr/>
          <p:nvPr/>
        </p:nvSpPr>
        <p:spPr>
          <a:xfrm>
            <a:off x="6584900" y="4616648"/>
            <a:ext cx="5118199" cy="1790700"/>
          </a:xfrm>
          <a:prstGeom prst="roundRect">
            <a:avLst>
              <a:gd name="adj" fmla="val 8511"/>
            </a:avLst>
          </a:prstGeom>
          <a:solidFill>
            <a:srgbClr val="F4F7FA"/>
          </a:solidFill>
          <a:ln/>
        </p:spPr>
        <p:txBody>
          <a:bodyPr/>
          <a:lstStyle/>
          <a:p>
            <a:endParaRPr lang="en-US"/>
          </a:p>
        </p:txBody>
      </p:sp>
      <p:sp>
        <p:nvSpPr>
          <p:cNvPr id="9" name="Text 7"/>
          <p:cNvSpPr/>
          <p:nvPr/>
        </p:nvSpPr>
        <p:spPr>
          <a:xfrm>
            <a:off x="6706180" y="4902398"/>
            <a:ext cx="4875639" cy="838200"/>
          </a:xfrm>
          <a:prstGeom prst="rect">
            <a:avLst/>
          </a:prstGeom>
          <a:noFill/>
          <a:ln/>
        </p:spPr>
        <p:txBody>
          <a:bodyPr wrap="square" lIns="25400" tIns="25400" rIns="25400" bIns="25400" rtlCol="0" anchor="t">
            <a:normAutofit/>
          </a:bodyPr>
          <a:lstStyle/>
          <a:p>
            <a:pPr marL="0" indent="0" algn="ctr">
              <a:lnSpc>
                <a:spcPct val="98824"/>
              </a:lnSpc>
              <a:buNone/>
            </a:pPr>
            <a:r>
              <a:rPr lang="en-US" sz="4200" b="1" dirty="0">
                <a:solidFill>
                  <a:srgbClr val="005596"/>
                </a:solidFill>
                <a:latin typeface="Poppins" pitchFamily="34" charset="0"/>
                <a:ea typeface="Poppins" pitchFamily="34" charset="-122"/>
                <a:cs typeface="Poppins" pitchFamily="34" charset="-120"/>
              </a:rPr>
              <a:t>A–D</a:t>
            </a:r>
            <a:endParaRPr lang="en-US" sz="4200" dirty="0"/>
          </a:p>
        </p:txBody>
      </p:sp>
      <p:sp>
        <p:nvSpPr>
          <p:cNvPr id="10" name="Text 8"/>
          <p:cNvSpPr/>
          <p:nvPr/>
        </p:nvSpPr>
        <p:spPr>
          <a:xfrm>
            <a:off x="6706180" y="5778698"/>
            <a:ext cx="4875639"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0E1A26"/>
                </a:solidFill>
                <a:latin typeface="Khula" pitchFamily="34" charset="0"/>
                <a:ea typeface="Khula" pitchFamily="34" charset="-122"/>
                <a:cs typeface="Khula" pitchFamily="34" charset="-120"/>
              </a:rPr>
              <a:t>answer choices, 1–4 points each</a:t>
            </a:r>
            <a:endParaRPr lang="en-US" sz="1800" dirty="0"/>
          </a:p>
        </p:txBody>
      </p:sp>
      <p:sp>
        <p:nvSpPr>
          <p:cNvPr id="11" name="Shape 9"/>
          <p:cNvSpPr/>
          <p:nvPr/>
        </p:nvSpPr>
        <p:spPr>
          <a:xfrm>
            <a:off x="11931700" y="4616648"/>
            <a:ext cx="5118050" cy="1790700"/>
          </a:xfrm>
          <a:prstGeom prst="roundRect">
            <a:avLst>
              <a:gd name="adj" fmla="val 8511"/>
            </a:avLst>
          </a:prstGeom>
          <a:solidFill>
            <a:srgbClr val="F4F7FA"/>
          </a:solidFill>
          <a:ln/>
        </p:spPr>
        <p:txBody>
          <a:bodyPr/>
          <a:lstStyle/>
          <a:p>
            <a:endParaRPr lang="en-US"/>
          </a:p>
        </p:txBody>
      </p:sp>
      <p:sp>
        <p:nvSpPr>
          <p:cNvPr id="12" name="Text 10"/>
          <p:cNvSpPr/>
          <p:nvPr/>
        </p:nvSpPr>
        <p:spPr>
          <a:xfrm>
            <a:off x="12052987" y="4902398"/>
            <a:ext cx="4875475" cy="838200"/>
          </a:xfrm>
          <a:prstGeom prst="rect">
            <a:avLst/>
          </a:prstGeom>
          <a:noFill/>
          <a:ln/>
        </p:spPr>
        <p:txBody>
          <a:bodyPr wrap="square" lIns="25400" tIns="25400" rIns="25400" bIns="25400" rtlCol="0" anchor="t">
            <a:normAutofit/>
          </a:bodyPr>
          <a:lstStyle/>
          <a:p>
            <a:pPr marL="0" indent="0" algn="ctr">
              <a:lnSpc>
                <a:spcPct val="98824"/>
              </a:lnSpc>
              <a:buNone/>
            </a:pPr>
            <a:r>
              <a:rPr lang="en-US" sz="4200" b="1" dirty="0">
                <a:solidFill>
                  <a:srgbClr val="005596"/>
                </a:solidFill>
                <a:latin typeface="Poppins" pitchFamily="34" charset="0"/>
                <a:ea typeface="Poppins" pitchFamily="34" charset="-122"/>
                <a:cs typeface="Poppins" pitchFamily="34" charset="-120"/>
              </a:rPr>
              <a:t>21–84</a:t>
            </a:r>
            <a:endParaRPr lang="en-US" sz="4200" dirty="0"/>
          </a:p>
        </p:txBody>
      </p:sp>
      <p:sp>
        <p:nvSpPr>
          <p:cNvPr id="13" name="Text 11"/>
          <p:cNvSpPr/>
          <p:nvPr/>
        </p:nvSpPr>
        <p:spPr>
          <a:xfrm>
            <a:off x="12052987" y="5778698"/>
            <a:ext cx="4875475" cy="381000"/>
          </a:xfrm>
          <a:prstGeom prst="rect">
            <a:avLst/>
          </a:prstGeom>
          <a:noFill/>
          <a:ln/>
        </p:spPr>
        <p:txBody>
          <a:bodyPr wrap="square" lIns="25400" tIns="25400" rIns="25400" bIns="25400" rtlCol="0" anchor="t">
            <a:normAutofit/>
          </a:bodyPr>
          <a:lstStyle/>
          <a:p>
            <a:pPr marL="0" indent="0" algn="ctr">
              <a:lnSpc>
                <a:spcPct val="92308"/>
              </a:lnSpc>
              <a:buNone/>
            </a:pPr>
            <a:r>
              <a:rPr lang="en-US" sz="1800" dirty="0">
                <a:solidFill>
                  <a:srgbClr val="0E1A26"/>
                </a:solidFill>
                <a:latin typeface="Khula" pitchFamily="34" charset="0"/>
                <a:ea typeface="Khula" pitchFamily="34" charset="-122"/>
                <a:cs typeface="Khula" pitchFamily="34" charset="-120"/>
              </a:rPr>
              <a:t>total score range</a:t>
            </a:r>
            <a:endParaRPr lang="en-US" sz="1800" dirty="0"/>
          </a:p>
        </p:txBody>
      </p:sp>
      <p:sp>
        <p:nvSpPr>
          <p:cNvPr id="14" name="Text 12"/>
          <p:cNvSpPr/>
          <p:nvPr/>
        </p:nvSpPr>
        <p:spPr>
          <a:xfrm>
            <a:off x="1238250" y="6788348"/>
            <a:ext cx="14716125" cy="781050"/>
          </a:xfrm>
          <a:prstGeom prst="rect">
            <a:avLst/>
          </a:prstGeom>
          <a:noFill/>
          <a:ln/>
        </p:spPr>
        <p:txBody>
          <a:bodyPr wrap="square" lIns="25400" tIns="25400" rIns="25400" bIns="25400" rtlCol="0" anchor="t">
            <a:normAutofit/>
          </a:bodyPr>
          <a:lstStyle/>
          <a:p>
            <a:pPr marL="0" indent="0" algn="l">
              <a:lnSpc>
                <a:spcPct val="92857"/>
              </a:lnSpc>
              <a:buNone/>
            </a:pPr>
            <a:r>
              <a:rPr lang="en-US" sz="1950" dirty="0">
                <a:solidFill>
                  <a:srgbClr val="0E1A26"/>
                </a:solidFill>
                <a:latin typeface="Khula" pitchFamily="34" charset="0"/>
                <a:ea typeface="Khula" pitchFamily="34" charset="-122"/>
                <a:cs typeface="Khula" pitchFamily="34" charset="-120"/>
              </a:rPr>
              <a:t>The AI Adoption Maturity Assessment is the Week 1 baseline. Not graded — the only instruction is honesty. The value of the baseline is comparison at Week 7 and Week 12, not accuracy at Week 1.</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txBody>
          <a:bodyPr/>
          <a:lstStyle/>
          <a:p>
            <a:endParaRPr lang="en-US"/>
          </a:p>
        </p:txBody>
      </p:sp>
      <p:sp>
        <p:nvSpPr>
          <p:cNvPr id="3" name="Shape 1"/>
          <p:cNvSpPr/>
          <p:nvPr/>
        </p:nvSpPr>
        <p:spPr>
          <a:xfrm>
            <a:off x="1143000" y="857250"/>
            <a:ext cx="3306514" cy="533400"/>
          </a:xfrm>
          <a:prstGeom prst="roundRect">
            <a:avLst>
              <a:gd name="adj" fmla="val 50000"/>
            </a:avLst>
          </a:prstGeom>
          <a:solidFill>
            <a:srgbClr val="FFFFFF">
              <a:alpha val="20000"/>
            </a:srgbClr>
          </a:solidFill>
          <a:ln/>
        </p:spPr>
        <p:txBody>
          <a:bodyPr/>
          <a:lstStyle/>
          <a:p>
            <a:endParaRPr lang="en-US"/>
          </a:p>
        </p:txBody>
      </p:sp>
      <p:sp>
        <p:nvSpPr>
          <p:cNvPr id="4" name="Text 2"/>
          <p:cNvSpPr/>
          <p:nvPr/>
        </p:nvSpPr>
        <p:spPr>
          <a:xfrm>
            <a:off x="1390650" y="952500"/>
            <a:ext cx="2910410"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143000" y="1676400"/>
            <a:ext cx="17602200" cy="561975"/>
          </a:xfrm>
          <a:prstGeom prst="rect">
            <a:avLst/>
          </a:prstGeom>
          <a:noFill/>
          <a:ln/>
        </p:spPr>
        <p:txBody>
          <a:bodyPr wrap="square" lIns="25400" tIns="25400" rIns="25400" bIns="25400" rtlCol="0" anchor="t">
            <a:normAutofit/>
          </a:bodyPr>
          <a:lstStyle/>
          <a:p>
            <a:pPr marL="0" indent="0" algn="l">
              <a:lnSpc>
                <a:spcPct val="72368"/>
              </a:lnSpc>
              <a:buNone/>
            </a:pPr>
            <a:r>
              <a:rPr lang="en-US" sz="3750" b="1" kern="0" spc="-75" dirty="0">
                <a:solidFill>
                  <a:srgbClr val="FFFFFF"/>
                </a:solidFill>
                <a:latin typeface="Poppins" pitchFamily="34" charset="0"/>
                <a:ea typeface="Poppins" pitchFamily="34" charset="-122"/>
                <a:cs typeface="Poppins" pitchFamily="34" charset="-120"/>
              </a:rPr>
              <a:t>Before you go… </a:t>
            </a:r>
            <a:r>
              <a:rPr lang="en-US" sz="2250" b="1" kern="0" spc="-75" dirty="0">
                <a:solidFill>
                  <a:srgbClr val="FFFFFF"/>
                </a:solidFill>
                <a:latin typeface="Poppins" pitchFamily="34" charset="0"/>
                <a:ea typeface="Poppins" pitchFamily="34" charset="-122"/>
                <a:cs typeface="Poppins" pitchFamily="34" charset="-120"/>
              </a:rPr>
              <a:t>(1 of 2)</a:t>
            </a:r>
            <a:endParaRPr lang="en-US" sz="3750" dirty="0"/>
          </a:p>
        </p:txBody>
      </p:sp>
      <p:sp>
        <p:nvSpPr>
          <p:cNvPr id="6" name="Shape 4"/>
          <p:cNvSpPr/>
          <p:nvPr/>
        </p:nvSpPr>
        <p:spPr>
          <a:xfrm>
            <a:off x="1143000" y="2486025"/>
            <a:ext cx="16002000" cy="1767632"/>
          </a:xfrm>
          <a:prstGeom prst="roundRect">
            <a:avLst>
              <a:gd name="adj" fmla="val 8622"/>
            </a:avLst>
          </a:prstGeom>
          <a:solidFill>
            <a:srgbClr val="FFFFFF">
              <a:alpha val="94000"/>
            </a:srgbClr>
          </a:solidFill>
          <a:ln/>
        </p:spPr>
        <p:txBody>
          <a:bodyPr/>
          <a:lstStyle/>
          <a:p>
            <a:endParaRPr lang="en-US"/>
          </a:p>
        </p:txBody>
      </p:sp>
      <p:sp>
        <p:nvSpPr>
          <p:cNvPr id="7" name="Text 5"/>
          <p:cNvSpPr/>
          <p:nvPr/>
        </p:nvSpPr>
        <p:spPr>
          <a:xfrm>
            <a:off x="1390650" y="2657475"/>
            <a:ext cx="17057370" cy="289471"/>
          </a:xfrm>
          <a:prstGeom prst="rect">
            <a:avLst/>
          </a:prstGeom>
          <a:noFill/>
          <a:ln/>
        </p:spPr>
        <p:txBody>
          <a:bodyPr wrap="square" lIns="25400" tIns="25400" rIns="25400" bIns="25400" rtlCol="0" anchor="t">
            <a:normAutofit/>
          </a:bodyPr>
          <a:lstStyle/>
          <a:p>
            <a:pPr marL="0" indent="0" algn="l">
              <a:lnSpc>
                <a:spcPct val="75429"/>
              </a:lnSpc>
              <a:buNone/>
            </a:pPr>
            <a:r>
              <a:rPr lang="en-US" sz="1800" b="1" kern="0" spc="-36" dirty="0">
                <a:solidFill>
                  <a:srgbClr val="005596"/>
                </a:solidFill>
                <a:latin typeface="Poppins" pitchFamily="34" charset="0"/>
                <a:ea typeface="Poppins" pitchFamily="34" charset="-122"/>
                <a:cs typeface="Poppins" pitchFamily="34" charset="-120"/>
              </a:rPr>
              <a:t>Goal 1: </a:t>
            </a:r>
            <a:r>
              <a:rPr lang="en-US" sz="1800" b="1" kern="0" spc="-36" dirty="0">
                <a:solidFill>
                  <a:srgbClr val="4597D3"/>
                </a:solidFill>
                <a:latin typeface="Poppins" pitchFamily="34" charset="0"/>
                <a:ea typeface="Poppins" pitchFamily="34" charset="-122"/>
                <a:cs typeface="Poppins" pitchFamily="34" charset="-120"/>
              </a:rPr>
              <a:t>Prompt, Harness, Model</a:t>
            </a:r>
            <a:endParaRPr lang="en-US" sz="1800" dirty="0"/>
          </a:p>
        </p:txBody>
      </p:sp>
      <p:sp>
        <p:nvSpPr>
          <p:cNvPr id="8" name="Text 6"/>
          <p:cNvSpPr/>
          <p:nvPr/>
        </p:nvSpPr>
        <p:spPr>
          <a:xfrm>
            <a:off x="1390650" y="2985046"/>
            <a:ext cx="5219319" cy="113526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r>
              <a:rPr lang="en-US" sz="1800" dirty="0">
                <a:solidFill>
                  <a:srgbClr val="0E1A26"/>
                </a:solidFill>
                <a:latin typeface="Khula" pitchFamily="34" charset="0"/>
                <a:ea typeface="Khula" pitchFamily="34" charset="-122"/>
                <a:cs typeface="Khula" pitchFamily="34" charset="-120"/>
              </a:rPr>
              <a:t>Your epics-and-stories skill is a Prompt, running through your IDE Harness, powered by a Model. The harness limits what your skill can access.</a:t>
            </a:r>
            <a:endParaRPr lang="en-US" sz="1800" dirty="0"/>
          </a:p>
        </p:txBody>
      </p:sp>
      <p:sp>
        <p:nvSpPr>
          <p:cNvPr id="9" name="Text 7"/>
          <p:cNvSpPr/>
          <p:nvPr/>
        </p:nvSpPr>
        <p:spPr>
          <a:xfrm>
            <a:off x="6610350" y="2985046"/>
            <a:ext cx="5219319" cy="113526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Development — </a:t>
            </a:r>
            <a:r>
              <a:rPr lang="en-US" sz="1800" dirty="0">
                <a:solidFill>
                  <a:srgbClr val="0E1A26"/>
                </a:solidFill>
                <a:latin typeface="Khula" pitchFamily="34" charset="0"/>
                <a:ea typeface="Khula" pitchFamily="34" charset="-122"/>
                <a:cs typeface="Khula" pitchFamily="34" charset="-120"/>
              </a:rPr>
              <a:t>The harness is the capability boundary for everything you'll build — Plan, Code, evaluation scripts.</a:t>
            </a:r>
            <a:endParaRPr lang="en-US" sz="1800" dirty="0"/>
          </a:p>
        </p:txBody>
      </p:sp>
      <p:sp>
        <p:nvSpPr>
          <p:cNvPr id="10" name="Text 8"/>
          <p:cNvSpPr/>
          <p:nvPr/>
        </p:nvSpPr>
        <p:spPr>
          <a:xfrm>
            <a:off x="11830050" y="2985046"/>
            <a:ext cx="5219319" cy="113526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Testing — </a:t>
            </a:r>
            <a:r>
              <a:rPr lang="en-US" sz="1800" dirty="0">
                <a:solidFill>
                  <a:srgbClr val="0E1A26"/>
                </a:solidFill>
                <a:latin typeface="Khula" pitchFamily="34" charset="0"/>
                <a:ea typeface="Khula" pitchFamily="34" charset="-122"/>
                <a:cs typeface="Khula" pitchFamily="34" charset="-120"/>
              </a:rPr>
              <a:t>The harness mediates evaluation and output — your review skills will work within the same boundaries.</a:t>
            </a:r>
            <a:endParaRPr lang="en-US" sz="1800" dirty="0"/>
          </a:p>
        </p:txBody>
      </p:sp>
      <p:sp>
        <p:nvSpPr>
          <p:cNvPr id="11" name="Shape 9"/>
          <p:cNvSpPr/>
          <p:nvPr/>
        </p:nvSpPr>
        <p:spPr>
          <a:xfrm>
            <a:off x="1143000" y="4406057"/>
            <a:ext cx="16002000" cy="1607641"/>
          </a:xfrm>
          <a:prstGeom prst="roundRect">
            <a:avLst>
              <a:gd name="adj" fmla="val 9480"/>
            </a:avLst>
          </a:prstGeom>
          <a:solidFill>
            <a:srgbClr val="FFFFFF">
              <a:alpha val="94000"/>
            </a:srgbClr>
          </a:solidFill>
          <a:ln/>
        </p:spPr>
        <p:txBody>
          <a:bodyPr/>
          <a:lstStyle/>
          <a:p>
            <a:endParaRPr lang="en-US"/>
          </a:p>
        </p:txBody>
      </p:sp>
      <p:sp>
        <p:nvSpPr>
          <p:cNvPr id="12" name="Text 10"/>
          <p:cNvSpPr/>
          <p:nvPr/>
        </p:nvSpPr>
        <p:spPr>
          <a:xfrm>
            <a:off x="1428750" y="4634657"/>
            <a:ext cx="16973550" cy="289471"/>
          </a:xfrm>
          <a:prstGeom prst="rect">
            <a:avLst/>
          </a:prstGeom>
          <a:noFill/>
          <a:ln/>
        </p:spPr>
        <p:txBody>
          <a:bodyPr wrap="square" lIns="25400" tIns="25400" rIns="25400" bIns="25400" rtlCol="0" anchor="t">
            <a:normAutofit/>
          </a:bodyPr>
          <a:lstStyle/>
          <a:p>
            <a:pPr marL="0" indent="0" algn="l">
              <a:lnSpc>
                <a:spcPct val="75429"/>
              </a:lnSpc>
              <a:buNone/>
            </a:pPr>
            <a:r>
              <a:rPr lang="en-US" sz="1800" b="1" kern="0" spc="-36" dirty="0">
                <a:solidFill>
                  <a:srgbClr val="005596"/>
                </a:solidFill>
                <a:latin typeface="Poppins" pitchFamily="34" charset="0"/>
                <a:ea typeface="Poppins" pitchFamily="34" charset="-122"/>
                <a:cs typeface="Poppins" pitchFamily="34" charset="-120"/>
              </a:rPr>
              <a:t>Goal 2: </a:t>
            </a:r>
            <a:r>
              <a:rPr lang="en-US" sz="1800" b="1" kern="0" spc="-36" dirty="0">
                <a:solidFill>
                  <a:srgbClr val="4597D3"/>
                </a:solidFill>
                <a:latin typeface="Poppins" pitchFamily="34" charset="0"/>
                <a:ea typeface="Poppins" pitchFamily="34" charset="-122"/>
                <a:cs typeface="Poppins" pitchFamily="34" charset="-120"/>
              </a:rPr>
              <a:t>See the full SDLC pipeline</a:t>
            </a:r>
            <a:endParaRPr lang="en-US" sz="1800" dirty="0"/>
          </a:p>
        </p:txBody>
      </p:sp>
      <p:sp>
        <p:nvSpPr>
          <p:cNvPr id="13" name="Text 11"/>
          <p:cNvSpPr/>
          <p:nvPr/>
        </p:nvSpPr>
        <p:spPr>
          <a:xfrm>
            <a:off x="1428750" y="4962227"/>
            <a:ext cx="5193106" cy="86097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r>
              <a:rPr lang="en-US" sz="1800" dirty="0">
                <a:solidFill>
                  <a:srgbClr val="0E1A26"/>
                </a:solidFill>
                <a:latin typeface="Khula" pitchFamily="34" charset="0"/>
                <a:ea typeface="Khula" pitchFamily="34" charset="-122"/>
                <a:cs typeface="Khula" pitchFamily="34" charset="-120"/>
              </a:rPr>
              <a:t>You've seen the 7 skeleton skills and where your epics-and-stories work fits — and why Context and Constraints matter.</a:t>
            </a:r>
            <a:endParaRPr lang="en-US" sz="1800" dirty="0"/>
          </a:p>
        </p:txBody>
      </p:sp>
      <p:sp>
        <p:nvSpPr>
          <p:cNvPr id="14" name="Text 12"/>
          <p:cNvSpPr/>
          <p:nvPr/>
        </p:nvSpPr>
        <p:spPr>
          <a:xfrm>
            <a:off x="6623000" y="4962227"/>
            <a:ext cx="5193106" cy="86097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Development — </a:t>
            </a:r>
            <a:r>
              <a:rPr lang="en-US" sz="1800" dirty="0">
                <a:solidFill>
                  <a:srgbClr val="0E1A26"/>
                </a:solidFill>
                <a:latin typeface="Khula" pitchFamily="34" charset="0"/>
                <a:ea typeface="Khula" pitchFamily="34" charset="-122"/>
                <a:cs typeface="Khula" pitchFamily="34" charset="-120"/>
              </a:rPr>
              <a:t>You've seen where Plan and Code fit. Your input is the epics-and-stories output.</a:t>
            </a:r>
            <a:endParaRPr lang="en-US" sz="1800" dirty="0"/>
          </a:p>
        </p:txBody>
      </p:sp>
      <p:sp>
        <p:nvSpPr>
          <p:cNvPr id="15" name="Text 13"/>
          <p:cNvSpPr/>
          <p:nvPr/>
        </p:nvSpPr>
        <p:spPr>
          <a:xfrm>
            <a:off x="11817251" y="4962227"/>
            <a:ext cx="5193106" cy="86097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Testing — </a:t>
            </a:r>
            <a:r>
              <a:rPr lang="en-US" sz="1800" dirty="0">
                <a:solidFill>
                  <a:srgbClr val="0E1A26"/>
                </a:solidFill>
                <a:latin typeface="Khula" pitchFamily="34" charset="0"/>
                <a:ea typeface="Khula" pitchFamily="34" charset="-122"/>
                <a:cs typeface="Khula" pitchFamily="34" charset="-120"/>
              </a:rPr>
              <a:t>You've seen where Review fits. The pipeline ends with your domain.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txBody>
          <a:bodyPr/>
          <a:lstStyle/>
          <a:p>
            <a:endParaRPr lang="en-US"/>
          </a:p>
        </p:txBody>
      </p:sp>
      <p:sp>
        <p:nvSpPr>
          <p:cNvPr id="3" name="Shape 1"/>
          <p:cNvSpPr/>
          <p:nvPr/>
        </p:nvSpPr>
        <p:spPr>
          <a:xfrm>
            <a:off x="1143000" y="857250"/>
            <a:ext cx="3306514" cy="533400"/>
          </a:xfrm>
          <a:prstGeom prst="roundRect">
            <a:avLst>
              <a:gd name="adj" fmla="val 50000"/>
            </a:avLst>
          </a:prstGeom>
          <a:solidFill>
            <a:srgbClr val="FFFFFF">
              <a:alpha val="20000"/>
            </a:srgbClr>
          </a:solidFill>
          <a:ln/>
        </p:spPr>
        <p:txBody>
          <a:bodyPr/>
          <a:lstStyle/>
          <a:p>
            <a:endParaRPr lang="en-US"/>
          </a:p>
        </p:txBody>
      </p:sp>
      <p:sp>
        <p:nvSpPr>
          <p:cNvPr id="4" name="Text 2"/>
          <p:cNvSpPr/>
          <p:nvPr/>
        </p:nvSpPr>
        <p:spPr>
          <a:xfrm>
            <a:off x="1390650" y="952500"/>
            <a:ext cx="2910410" cy="381000"/>
          </a:xfrm>
          <a:prstGeom prst="rect">
            <a:avLst/>
          </a:prstGeom>
          <a:noFill/>
          <a:ln/>
        </p:spPr>
        <p:txBody>
          <a:bodyPr wrap="none" lIns="25400" tIns="25400" rIns="25400" bIns="25400" rtlCol="0" anchor="ctr">
            <a:normAutofit/>
          </a:bodyPr>
          <a:lstStyle/>
          <a:p>
            <a:pPr marL="0" indent="0" algn="l">
              <a:lnSpc>
                <a:spcPct val="102857"/>
              </a:lnSpc>
              <a:buNone/>
            </a:pPr>
            <a:r>
              <a:rPr lang="en-US" sz="1800" b="1" kern="0" spc="108"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143000" y="1676400"/>
            <a:ext cx="17602200" cy="561975"/>
          </a:xfrm>
          <a:prstGeom prst="rect">
            <a:avLst/>
          </a:prstGeom>
          <a:noFill/>
          <a:ln/>
        </p:spPr>
        <p:txBody>
          <a:bodyPr wrap="square" lIns="25400" tIns="25400" rIns="25400" bIns="25400" rtlCol="0" anchor="t">
            <a:normAutofit/>
          </a:bodyPr>
          <a:lstStyle/>
          <a:p>
            <a:pPr marL="0" indent="0" algn="l">
              <a:lnSpc>
                <a:spcPct val="72368"/>
              </a:lnSpc>
              <a:buNone/>
            </a:pPr>
            <a:r>
              <a:rPr lang="en-US" sz="3750" b="1" kern="0" spc="-75" dirty="0">
                <a:solidFill>
                  <a:srgbClr val="FFFFFF"/>
                </a:solidFill>
                <a:latin typeface="Poppins" pitchFamily="34" charset="0"/>
                <a:ea typeface="Poppins" pitchFamily="34" charset="-122"/>
                <a:cs typeface="Poppins" pitchFamily="34" charset="-120"/>
              </a:rPr>
              <a:t>Before you go… </a:t>
            </a:r>
            <a:r>
              <a:rPr lang="en-US" sz="2250" b="1" kern="0" spc="-75" dirty="0">
                <a:solidFill>
                  <a:srgbClr val="FFFFFF"/>
                </a:solidFill>
                <a:latin typeface="Poppins" pitchFamily="34" charset="0"/>
                <a:ea typeface="Poppins" pitchFamily="34" charset="-122"/>
                <a:cs typeface="Poppins" pitchFamily="34" charset="-120"/>
              </a:rPr>
              <a:t>(2 of 2)</a:t>
            </a:r>
            <a:endParaRPr lang="en-US" sz="3750" dirty="0"/>
          </a:p>
        </p:txBody>
      </p:sp>
      <p:sp>
        <p:nvSpPr>
          <p:cNvPr id="6" name="Shape 4"/>
          <p:cNvSpPr/>
          <p:nvPr/>
        </p:nvSpPr>
        <p:spPr>
          <a:xfrm>
            <a:off x="1143000" y="2486025"/>
            <a:ext cx="16002000" cy="1493341"/>
          </a:xfrm>
          <a:prstGeom prst="roundRect">
            <a:avLst>
              <a:gd name="adj" fmla="val 10205"/>
            </a:avLst>
          </a:prstGeom>
          <a:solidFill>
            <a:srgbClr val="FFFFFF">
              <a:alpha val="94000"/>
            </a:srgbClr>
          </a:solidFill>
          <a:ln/>
        </p:spPr>
        <p:txBody>
          <a:bodyPr/>
          <a:lstStyle/>
          <a:p>
            <a:endParaRPr lang="en-US"/>
          </a:p>
        </p:txBody>
      </p:sp>
      <p:sp>
        <p:nvSpPr>
          <p:cNvPr id="7" name="Text 5"/>
          <p:cNvSpPr/>
          <p:nvPr/>
        </p:nvSpPr>
        <p:spPr>
          <a:xfrm>
            <a:off x="1390650" y="2657475"/>
            <a:ext cx="17057370" cy="289471"/>
          </a:xfrm>
          <a:prstGeom prst="rect">
            <a:avLst/>
          </a:prstGeom>
          <a:noFill/>
          <a:ln/>
        </p:spPr>
        <p:txBody>
          <a:bodyPr wrap="square" lIns="25400" tIns="25400" rIns="25400" bIns="25400" rtlCol="0" anchor="t">
            <a:normAutofit/>
          </a:bodyPr>
          <a:lstStyle/>
          <a:p>
            <a:pPr marL="0" indent="0" algn="l">
              <a:lnSpc>
                <a:spcPct val="75429"/>
              </a:lnSpc>
              <a:buNone/>
            </a:pPr>
            <a:r>
              <a:rPr lang="en-US" sz="1800" b="1" kern="0" spc="-36" dirty="0">
                <a:solidFill>
                  <a:srgbClr val="005596"/>
                </a:solidFill>
                <a:latin typeface="Poppins" pitchFamily="34" charset="0"/>
                <a:ea typeface="Poppins" pitchFamily="34" charset="-122"/>
                <a:cs typeface="Poppins" pitchFamily="34" charset="-120"/>
              </a:rPr>
              <a:t>Goal 3: </a:t>
            </a:r>
            <a:r>
              <a:rPr lang="en-US" sz="1800" b="1" kern="0" spc="-36" dirty="0">
                <a:solidFill>
                  <a:srgbClr val="4597D3"/>
                </a:solidFill>
                <a:latin typeface="Poppins" pitchFamily="34" charset="0"/>
                <a:ea typeface="Poppins" pitchFamily="34" charset="-122"/>
                <a:cs typeface="Poppins" pitchFamily="34" charset="-120"/>
              </a:rPr>
              <a:t>Build the epics-and-stories skill</a:t>
            </a:r>
            <a:endParaRPr lang="en-US" sz="1800" dirty="0"/>
          </a:p>
        </p:txBody>
      </p:sp>
      <p:sp>
        <p:nvSpPr>
          <p:cNvPr id="8" name="Text 6"/>
          <p:cNvSpPr/>
          <p:nvPr/>
        </p:nvSpPr>
        <p:spPr>
          <a:xfrm>
            <a:off x="1390650" y="2985046"/>
            <a:ext cx="5219319" cy="86097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r>
              <a:rPr lang="en-US" sz="1800" dirty="0">
                <a:solidFill>
                  <a:srgbClr val="0E1A26"/>
                </a:solidFill>
                <a:latin typeface="Khula" pitchFamily="34" charset="0"/>
                <a:ea typeface="Khula" pitchFamily="34" charset="-122"/>
                <a:cs typeface="Khula" pitchFamily="34" charset="-120"/>
              </a:rPr>
              <a:t>You own this skill. You'll iterate on it for 12 weeks. It's your primary artifact.</a:t>
            </a:r>
            <a:endParaRPr lang="en-US" sz="1800" dirty="0"/>
          </a:p>
        </p:txBody>
      </p:sp>
      <p:sp>
        <p:nvSpPr>
          <p:cNvPr id="9" name="Text 7"/>
          <p:cNvSpPr/>
          <p:nvPr/>
        </p:nvSpPr>
        <p:spPr>
          <a:xfrm>
            <a:off x="6610350" y="2985046"/>
            <a:ext cx="5219319" cy="86097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Development — </a:t>
            </a:r>
            <a:r>
              <a:rPr lang="en-US" sz="1800" dirty="0">
                <a:solidFill>
                  <a:srgbClr val="0E1A26"/>
                </a:solidFill>
                <a:latin typeface="Khula" pitchFamily="34" charset="0"/>
                <a:ea typeface="Khula" pitchFamily="34" charset="-122"/>
                <a:cs typeface="Khula" pitchFamily="34" charset="-120"/>
              </a:rPr>
              <a:t>You've seen the skill format and RTCC structure. You'll apply the same format to Plan and Code in Session 2.</a:t>
            </a:r>
            <a:endParaRPr lang="en-US" sz="1800" dirty="0"/>
          </a:p>
        </p:txBody>
      </p:sp>
      <p:sp>
        <p:nvSpPr>
          <p:cNvPr id="10" name="Text 8"/>
          <p:cNvSpPr/>
          <p:nvPr/>
        </p:nvSpPr>
        <p:spPr>
          <a:xfrm>
            <a:off x="11830050" y="2985046"/>
            <a:ext cx="5219319" cy="86097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Testing — </a:t>
            </a:r>
            <a:r>
              <a:rPr lang="en-US" sz="1800" dirty="0">
                <a:solidFill>
                  <a:srgbClr val="0E1A26"/>
                </a:solidFill>
                <a:latin typeface="Khula" pitchFamily="34" charset="0"/>
                <a:ea typeface="Khula" pitchFamily="34" charset="-122"/>
                <a:cs typeface="Khula" pitchFamily="34" charset="-120"/>
              </a:rPr>
              <a:t>You've seen how stories are generated. You'll use this understanding when building review skills in Session 3.</a:t>
            </a:r>
            <a:endParaRPr lang="en-US" sz="1800" dirty="0"/>
          </a:p>
        </p:txBody>
      </p:sp>
      <p:sp>
        <p:nvSpPr>
          <p:cNvPr id="11" name="Shape 9"/>
          <p:cNvSpPr/>
          <p:nvPr/>
        </p:nvSpPr>
        <p:spPr>
          <a:xfrm>
            <a:off x="1143000" y="4131766"/>
            <a:ext cx="16002000" cy="1881932"/>
          </a:xfrm>
          <a:prstGeom prst="roundRect">
            <a:avLst>
              <a:gd name="adj" fmla="val 8098"/>
            </a:avLst>
          </a:prstGeom>
          <a:solidFill>
            <a:srgbClr val="FFFFFF">
              <a:alpha val="94000"/>
            </a:srgbClr>
          </a:solidFill>
          <a:ln/>
        </p:spPr>
        <p:txBody>
          <a:bodyPr/>
          <a:lstStyle/>
          <a:p>
            <a:endParaRPr lang="en-US"/>
          </a:p>
        </p:txBody>
      </p:sp>
      <p:sp>
        <p:nvSpPr>
          <p:cNvPr id="12" name="Text 10"/>
          <p:cNvSpPr/>
          <p:nvPr/>
        </p:nvSpPr>
        <p:spPr>
          <a:xfrm>
            <a:off x="1428750" y="4360366"/>
            <a:ext cx="16973550" cy="289471"/>
          </a:xfrm>
          <a:prstGeom prst="rect">
            <a:avLst/>
          </a:prstGeom>
          <a:noFill/>
          <a:ln/>
        </p:spPr>
        <p:txBody>
          <a:bodyPr wrap="square" lIns="25400" tIns="25400" rIns="25400" bIns="25400" rtlCol="0" anchor="t">
            <a:normAutofit/>
          </a:bodyPr>
          <a:lstStyle/>
          <a:p>
            <a:pPr marL="0" indent="0" algn="l">
              <a:lnSpc>
                <a:spcPct val="75429"/>
              </a:lnSpc>
              <a:buNone/>
            </a:pPr>
            <a:r>
              <a:rPr lang="en-US" sz="1800" b="1" kern="0" spc="-36" dirty="0">
                <a:solidFill>
                  <a:srgbClr val="005596"/>
                </a:solidFill>
                <a:latin typeface="Poppins" pitchFamily="34" charset="0"/>
                <a:ea typeface="Poppins" pitchFamily="34" charset="-122"/>
                <a:cs typeface="Poppins" pitchFamily="34" charset="-120"/>
              </a:rPr>
              <a:t>Goal 4: </a:t>
            </a:r>
            <a:r>
              <a:rPr lang="en-US" sz="1800" b="1" kern="0" spc="-36" dirty="0">
                <a:solidFill>
                  <a:srgbClr val="4597D3"/>
                </a:solidFill>
                <a:latin typeface="Poppins" pitchFamily="34" charset="0"/>
                <a:ea typeface="Poppins" pitchFamily="34" charset="-122"/>
                <a:cs typeface="Poppins" pitchFamily="34" charset="-120"/>
              </a:rPr>
              <a:t>Write EC before building</a:t>
            </a:r>
            <a:endParaRPr lang="en-US" sz="1800" dirty="0"/>
          </a:p>
        </p:txBody>
      </p:sp>
      <p:sp>
        <p:nvSpPr>
          <p:cNvPr id="13" name="Text 11"/>
          <p:cNvSpPr/>
          <p:nvPr/>
        </p:nvSpPr>
        <p:spPr>
          <a:xfrm>
            <a:off x="1428750" y="4687937"/>
            <a:ext cx="5193106" cy="113526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Product/Process — </a:t>
            </a:r>
            <a:r>
              <a:rPr lang="en-US" sz="1800" dirty="0">
                <a:solidFill>
                  <a:srgbClr val="0E1A26"/>
                </a:solidFill>
                <a:latin typeface="Khula" pitchFamily="34" charset="0"/>
                <a:ea typeface="Khula" pitchFamily="34" charset="-122"/>
                <a:cs typeface="Khula" pitchFamily="34" charset="-120"/>
              </a:rPr>
              <a:t>Your EC defines what good output looks like. You'll evaluate every iteration against it. EC evaluates the skill; AC is what each story must satisfy.</a:t>
            </a:r>
            <a:endParaRPr lang="en-US" sz="1800" dirty="0"/>
          </a:p>
        </p:txBody>
      </p:sp>
      <p:sp>
        <p:nvSpPr>
          <p:cNvPr id="14" name="Text 12"/>
          <p:cNvSpPr/>
          <p:nvPr/>
        </p:nvSpPr>
        <p:spPr>
          <a:xfrm>
            <a:off x="6623000" y="4687937"/>
            <a:ext cx="5193106" cy="113526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Development — </a:t>
            </a:r>
            <a:r>
              <a:rPr lang="en-US" sz="1800" dirty="0">
                <a:solidFill>
                  <a:srgbClr val="0E1A26"/>
                </a:solidFill>
                <a:latin typeface="Khula" pitchFamily="34" charset="0"/>
                <a:ea typeface="Khula" pitchFamily="34" charset="-122"/>
                <a:cs typeface="Khula" pitchFamily="34" charset="-120"/>
              </a:rPr>
              <a:t>You've practiced the EC-first discipline. You'll apply it to your Plan and Code skills next session.</a:t>
            </a:r>
            <a:endParaRPr lang="en-US" sz="1800" dirty="0"/>
          </a:p>
        </p:txBody>
      </p:sp>
      <p:sp>
        <p:nvSpPr>
          <p:cNvPr id="15" name="Text 13"/>
          <p:cNvSpPr/>
          <p:nvPr/>
        </p:nvSpPr>
        <p:spPr>
          <a:xfrm>
            <a:off x="11817251" y="4687937"/>
            <a:ext cx="5193106" cy="1135261"/>
          </a:xfrm>
          <a:prstGeom prst="rect">
            <a:avLst/>
          </a:prstGeom>
          <a:noFill/>
          <a:ln/>
        </p:spPr>
        <p:txBody>
          <a:bodyPr wrap="square" lIns="25400" tIns="25400" rIns="25400" bIns="25400" rtlCol="0" anchor="t">
            <a:normAutofit/>
          </a:bodyPr>
          <a:lstStyle/>
          <a:p>
            <a:pPr marL="0" indent="0" algn="l">
              <a:lnSpc>
                <a:spcPct val="73846"/>
              </a:lnSpc>
              <a:buNone/>
            </a:pPr>
            <a:r>
              <a:rPr lang="en-US" sz="1800" b="1" dirty="0">
                <a:solidFill>
                  <a:srgbClr val="0E1A26"/>
                </a:solidFill>
                <a:latin typeface="Khula" pitchFamily="34" charset="0"/>
                <a:ea typeface="Khula" pitchFamily="34" charset="-122"/>
                <a:cs typeface="Khula" pitchFamily="34" charset="-120"/>
              </a:rPr>
              <a:t>Testing — </a:t>
            </a:r>
            <a:r>
              <a:rPr lang="en-US" sz="1800" dirty="0">
                <a:solidFill>
                  <a:srgbClr val="0E1A26"/>
                </a:solidFill>
                <a:latin typeface="Khula" pitchFamily="34" charset="0"/>
                <a:ea typeface="Khula" pitchFamily="34" charset="-122"/>
                <a:cs typeface="Khula" pitchFamily="34" charset="-120"/>
              </a:rPr>
              <a:t>You've seen the EC pattern. You'll use it when writing EC for your review skill in Session 3.</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406</TotalTime>
  <Words>2557</Words>
  <Application>Microsoft Macintosh PowerPoint</Application>
  <PresentationFormat>Custom</PresentationFormat>
  <Paragraphs>224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Courier New</vt:lpstr>
      <vt:lpstr>Khula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Timothy Rayburn</cp:lastModifiedBy>
  <cp:revision>3</cp:revision>
  <dcterms:created xsi:type="dcterms:W3CDTF">2026-08-05T22:32:32Z</dcterms:created>
  <dcterms:modified xsi:type="dcterms:W3CDTF">2026-08-20T14:44:24Z</dcterms:modified>
</cp:coreProperties>
</file>