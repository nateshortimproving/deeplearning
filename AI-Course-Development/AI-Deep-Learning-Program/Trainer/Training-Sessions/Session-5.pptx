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gave retrospective evaluation. Today: proactive model invocation and adversarial agents that challenge output the evaluator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connects Session 4's evaluation discipline to Session 5's two topics. Evaluation is retrospective; model invocation and adversarial agents are the next steps — proactive and challenging.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goal and its per-role relevance; invite each role to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goal and its per-role relevance; invite each role to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Session 1, disable-model-invocation: true has been the default. Emphasize criterion #3 (positive trigger cases) as the most important — the harness controls invocation, not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two-prompt problem and the adversarial agent pattern steps. Walk the how-it-differs bullets against Session 4's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Session 1's framework: the harness makes the connection, the model provides judgment. Contrast in-IDE vs. custom-harness (Session 6)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each row as a clean contrast to Session 4's evaluation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push hard on criterion 3 — many participants will list vague or fewer than 3 positive trigger cases. That's the lab's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push hard on making findings specific and severity-rated, not vague.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lab — keep pace brisk. The goal is the delta document, not exhaustive rewrites.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beat of silence after each reflection prompt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beat of silence after each reflection prompt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05596">
                  <a:alpha val="100000"/>
                </a:srgbClr>
              </a:gs>
              <a:gs pos="60000">
                <a:srgbClr val="4597D3">
                  <a:alpha val="100000"/>
                </a:srgbClr>
              </a:gs>
              <a:gs pos="100000">
                <a:srgbClr val="5BC2A7">
                  <a:alpha val="100000"/>
                </a:srgbClr>
              </a:gs>
            </a:gsLst>
            <a:lin ang="2700000" scaled="0"/>
          </a:gradFill>
          <a:ln/>
        </p:spPr>
      </p:sp>
      <p:sp>
        <p:nvSpPr>
          <p:cNvPr id="3" name="Shape 1"/>
          <p:cNvSpPr/>
          <p:nvPr/>
        </p:nvSpPr>
        <p:spPr>
          <a:xfrm>
            <a:off x="1143000" y="3011835"/>
            <a:ext cx="2965103" cy="533400"/>
          </a:xfrm>
          <a:prstGeom prst="roundRect">
            <a:avLst>
              <a:gd name="adj" fmla="val 50000"/>
            </a:avLst>
          </a:prstGeom>
          <a:solidFill>
            <a:srgbClr val="FFFFFF">
              <a:alpha val="18000"/>
            </a:srgbClr>
          </a:solidFill>
          <a:ln/>
        </p:spPr>
      </p:sp>
      <p:sp>
        <p:nvSpPr>
          <p:cNvPr id="4" name="Text 2"/>
          <p:cNvSpPr/>
          <p:nvPr/>
        </p:nvSpPr>
        <p:spPr>
          <a:xfrm>
            <a:off x="1390650" y="3107085"/>
            <a:ext cx="2558756"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FFFFFF"/>
                </a:solidFill>
                <a:latin typeface="Arial" pitchFamily="34" charset="0"/>
                <a:ea typeface="Arial" pitchFamily="34" charset="-122"/>
                <a:cs typeface="Arial" pitchFamily="34" charset="-120"/>
              </a:rPr>
              <a:t>SLIDE TYPE — INTRO</a:t>
            </a:r>
            <a:endParaRPr lang="en-US" sz="1800" dirty="0"/>
          </a:p>
        </p:txBody>
      </p:sp>
      <p:sp>
        <p:nvSpPr>
          <p:cNvPr id="5" name="Shape 3"/>
          <p:cNvSpPr/>
          <p:nvPr/>
        </p:nvSpPr>
        <p:spPr>
          <a:xfrm>
            <a:off x="1143000" y="3926235"/>
            <a:ext cx="1413867" cy="533400"/>
          </a:xfrm>
          <a:prstGeom prst="roundRect">
            <a:avLst>
              <a:gd name="adj" fmla="val 50000"/>
            </a:avLst>
          </a:prstGeom>
          <a:solidFill>
            <a:srgbClr val="FFFFFF"/>
          </a:solidFill>
          <a:ln/>
        </p:spPr>
      </p:sp>
      <p:sp>
        <p:nvSpPr>
          <p:cNvPr id="6" name="Text 4"/>
          <p:cNvSpPr/>
          <p:nvPr/>
        </p:nvSpPr>
        <p:spPr>
          <a:xfrm>
            <a:off x="1390650" y="4021485"/>
            <a:ext cx="994767"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005596"/>
                </a:solidFill>
                <a:latin typeface="Arial" pitchFamily="34" charset="0"/>
                <a:ea typeface="Arial" pitchFamily="34" charset="-122"/>
                <a:cs typeface="Arial" pitchFamily="34" charset="-120"/>
              </a:rPr>
              <a:t>WEEK 9</a:t>
            </a:r>
            <a:endParaRPr lang="en-US" sz="1800" dirty="0"/>
          </a:p>
        </p:txBody>
      </p:sp>
      <p:sp>
        <p:nvSpPr>
          <p:cNvPr id="7" name="Shape 5"/>
          <p:cNvSpPr/>
          <p:nvPr/>
        </p:nvSpPr>
        <p:spPr>
          <a:xfrm>
            <a:off x="2785467" y="3926235"/>
            <a:ext cx="1367730" cy="533400"/>
          </a:xfrm>
          <a:prstGeom prst="roundRect">
            <a:avLst>
              <a:gd name="adj" fmla="val 50000"/>
            </a:avLst>
          </a:prstGeom>
          <a:solidFill>
            <a:srgbClr val="FFFFFF"/>
          </a:solidFill>
          <a:ln/>
        </p:spPr>
      </p:sp>
      <p:sp>
        <p:nvSpPr>
          <p:cNvPr id="8" name="Text 6"/>
          <p:cNvSpPr/>
          <p:nvPr/>
        </p:nvSpPr>
        <p:spPr>
          <a:xfrm>
            <a:off x="3033117" y="4021485"/>
            <a:ext cx="948630"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005596"/>
                </a:solidFill>
                <a:latin typeface="Arial" pitchFamily="34" charset="0"/>
                <a:ea typeface="Arial" pitchFamily="34" charset="-122"/>
                <a:cs typeface="Arial" pitchFamily="34" charset="-120"/>
              </a:rPr>
              <a:t>LOOP 2</a:t>
            </a:r>
            <a:endParaRPr lang="en-US" sz="1800" dirty="0"/>
          </a:p>
        </p:txBody>
      </p:sp>
      <p:sp>
        <p:nvSpPr>
          <p:cNvPr id="9" name="Shape 7"/>
          <p:cNvSpPr/>
          <p:nvPr/>
        </p:nvSpPr>
        <p:spPr>
          <a:xfrm>
            <a:off x="4381798" y="3926235"/>
            <a:ext cx="2298502" cy="533400"/>
          </a:xfrm>
          <a:prstGeom prst="roundRect">
            <a:avLst>
              <a:gd name="adj" fmla="val 50000"/>
            </a:avLst>
          </a:prstGeom>
          <a:solidFill>
            <a:srgbClr val="FFFFFF"/>
          </a:solidFill>
          <a:ln/>
        </p:spPr>
      </p:sp>
      <p:sp>
        <p:nvSpPr>
          <p:cNvPr id="10" name="Text 8"/>
          <p:cNvSpPr/>
          <p:nvPr/>
        </p:nvSpPr>
        <p:spPr>
          <a:xfrm>
            <a:off x="4629448" y="4021485"/>
            <a:ext cx="1879402"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005596"/>
                </a:solidFill>
                <a:latin typeface="Arial" pitchFamily="34" charset="0"/>
                <a:ea typeface="Arial" pitchFamily="34" charset="-122"/>
                <a:cs typeface="Arial" pitchFamily="34" charset="-120"/>
              </a:rPr>
              <a:t>DEVELOPMENT</a:t>
            </a:r>
            <a:endParaRPr lang="en-US" sz="1800" dirty="0"/>
          </a:p>
        </p:txBody>
      </p:sp>
      <p:sp>
        <p:nvSpPr>
          <p:cNvPr id="11" name="Text 9"/>
          <p:cNvSpPr/>
          <p:nvPr/>
        </p:nvSpPr>
        <p:spPr>
          <a:xfrm>
            <a:off x="1143000" y="4802535"/>
            <a:ext cx="17602200" cy="758130"/>
          </a:xfrm>
          <a:prstGeom prst="rect">
            <a:avLst/>
          </a:prstGeom>
          <a:noFill/>
          <a:ln/>
        </p:spPr>
        <p:txBody>
          <a:bodyPr wrap="square" lIns="25400" tIns="25400" rIns="25400" bIns="25400" rtlCol="0" anchor="t">
            <a:normAutofit/>
          </a:bodyPr>
          <a:lstStyle/>
          <a:p>
            <a:pPr algn="l" indent="0" marL="0">
              <a:lnSpc>
                <a:spcPct val="92195"/>
              </a:lnSpc>
              <a:buNone/>
            </a:pPr>
            <a:r>
              <a:rPr lang="en-US" sz="5400" b="1" spc="-108" kern="0" dirty="0">
                <a:solidFill>
                  <a:srgbClr val="FFFFFF"/>
                </a:solidFill>
                <a:latin typeface="Arial" pitchFamily="34" charset="0"/>
                <a:ea typeface="Arial" pitchFamily="34" charset="-122"/>
                <a:cs typeface="Arial" pitchFamily="34" charset="-120"/>
              </a:rPr>
              <a:t>Model Invocation + Adversarial Agents</a:t>
            </a:r>
            <a:endParaRPr lang="en-US" sz="5400" dirty="0"/>
          </a:p>
        </p:txBody>
      </p:sp>
      <p:sp>
        <p:nvSpPr>
          <p:cNvPr id="12" name="Text 10"/>
          <p:cNvSpPr/>
          <p:nvPr/>
        </p:nvSpPr>
        <p:spPr>
          <a:xfrm>
            <a:off x="1143000" y="5808315"/>
            <a:ext cx="15697200" cy="1238250"/>
          </a:xfrm>
          <a:prstGeom prst="rect">
            <a:avLst/>
          </a:prstGeom>
          <a:noFill/>
          <a:ln/>
        </p:spPr>
        <p:txBody>
          <a:bodyPr wrap="square" lIns="25400" tIns="25400" rIns="25400" bIns="25400" rtlCol="0" anchor="t">
            <a:normAutofit/>
          </a:bodyPr>
          <a:lstStyle/>
          <a:p>
            <a:pPr algn="l" indent="0" marL="0">
              <a:lnSpc>
                <a:spcPct val="93333"/>
              </a:lnSpc>
              <a:buNone/>
            </a:pPr>
            <a:r>
              <a:rPr lang="en-US" sz="2100" dirty="0">
                <a:solidFill>
                  <a:srgbClr val="FFFFFF"/>
                </a:solidFill>
                <a:latin typeface="Khula" pitchFamily="34" charset="0"/>
                <a:ea typeface="Khula" pitchFamily="34" charset="-122"/>
                <a:cs typeface="Khula" pitchFamily="34" charset="-120"/>
              </a:rPr>
              <a:t>Session 4 gave you retrospective evaluation — measuring output quality after the fact. Today we ask two new questions: When should the model invoke a skill automatically instead of waiting for your slash command? And: How do you challenge AI output with AI to find problems your evaluator missed?</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33500" y="3620542"/>
            <a:ext cx="3473500" cy="533400"/>
          </a:xfrm>
          <a:prstGeom prst="roundRect">
            <a:avLst>
              <a:gd name="adj" fmla="val 50000"/>
            </a:avLst>
          </a:prstGeom>
          <a:solidFill>
            <a:srgbClr val="F5BB41"/>
          </a:solidFill>
          <a:ln/>
        </p:spPr>
      </p:sp>
      <p:sp>
        <p:nvSpPr>
          <p:cNvPr id="3" name="Text 1"/>
          <p:cNvSpPr/>
          <p:nvPr/>
        </p:nvSpPr>
        <p:spPr>
          <a:xfrm>
            <a:off x="1581150" y="3715792"/>
            <a:ext cx="3082405"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CHECK-IN</a:t>
            </a:r>
            <a:endParaRPr lang="en-US" sz="1800" dirty="0"/>
          </a:p>
        </p:txBody>
      </p:sp>
      <p:sp>
        <p:nvSpPr>
          <p:cNvPr id="4" name="Text 2"/>
          <p:cNvSpPr/>
          <p:nvPr/>
        </p:nvSpPr>
        <p:spPr>
          <a:xfrm>
            <a:off x="1333500" y="4573042"/>
            <a:ext cx="171831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108" kern="0" dirty="0">
                <a:solidFill>
                  <a:srgbClr val="4597D3"/>
                </a:solidFill>
                <a:latin typeface="Poppins" pitchFamily="34" charset="0"/>
                <a:ea typeface="Poppins" pitchFamily="34" charset="-122"/>
                <a:cs typeface="Poppins" pitchFamily="34" charset="-120"/>
              </a:rPr>
              <a:t>CHECK-IN</a:t>
            </a:r>
            <a:endParaRPr lang="en-US" sz="1800" dirty="0"/>
          </a:p>
        </p:txBody>
      </p:sp>
      <p:sp>
        <p:nvSpPr>
          <p:cNvPr id="5" name="Text 3"/>
          <p:cNvSpPr/>
          <p:nvPr/>
        </p:nvSpPr>
        <p:spPr>
          <a:xfrm>
            <a:off x="1333500" y="5106442"/>
            <a:ext cx="16089630" cy="1598116"/>
          </a:xfrm>
          <a:prstGeom prst="rect">
            <a:avLst/>
          </a:prstGeom>
          <a:noFill/>
          <a:ln/>
        </p:spPr>
        <p:txBody>
          <a:bodyPr wrap="square" lIns="25400" tIns="25400" rIns="25400" bIns="25400" rtlCol="0" anchor="t">
            <a:normAutofit/>
          </a:bodyPr>
          <a:lstStyle/>
          <a:p>
            <a:pPr algn="l" indent="0" marL="0">
              <a:lnSpc>
                <a:spcPct val="86667"/>
              </a:lnSpc>
              <a:buNone/>
            </a:pPr>
            <a:r>
              <a:rPr lang="en-US" sz="3150" b="1" spc="-63" kern="0" dirty="0">
                <a:solidFill>
                  <a:srgbClr val="005596"/>
                </a:solidFill>
                <a:latin typeface="Poppins" pitchFamily="34" charset="0"/>
                <a:ea typeface="Poppins" pitchFamily="34" charset="-122"/>
                <a:cs typeface="Poppins" pitchFamily="34" charset="-120"/>
              </a:rPr>
              <a:t>In the two weeks since Session 4, what has running your Python evaluator taught you about your skills that you didn't know before? Did any of your instructions turn out to be dead weight?</a:t>
            </a:r>
            <a:endParaRPr lang="en-US" sz="3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762000"/>
            <a:ext cx="4156621" cy="533400"/>
          </a:xfrm>
          <a:prstGeom prst="roundRect">
            <a:avLst>
              <a:gd name="adj" fmla="val 50000"/>
            </a:avLst>
          </a:prstGeom>
          <a:solidFill>
            <a:srgbClr val="9D1D96"/>
          </a:solidFill>
          <a:ln/>
        </p:spPr>
      </p:sp>
      <p:sp>
        <p:nvSpPr>
          <p:cNvPr id="3" name="Text 1"/>
          <p:cNvSpPr/>
          <p:nvPr/>
        </p:nvSpPr>
        <p:spPr>
          <a:xfrm>
            <a:off x="1390650" y="857250"/>
            <a:ext cx="3786019"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SESSION GOALS</a:t>
            </a:r>
            <a:endParaRPr lang="en-US" sz="1800" dirty="0"/>
          </a:p>
        </p:txBody>
      </p:sp>
      <p:sp>
        <p:nvSpPr>
          <p:cNvPr id="4" name="Text 2"/>
          <p:cNvSpPr/>
          <p:nvPr/>
        </p:nvSpPr>
        <p:spPr>
          <a:xfrm>
            <a:off x="1143000" y="1543050"/>
            <a:ext cx="17602200" cy="540990"/>
          </a:xfrm>
          <a:prstGeom prst="rect">
            <a:avLst/>
          </a:prstGeom>
          <a:noFill/>
          <a:ln/>
        </p:spPr>
        <p:txBody>
          <a:bodyPr wrap="square" lIns="25400" tIns="25400" rIns="25400" bIns="25400" rtlCol="0" anchor="t">
            <a:normAutofit/>
          </a:bodyPr>
          <a:lstStyle/>
          <a:p>
            <a:pPr algn="l" indent="0" marL="0">
              <a:lnSpc>
                <a:spcPct val="73333"/>
              </a:lnSpc>
              <a:buNone/>
            </a:pPr>
            <a:r>
              <a:rPr lang="en-US" sz="3600" b="1" spc="-72" kern="0" dirty="0">
                <a:solidFill>
                  <a:srgbClr val="005596"/>
                </a:solidFill>
                <a:latin typeface="Poppins" pitchFamily="34" charset="0"/>
                <a:ea typeface="Poppins" pitchFamily="34" charset="-122"/>
                <a:cs typeface="Poppins" pitchFamily="34" charset="-120"/>
              </a:rPr>
              <a:t>Session Goals </a:t>
            </a:r>
            <a:pPr algn="l" indent="0" marL="0">
              <a:lnSpc>
                <a:spcPct val="73333"/>
              </a:lnSpc>
              <a:buNone/>
            </a:pPr>
            <a:r>
              <a:rPr lang="en-US" sz="2250" b="1" spc="-72" kern="0" dirty="0">
                <a:solidFill>
                  <a:srgbClr val="005596"/>
                </a:solidFill>
                <a:latin typeface="Poppins" pitchFamily="34" charset="0"/>
                <a:ea typeface="Poppins" pitchFamily="34" charset="-122"/>
                <a:cs typeface="Poppins" pitchFamily="34" charset="-120"/>
              </a:rPr>
              <a:t>(1 of 2)</a:t>
            </a:r>
            <a:endParaRPr lang="en-US" sz="3600" dirty="0"/>
          </a:p>
        </p:txBody>
      </p:sp>
      <p:sp>
        <p:nvSpPr>
          <p:cNvPr id="5" name="Shape 3"/>
          <p:cNvSpPr/>
          <p:nvPr/>
        </p:nvSpPr>
        <p:spPr>
          <a:xfrm>
            <a:off x="1143000" y="2293590"/>
            <a:ext cx="16002000" cy="2434233"/>
          </a:xfrm>
          <a:prstGeom prst="roundRect">
            <a:avLst>
              <a:gd name="adj" fmla="val 6261"/>
            </a:avLst>
          </a:prstGeom>
          <a:ln w="19050">
            <a:solidFill>
              <a:srgbClr val="E3E9EF"/>
            </a:solidFill>
            <a:prstDash val="solid"/>
          </a:ln>
        </p:spPr>
      </p:sp>
      <p:sp>
        <p:nvSpPr>
          <p:cNvPr id="6" name="Text 4"/>
          <p:cNvSpPr/>
          <p:nvPr/>
        </p:nvSpPr>
        <p:spPr>
          <a:xfrm>
            <a:off x="1409700" y="2465040"/>
            <a:ext cx="17015460" cy="300038"/>
          </a:xfrm>
          <a:prstGeom prst="rect">
            <a:avLst/>
          </a:prstGeom>
          <a:noFill/>
          <a:ln/>
        </p:spPr>
        <p:txBody>
          <a:bodyPr wrap="square" lIns="25400" tIns="25400" rIns="25400" bIns="25400" rtlCol="0" anchor="t">
            <a:normAutofit/>
          </a:bodyPr>
          <a:lstStyle/>
          <a:p>
            <a:pPr algn="l" indent="0" marL="0">
              <a:lnSpc>
                <a:spcPct val="72368"/>
              </a:lnSpc>
              <a:buNone/>
            </a:pPr>
            <a:r>
              <a:rPr lang="en-US" sz="1875" b="1" spc="-37" kern="0" dirty="0">
                <a:solidFill>
                  <a:srgbClr val="0E1A26"/>
                </a:solidFill>
                <a:latin typeface="Poppins" pitchFamily="34" charset="0"/>
                <a:ea typeface="Poppins" pitchFamily="34" charset="-122"/>
                <a:cs typeface="Poppins" pitchFamily="34" charset="-120"/>
              </a:rPr>
              <a:t>Goal 1: </a:t>
            </a:r>
            <a:pPr algn="l" indent="0" marL="0">
              <a:lnSpc>
                <a:spcPct val="72368"/>
              </a:lnSpc>
              <a:buNone/>
            </a:pPr>
            <a:r>
              <a:rPr lang="en-US" sz="1875" b="1" spc="-37" kern="0" dirty="0">
                <a:solidFill>
                  <a:srgbClr val="4597D3"/>
                </a:solidFill>
                <a:latin typeface="Poppins" pitchFamily="34" charset="0"/>
                <a:ea typeface="Poppins" pitchFamily="34" charset="-122"/>
                <a:cs typeface="Poppins" pitchFamily="34" charset="-120"/>
              </a:rPr>
              <a:t>Evaluate a skill for model invocation readiness using the three graduation criteria</a:t>
            </a:r>
            <a:endParaRPr lang="en-US" sz="1875" dirty="0"/>
          </a:p>
        </p:txBody>
      </p:sp>
      <p:sp>
        <p:nvSpPr>
          <p:cNvPr id="7" name="Shape 5"/>
          <p:cNvSpPr/>
          <p:nvPr/>
        </p:nvSpPr>
        <p:spPr>
          <a:xfrm>
            <a:off x="1409700" y="2812703"/>
            <a:ext cx="5041850" cy="1743670"/>
          </a:xfrm>
          <a:prstGeom prst="roundRect">
            <a:avLst>
              <a:gd name="adj" fmla="val 5463"/>
            </a:avLst>
          </a:prstGeom>
          <a:solidFill>
            <a:srgbClr val="F4F7FA"/>
          </a:solidFill>
          <a:ln/>
        </p:spPr>
      </p:sp>
      <p:sp>
        <p:nvSpPr>
          <p:cNvPr id="8" name="Text 6"/>
          <p:cNvSpPr/>
          <p:nvPr/>
        </p:nvSpPr>
        <p:spPr>
          <a:xfrm>
            <a:off x="1562100"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9" name="Text 7"/>
          <p:cNvSpPr/>
          <p:nvPr/>
        </p:nvSpPr>
        <p:spPr>
          <a:xfrm>
            <a:off x="1562100" y="3327053"/>
            <a:ext cx="4879162" cy="115312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Your epics-and-stories skill has been invoked via slash command for 8 weeks. Is it ready for the model to invoke automatically? The three criteria tell you.</a:t>
            </a:r>
            <a:endParaRPr lang="en-US" sz="1800" dirty="0"/>
          </a:p>
        </p:txBody>
      </p:sp>
      <p:sp>
        <p:nvSpPr>
          <p:cNvPr id="10" name="Shape 8"/>
          <p:cNvSpPr/>
          <p:nvPr/>
        </p:nvSpPr>
        <p:spPr>
          <a:xfrm>
            <a:off x="6623000" y="2812703"/>
            <a:ext cx="5041850" cy="1743670"/>
          </a:xfrm>
          <a:prstGeom prst="roundRect">
            <a:avLst>
              <a:gd name="adj" fmla="val 5463"/>
            </a:avLst>
          </a:prstGeom>
          <a:solidFill>
            <a:srgbClr val="F4F7FA"/>
          </a:solidFill>
          <a:ln/>
        </p:spPr>
      </p:sp>
      <p:sp>
        <p:nvSpPr>
          <p:cNvPr id="11" name="Text 9"/>
          <p:cNvSpPr/>
          <p:nvPr/>
        </p:nvSpPr>
        <p:spPr>
          <a:xfrm>
            <a:off x="6775400"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12" name="Text 10"/>
          <p:cNvSpPr/>
          <p:nvPr/>
        </p:nvSpPr>
        <p:spPr>
          <a:xfrm>
            <a:off x="6775400" y="3327053"/>
            <a:ext cx="4879162" cy="87436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Your Plan and Code skills are candidates too. This is where you decide what to trust the model to trigger on its own.</a:t>
            </a:r>
            <a:endParaRPr lang="en-US" sz="1800" dirty="0"/>
          </a:p>
        </p:txBody>
      </p:sp>
      <p:sp>
        <p:nvSpPr>
          <p:cNvPr id="13" name="Shape 11"/>
          <p:cNvSpPr/>
          <p:nvPr/>
        </p:nvSpPr>
        <p:spPr>
          <a:xfrm>
            <a:off x="11836301" y="2812703"/>
            <a:ext cx="5041850" cy="1743670"/>
          </a:xfrm>
          <a:prstGeom prst="roundRect">
            <a:avLst>
              <a:gd name="adj" fmla="val 5463"/>
            </a:avLst>
          </a:prstGeom>
          <a:solidFill>
            <a:srgbClr val="F4F7FA"/>
          </a:solidFill>
          <a:ln/>
        </p:spPr>
      </p:sp>
      <p:sp>
        <p:nvSpPr>
          <p:cNvPr id="14" name="Text 12"/>
          <p:cNvSpPr/>
          <p:nvPr/>
        </p:nvSpPr>
        <p:spPr>
          <a:xfrm>
            <a:off x="11988701"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15" name="Text 13"/>
          <p:cNvSpPr/>
          <p:nvPr/>
        </p:nvSpPr>
        <p:spPr>
          <a:xfrm>
            <a:off x="11988701" y="3327053"/>
            <a:ext cx="4879162" cy="87436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Your review-implementation skill may also be a candidate. But if the invocation boundary isn't clear, don't enable it — that's the signal.</a:t>
            </a:r>
            <a:endParaRPr lang="en-US" sz="1800" dirty="0"/>
          </a:p>
        </p:txBody>
      </p:sp>
      <p:sp>
        <p:nvSpPr>
          <p:cNvPr id="16" name="Shape 14"/>
          <p:cNvSpPr/>
          <p:nvPr/>
        </p:nvSpPr>
        <p:spPr>
          <a:xfrm>
            <a:off x="1143000" y="4899273"/>
            <a:ext cx="16002000" cy="2155478"/>
          </a:xfrm>
          <a:prstGeom prst="roundRect">
            <a:avLst>
              <a:gd name="adj" fmla="val 7070"/>
            </a:avLst>
          </a:prstGeom>
          <a:ln w="19050">
            <a:solidFill>
              <a:srgbClr val="E3E9EF"/>
            </a:solidFill>
            <a:prstDash val="solid"/>
          </a:ln>
        </p:spPr>
      </p:sp>
      <p:sp>
        <p:nvSpPr>
          <p:cNvPr id="17" name="Text 15"/>
          <p:cNvSpPr/>
          <p:nvPr/>
        </p:nvSpPr>
        <p:spPr>
          <a:xfrm>
            <a:off x="1409700" y="5070723"/>
            <a:ext cx="17015460" cy="300038"/>
          </a:xfrm>
          <a:prstGeom prst="rect">
            <a:avLst/>
          </a:prstGeom>
          <a:noFill/>
          <a:ln/>
        </p:spPr>
        <p:txBody>
          <a:bodyPr wrap="square" lIns="25400" tIns="25400" rIns="25400" bIns="25400" rtlCol="0" anchor="t">
            <a:normAutofit/>
          </a:bodyPr>
          <a:lstStyle/>
          <a:p>
            <a:pPr algn="l" indent="0" marL="0">
              <a:lnSpc>
                <a:spcPct val="72368"/>
              </a:lnSpc>
              <a:buNone/>
            </a:pPr>
            <a:r>
              <a:rPr lang="en-US" sz="1875" b="1" spc="-37" kern="0" dirty="0">
                <a:solidFill>
                  <a:srgbClr val="0E1A26"/>
                </a:solidFill>
                <a:latin typeface="Poppins" pitchFamily="34" charset="0"/>
                <a:ea typeface="Poppins" pitchFamily="34" charset="-122"/>
                <a:cs typeface="Poppins" pitchFamily="34" charset="-120"/>
              </a:rPr>
              <a:t>Goal 2: </a:t>
            </a:r>
            <a:pPr algn="l" indent="0" marL="0">
              <a:lnSpc>
                <a:spcPct val="72368"/>
              </a:lnSpc>
              <a:buNone/>
            </a:pPr>
            <a:r>
              <a:rPr lang="en-US" sz="1875" b="1" spc="-37" kern="0" dirty="0">
                <a:solidFill>
                  <a:srgbClr val="4597D3"/>
                </a:solidFill>
                <a:latin typeface="Poppins" pitchFamily="34" charset="0"/>
                <a:ea typeface="Poppins" pitchFamily="34" charset="-122"/>
                <a:cs typeface="Poppins" pitchFamily="34" charset="-120"/>
              </a:rPr>
              <a:t>Enable model invocation on at least one skill (or document the gap)</a:t>
            </a:r>
            <a:endParaRPr lang="en-US" sz="1875" dirty="0"/>
          </a:p>
        </p:txBody>
      </p:sp>
      <p:sp>
        <p:nvSpPr>
          <p:cNvPr id="18" name="Shape 16"/>
          <p:cNvSpPr/>
          <p:nvPr/>
        </p:nvSpPr>
        <p:spPr>
          <a:xfrm>
            <a:off x="1409700" y="5418386"/>
            <a:ext cx="5041850" cy="1464915"/>
          </a:xfrm>
          <a:prstGeom prst="roundRect">
            <a:avLst>
              <a:gd name="adj" fmla="val 6502"/>
            </a:avLst>
          </a:prstGeom>
          <a:solidFill>
            <a:srgbClr val="F4F7FA"/>
          </a:solidFill>
          <a:ln/>
        </p:spPr>
      </p:sp>
      <p:sp>
        <p:nvSpPr>
          <p:cNvPr id="19" name="Text 17"/>
          <p:cNvSpPr/>
          <p:nvPr/>
        </p:nvSpPr>
        <p:spPr>
          <a:xfrm>
            <a:off x="1562100" y="5532686"/>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20" name="Text 18"/>
          <p:cNvSpPr/>
          <p:nvPr/>
        </p:nvSpPr>
        <p:spPr>
          <a:xfrm>
            <a:off x="1562100" y="5932736"/>
            <a:ext cx="4879162" cy="87436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If your epics-and-stories skill passes the three criteria, enable model invocation. If not, write down exactly what's missing.</a:t>
            </a:r>
            <a:endParaRPr lang="en-US" sz="1800" dirty="0"/>
          </a:p>
        </p:txBody>
      </p:sp>
      <p:sp>
        <p:nvSpPr>
          <p:cNvPr id="21" name="Shape 19"/>
          <p:cNvSpPr/>
          <p:nvPr/>
        </p:nvSpPr>
        <p:spPr>
          <a:xfrm>
            <a:off x="6623000" y="5418386"/>
            <a:ext cx="5041850" cy="1464915"/>
          </a:xfrm>
          <a:prstGeom prst="roundRect">
            <a:avLst>
              <a:gd name="adj" fmla="val 6502"/>
            </a:avLst>
          </a:prstGeom>
          <a:solidFill>
            <a:srgbClr val="F4F7FA"/>
          </a:solidFill>
          <a:ln/>
        </p:spPr>
      </p:sp>
      <p:sp>
        <p:nvSpPr>
          <p:cNvPr id="22" name="Text 20"/>
          <p:cNvSpPr/>
          <p:nvPr/>
        </p:nvSpPr>
        <p:spPr>
          <a:xfrm>
            <a:off x="6775400" y="5532686"/>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23" name="Text 21"/>
          <p:cNvSpPr/>
          <p:nvPr/>
        </p:nvSpPr>
        <p:spPr>
          <a:xfrm>
            <a:off x="6775400" y="5932736"/>
            <a:ext cx="4879162" cy="59561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Same for Plan and Code skills. The decision is evidence-based, not preference-based.</a:t>
            </a:r>
            <a:endParaRPr lang="en-US" sz="1800" dirty="0"/>
          </a:p>
        </p:txBody>
      </p:sp>
      <p:sp>
        <p:nvSpPr>
          <p:cNvPr id="24" name="Shape 22"/>
          <p:cNvSpPr/>
          <p:nvPr/>
        </p:nvSpPr>
        <p:spPr>
          <a:xfrm>
            <a:off x="11836301" y="5418386"/>
            <a:ext cx="5041850" cy="1464915"/>
          </a:xfrm>
          <a:prstGeom prst="roundRect">
            <a:avLst>
              <a:gd name="adj" fmla="val 6502"/>
            </a:avLst>
          </a:prstGeom>
          <a:solidFill>
            <a:srgbClr val="F4F7FA"/>
          </a:solidFill>
          <a:ln/>
        </p:spPr>
      </p:sp>
      <p:sp>
        <p:nvSpPr>
          <p:cNvPr id="25" name="Text 23"/>
          <p:cNvSpPr/>
          <p:nvPr/>
        </p:nvSpPr>
        <p:spPr>
          <a:xfrm>
            <a:off x="11988701" y="5532686"/>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26" name="Text 24"/>
          <p:cNvSpPr/>
          <p:nvPr/>
        </p:nvSpPr>
        <p:spPr>
          <a:xfrm>
            <a:off x="11988701" y="5932736"/>
            <a:ext cx="4879162" cy="59561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Same for the review-implementation skill. Both outcomes (enable or document gap) are valid.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762000"/>
            <a:ext cx="4156621" cy="533400"/>
          </a:xfrm>
          <a:prstGeom prst="roundRect">
            <a:avLst>
              <a:gd name="adj" fmla="val 50000"/>
            </a:avLst>
          </a:prstGeom>
          <a:solidFill>
            <a:srgbClr val="9D1D96"/>
          </a:solidFill>
          <a:ln/>
        </p:spPr>
      </p:sp>
      <p:sp>
        <p:nvSpPr>
          <p:cNvPr id="3" name="Text 1"/>
          <p:cNvSpPr/>
          <p:nvPr/>
        </p:nvSpPr>
        <p:spPr>
          <a:xfrm>
            <a:off x="1390650" y="857250"/>
            <a:ext cx="3786019"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SESSION GOALS</a:t>
            </a:r>
            <a:endParaRPr lang="en-US" sz="1800" dirty="0"/>
          </a:p>
        </p:txBody>
      </p:sp>
      <p:sp>
        <p:nvSpPr>
          <p:cNvPr id="4" name="Text 2"/>
          <p:cNvSpPr/>
          <p:nvPr/>
        </p:nvSpPr>
        <p:spPr>
          <a:xfrm>
            <a:off x="1143000" y="1543050"/>
            <a:ext cx="17602200" cy="540990"/>
          </a:xfrm>
          <a:prstGeom prst="rect">
            <a:avLst/>
          </a:prstGeom>
          <a:noFill/>
          <a:ln/>
        </p:spPr>
        <p:txBody>
          <a:bodyPr wrap="square" lIns="25400" tIns="25400" rIns="25400" bIns="25400" rtlCol="0" anchor="t">
            <a:normAutofit/>
          </a:bodyPr>
          <a:lstStyle/>
          <a:p>
            <a:pPr algn="l" indent="0" marL="0">
              <a:lnSpc>
                <a:spcPct val="73333"/>
              </a:lnSpc>
              <a:buNone/>
            </a:pPr>
            <a:r>
              <a:rPr lang="en-US" sz="3600" b="1" spc="-72" kern="0" dirty="0">
                <a:solidFill>
                  <a:srgbClr val="005596"/>
                </a:solidFill>
                <a:latin typeface="Poppins" pitchFamily="34" charset="0"/>
                <a:ea typeface="Poppins" pitchFamily="34" charset="-122"/>
                <a:cs typeface="Poppins" pitchFamily="34" charset="-120"/>
              </a:rPr>
              <a:t>Session Goals </a:t>
            </a:r>
            <a:pPr algn="l" indent="0" marL="0">
              <a:lnSpc>
                <a:spcPct val="73333"/>
              </a:lnSpc>
              <a:buNone/>
            </a:pPr>
            <a:r>
              <a:rPr lang="en-US" sz="2250" b="1" spc="-72" kern="0" dirty="0">
                <a:solidFill>
                  <a:srgbClr val="005596"/>
                </a:solidFill>
                <a:latin typeface="Poppins" pitchFamily="34" charset="0"/>
                <a:ea typeface="Poppins" pitchFamily="34" charset="-122"/>
                <a:cs typeface="Poppins" pitchFamily="34" charset="-120"/>
              </a:rPr>
              <a:t>(2 of 2)</a:t>
            </a:r>
            <a:endParaRPr lang="en-US" sz="3600" dirty="0"/>
          </a:p>
        </p:txBody>
      </p:sp>
      <p:sp>
        <p:nvSpPr>
          <p:cNvPr id="5" name="Shape 3"/>
          <p:cNvSpPr/>
          <p:nvPr/>
        </p:nvSpPr>
        <p:spPr>
          <a:xfrm>
            <a:off x="1143000" y="2293590"/>
            <a:ext cx="16002000" cy="2712988"/>
          </a:xfrm>
          <a:prstGeom prst="roundRect">
            <a:avLst>
              <a:gd name="adj" fmla="val 5617"/>
            </a:avLst>
          </a:prstGeom>
          <a:ln w="19050">
            <a:solidFill>
              <a:srgbClr val="E3E9EF"/>
            </a:solidFill>
            <a:prstDash val="solid"/>
          </a:ln>
        </p:spPr>
      </p:sp>
      <p:sp>
        <p:nvSpPr>
          <p:cNvPr id="6" name="Text 4"/>
          <p:cNvSpPr/>
          <p:nvPr/>
        </p:nvSpPr>
        <p:spPr>
          <a:xfrm>
            <a:off x="1409700" y="2465040"/>
            <a:ext cx="17015460" cy="300038"/>
          </a:xfrm>
          <a:prstGeom prst="rect">
            <a:avLst/>
          </a:prstGeom>
          <a:noFill/>
          <a:ln/>
        </p:spPr>
        <p:txBody>
          <a:bodyPr wrap="square" lIns="25400" tIns="25400" rIns="25400" bIns="25400" rtlCol="0" anchor="t">
            <a:normAutofit/>
          </a:bodyPr>
          <a:lstStyle/>
          <a:p>
            <a:pPr algn="l" indent="0" marL="0">
              <a:lnSpc>
                <a:spcPct val="72368"/>
              </a:lnSpc>
              <a:buNone/>
            </a:pPr>
            <a:r>
              <a:rPr lang="en-US" sz="1875" b="1" spc="-37" kern="0" dirty="0">
                <a:solidFill>
                  <a:srgbClr val="0E1A26"/>
                </a:solidFill>
                <a:latin typeface="Poppins" pitchFamily="34" charset="0"/>
                <a:ea typeface="Poppins" pitchFamily="34" charset="-122"/>
                <a:cs typeface="Poppins" pitchFamily="34" charset="-120"/>
              </a:rPr>
              <a:t>Goal 3: </a:t>
            </a:r>
            <a:pPr algn="l" indent="0" marL="0">
              <a:lnSpc>
                <a:spcPct val="72368"/>
              </a:lnSpc>
              <a:buNone/>
            </a:pPr>
            <a:r>
              <a:rPr lang="en-US" sz="1875" b="1" spc="-37" kern="0" dirty="0">
                <a:solidFill>
                  <a:srgbClr val="4597D3"/>
                </a:solidFill>
                <a:latin typeface="Poppins" pitchFamily="34" charset="0"/>
                <a:ea typeface="Poppins" pitchFamily="34" charset="-122"/>
                <a:cs typeface="Poppins" pitchFamily="34" charset="-120"/>
              </a:rPr>
              <a:t>Write an adversarial agent prompt that challenges another skill's output</a:t>
            </a:r>
            <a:endParaRPr lang="en-US" sz="1875" dirty="0"/>
          </a:p>
        </p:txBody>
      </p:sp>
      <p:sp>
        <p:nvSpPr>
          <p:cNvPr id="7" name="Shape 5"/>
          <p:cNvSpPr/>
          <p:nvPr/>
        </p:nvSpPr>
        <p:spPr>
          <a:xfrm>
            <a:off x="1409700" y="2812703"/>
            <a:ext cx="5041850" cy="2022425"/>
          </a:xfrm>
          <a:prstGeom prst="roundRect">
            <a:avLst>
              <a:gd name="adj" fmla="val 4710"/>
            </a:avLst>
          </a:prstGeom>
          <a:solidFill>
            <a:srgbClr val="F4F7FA"/>
          </a:solidFill>
          <a:ln/>
        </p:spPr>
      </p:sp>
      <p:sp>
        <p:nvSpPr>
          <p:cNvPr id="8" name="Text 6"/>
          <p:cNvSpPr/>
          <p:nvPr/>
        </p:nvSpPr>
        <p:spPr>
          <a:xfrm>
            <a:off x="1562100"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9" name="Text 7"/>
          <p:cNvSpPr/>
          <p:nvPr/>
        </p:nvSpPr>
        <p:spPr>
          <a:xfrm>
            <a:off x="1562100" y="3327053"/>
            <a:ext cx="4879162" cy="115312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An adversarial agent can challenge your epics-and-stories output — finding missing edge cases, vague AC, or untestable statements your evaluator didn't catch.</a:t>
            </a:r>
            <a:endParaRPr lang="en-US" sz="1800" dirty="0"/>
          </a:p>
        </p:txBody>
      </p:sp>
      <p:sp>
        <p:nvSpPr>
          <p:cNvPr id="10" name="Shape 8"/>
          <p:cNvSpPr/>
          <p:nvPr/>
        </p:nvSpPr>
        <p:spPr>
          <a:xfrm>
            <a:off x="6623000" y="2812703"/>
            <a:ext cx="5041850" cy="2022425"/>
          </a:xfrm>
          <a:prstGeom prst="roundRect">
            <a:avLst>
              <a:gd name="adj" fmla="val 4710"/>
            </a:avLst>
          </a:prstGeom>
          <a:solidFill>
            <a:srgbClr val="F4F7FA"/>
          </a:solidFill>
          <a:ln/>
        </p:spPr>
      </p:sp>
      <p:sp>
        <p:nvSpPr>
          <p:cNvPr id="11" name="Text 9"/>
          <p:cNvSpPr/>
          <p:nvPr/>
        </p:nvSpPr>
        <p:spPr>
          <a:xfrm>
            <a:off x="6775400"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12" name="Text 10"/>
          <p:cNvSpPr/>
          <p:nvPr/>
        </p:nvSpPr>
        <p:spPr>
          <a:xfrm>
            <a:off x="6775400" y="3327053"/>
            <a:ext cx="4879162" cy="115312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An adversarial agent can challenge your Plan → Code output — finding implementation gaps, missing edge cases, or architectural issues the plan didn't address.</a:t>
            </a:r>
            <a:endParaRPr lang="en-US" sz="1800" dirty="0"/>
          </a:p>
        </p:txBody>
      </p:sp>
      <p:sp>
        <p:nvSpPr>
          <p:cNvPr id="13" name="Shape 11"/>
          <p:cNvSpPr/>
          <p:nvPr/>
        </p:nvSpPr>
        <p:spPr>
          <a:xfrm>
            <a:off x="11836301" y="2812703"/>
            <a:ext cx="5041850" cy="2022425"/>
          </a:xfrm>
          <a:prstGeom prst="roundRect">
            <a:avLst>
              <a:gd name="adj" fmla="val 4710"/>
            </a:avLst>
          </a:prstGeom>
          <a:solidFill>
            <a:srgbClr val="F4F7FA"/>
          </a:solidFill>
          <a:ln/>
        </p:spPr>
      </p:sp>
      <p:sp>
        <p:nvSpPr>
          <p:cNvPr id="14" name="Text 12"/>
          <p:cNvSpPr/>
          <p:nvPr/>
        </p:nvSpPr>
        <p:spPr>
          <a:xfrm>
            <a:off x="11988701" y="2927003"/>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15" name="Text 13"/>
          <p:cNvSpPr/>
          <p:nvPr/>
        </p:nvSpPr>
        <p:spPr>
          <a:xfrm>
            <a:off x="11988701" y="3327053"/>
            <a:ext cx="4879162" cy="143187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An adversarial agent can challenge your review-implementation output — finding missing issues, overlooked edge cases, or severity misclassifications your evaluator didn't catch.</a:t>
            </a:r>
            <a:endParaRPr lang="en-US" sz="1800" dirty="0"/>
          </a:p>
        </p:txBody>
      </p:sp>
      <p:sp>
        <p:nvSpPr>
          <p:cNvPr id="16" name="Shape 14"/>
          <p:cNvSpPr/>
          <p:nvPr/>
        </p:nvSpPr>
        <p:spPr>
          <a:xfrm>
            <a:off x="1143000" y="5178028"/>
            <a:ext cx="16002000" cy="2434233"/>
          </a:xfrm>
          <a:prstGeom prst="roundRect">
            <a:avLst>
              <a:gd name="adj" fmla="val 6261"/>
            </a:avLst>
          </a:prstGeom>
          <a:ln w="19050">
            <a:solidFill>
              <a:srgbClr val="E3E9EF"/>
            </a:solidFill>
            <a:prstDash val="solid"/>
          </a:ln>
        </p:spPr>
      </p:sp>
      <p:sp>
        <p:nvSpPr>
          <p:cNvPr id="17" name="Text 15"/>
          <p:cNvSpPr/>
          <p:nvPr/>
        </p:nvSpPr>
        <p:spPr>
          <a:xfrm>
            <a:off x="1409700" y="5349478"/>
            <a:ext cx="17015460" cy="300038"/>
          </a:xfrm>
          <a:prstGeom prst="rect">
            <a:avLst/>
          </a:prstGeom>
          <a:noFill/>
          <a:ln/>
        </p:spPr>
        <p:txBody>
          <a:bodyPr wrap="square" lIns="25400" tIns="25400" rIns="25400" bIns="25400" rtlCol="0" anchor="t">
            <a:normAutofit/>
          </a:bodyPr>
          <a:lstStyle/>
          <a:p>
            <a:pPr algn="l" indent="0" marL="0">
              <a:lnSpc>
                <a:spcPct val="72368"/>
              </a:lnSpc>
              <a:buNone/>
            </a:pPr>
            <a:r>
              <a:rPr lang="en-US" sz="1875" b="1" spc="-37" kern="0" dirty="0">
                <a:solidFill>
                  <a:srgbClr val="0E1A26"/>
                </a:solidFill>
                <a:latin typeface="Poppins" pitchFamily="34" charset="0"/>
                <a:ea typeface="Poppins" pitchFamily="34" charset="-122"/>
                <a:cs typeface="Poppins" pitchFamily="34" charset="-120"/>
              </a:rPr>
              <a:t>Goal 4: </a:t>
            </a:r>
            <a:pPr algn="l" indent="0" marL="0">
              <a:lnSpc>
                <a:spcPct val="72368"/>
              </a:lnSpc>
              <a:buNone/>
            </a:pPr>
            <a:r>
              <a:rPr lang="en-US" sz="1875" b="1" spc="-37" kern="0" dirty="0">
                <a:solidFill>
                  <a:srgbClr val="4597D3"/>
                </a:solidFill>
                <a:latin typeface="Poppins" pitchFamily="34" charset="0"/>
                <a:ea typeface="Poppins" pitchFamily="34" charset="-122"/>
                <a:cs typeface="Poppins" pitchFamily="34" charset="-120"/>
              </a:rPr>
              <a:t>Understand how adversarial agents complement Python evaluation</a:t>
            </a:r>
            <a:endParaRPr lang="en-US" sz="1875" dirty="0"/>
          </a:p>
        </p:txBody>
      </p:sp>
      <p:sp>
        <p:nvSpPr>
          <p:cNvPr id="18" name="Shape 16"/>
          <p:cNvSpPr/>
          <p:nvPr/>
        </p:nvSpPr>
        <p:spPr>
          <a:xfrm>
            <a:off x="1409700" y="5697141"/>
            <a:ext cx="5041850" cy="1743670"/>
          </a:xfrm>
          <a:prstGeom prst="roundRect">
            <a:avLst>
              <a:gd name="adj" fmla="val 5463"/>
            </a:avLst>
          </a:prstGeom>
          <a:solidFill>
            <a:srgbClr val="F4F7FA"/>
          </a:solidFill>
          <a:ln/>
        </p:spPr>
      </p:sp>
      <p:sp>
        <p:nvSpPr>
          <p:cNvPr id="19" name="Text 17"/>
          <p:cNvSpPr/>
          <p:nvPr/>
        </p:nvSpPr>
        <p:spPr>
          <a:xfrm>
            <a:off x="1562100" y="5811441"/>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20" name="Text 18"/>
          <p:cNvSpPr/>
          <p:nvPr/>
        </p:nvSpPr>
        <p:spPr>
          <a:xfrm>
            <a:off x="1562100" y="6211491"/>
            <a:ext cx="4879162" cy="1153120"/>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Your Python evaluator measures against known EC. Your adversarial agent finds problems the EC didn't anticipate. Both are needed.</a:t>
            </a:r>
            <a:endParaRPr lang="en-US" sz="1800" dirty="0"/>
          </a:p>
        </p:txBody>
      </p:sp>
      <p:sp>
        <p:nvSpPr>
          <p:cNvPr id="21" name="Shape 19"/>
          <p:cNvSpPr/>
          <p:nvPr/>
        </p:nvSpPr>
        <p:spPr>
          <a:xfrm>
            <a:off x="6623000" y="5697141"/>
            <a:ext cx="5041850" cy="1743670"/>
          </a:xfrm>
          <a:prstGeom prst="roundRect">
            <a:avLst>
              <a:gd name="adj" fmla="val 5463"/>
            </a:avLst>
          </a:prstGeom>
          <a:solidFill>
            <a:srgbClr val="F4F7FA"/>
          </a:solidFill>
          <a:ln/>
        </p:spPr>
      </p:sp>
      <p:sp>
        <p:nvSpPr>
          <p:cNvPr id="22" name="Text 20"/>
          <p:cNvSpPr/>
          <p:nvPr/>
        </p:nvSpPr>
        <p:spPr>
          <a:xfrm>
            <a:off x="6775400" y="5811441"/>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23" name="Text 21"/>
          <p:cNvSpPr/>
          <p:nvPr/>
        </p:nvSpPr>
        <p:spPr>
          <a:xfrm>
            <a:off x="6775400" y="6211491"/>
            <a:ext cx="4879162" cy="87436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Same — the evaluator says "does it meet the plan?" and the adversarial agent says "what did the plan miss?"</a:t>
            </a:r>
            <a:endParaRPr lang="en-US" sz="1800" dirty="0"/>
          </a:p>
        </p:txBody>
      </p:sp>
      <p:sp>
        <p:nvSpPr>
          <p:cNvPr id="24" name="Shape 22"/>
          <p:cNvSpPr/>
          <p:nvPr/>
        </p:nvSpPr>
        <p:spPr>
          <a:xfrm>
            <a:off x="11836301" y="5697141"/>
            <a:ext cx="5041850" cy="1743670"/>
          </a:xfrm>
          <a:prstGeom prst="roundRect">
            <a:avLst>
              <a:gd name="adj" fmla="val 5463"/>
            </a:avLst>
          </a:prstGeom>
          <a:solidFill>
            <a:srgbClr val="F4F7FA"/>
          </a:solidFill>
          <a:ln/>
        </p:spPr>
      </p:sp>
      <p:sp>
        <p:nvSpPr>
          <p:cNvPr id="25" name="Text 23"/>
          <p:cNvSpPr/>
          <p:nvPr/>
        </p:nvSpPr>
        <p:spPr>
          <a:xfrm>
            <a:off x="11988701" y="5811441"/>
            <a:ext cx="521075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26" name="Text 24"/>
          <p:cNvSpPr/>
          <p:nvPr/>
        </p:nvSpPr>
        <p:spPr>
          <a:xfrm>
            <a:off x="11988701" y="6211491"/>
            <a:ext cx="4879162" cy="874365"/>
          </a:xfrm>
          <a:prstGeom prst="rect">
            <a:avLst/>
          </a:prstGeom>
          <a:noFill/>
          <a:ln/>
        </p:spPr>
        <p:txBody>
          <a:bodyPr wrap="square" lIns="25400" tIns="25400" rIns="25400" bIns="25400" rtlCol="0" anchor="t">
            <a:normAutofit/>
          </a:bodyPr>
          <a:lstStyle/>
          <a:p>
            <a:pPr algn="l" indent="0" marL="0">
              <a:lnSpc>
                <a:spcPct val="75077"/>
              </a:lnSpc>
              <a:buNone/>
            </a:pPr>
            <a:r>
              <a:rPr lang="en-US" sz="1800" dirty="0">
                <a:solidFill>
                  <a:srgbClr val="0E1A26"/>
                </a:solidFill>
                <a:latin typeface="Khula" pitchFamily="34" charset="0"/>
                <a:ea typeface="Khula" pitchFamily="34" charset="-122"/>
                <a:cs typeface="Khula" pitchFamily="34" charset="-120"/>
              </a:rPr>
              <a:t>Same — the evaluator checks coverage against EC; the adversarial agent finds risks the EC didn't define.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1712714"/>
            <a:ext cx="3265289" cy="533400"/>
          </a:xfrm>
          <a:prstGeom prst="roundRect">
            <a:avLst>
              <a:gd name="adj" fmla="val 50000"/>
            </a:avLst>
          </a:prstGeom>
          <a:solidFill>
            <a:srgbClr val="005596"/>
          </a:solidFill>
          <a:ln/>
        </p:spPr>
      </p:sp>
      <p:sp>
        <p:nvSpPr>
          <p:cNvPr id="3" name="Text 1"/>
          <p:cNvSpPr/>
          <p:nvPr/>
        </p:nvSpPr>
        <p:spPr>
          <a:xfrm>
            <a:off x="1485900" y="1807964"/>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2474714"/>
            <a:ext cx="17392650" cy="563761"/>
          </a:xfrm>
          <a:prstGeom prst="rect">
            <a:avLst/>
          </a:prstGeom>
          <a:noFill/>
          <a:ln/>
        </p:spPr>
        <p:txBody>
          <a:bodyPr wrap="square" lIns="25400" tIns="25400" rIns="25400" bIns="25400" rtlCol="0" anchor="t">
            <a:normAutofit/>
          </a:bodyPr>
          <a:lstStyle/>
          <a:p>
            <a:pPr algn="l" indent="0" marL="0">
              <a:lnSpc>
                <a:spcPct val="80000"/>
              </a:lnSpc>
              <a:buNone/>
            </a:pPr>
            <a:r>
              <a:rPr lang="en-US" sz="3450" b="1" spc="-69" kern="0" dirty="0">
                <a:solidFill>
                  <a:srgbClr val="005596"/>
                </a:solidFill>
                <a:latin typeface="Poppins" pitchFamily="34" charset="0"/>
                <a:ea typeface="Poppins" pitchFamily="34" charset="-122"/>
                <a:cs typeface="Poppins" pitchFamily="34" charset="-120"/>
              </a:rPr>
              <a:t>Model Invocation: Flipping the Switch</a:t>
            </a:r>
            <a:endParaRPr lang="en-US" sz="3450" dirty="0"/>
          </a:p>
        </p:txBody>
      </p:sp>
      <p:sp>
        <p:nvSpPr>
          <p:cNvPr id="5" name="Text 3"/>
          <p:cNvSpPr/>
          <p:nvPr/>
        </p:nvSpPr>
        <p:spPr>
          <a:xfrm>
            <a:off x="1238250" y="3228975"/>
            <a:ext cx="17392650" cy="363736"/>
          </a:xfrm>
          <a:prstGeom prst="rect">
            <a:avLst/>
          </a:prstGeom>
          <a:noFill/>
          <a:ln/>
        </p:spPr>
        <p:txBody>
          <a:bodyPr wrap="square" lIns="25400" tIns="25400" rIns="25400" bIns="25400" rtlCol="0" anchor="t">
            <a:normAutofit/>
          </a:bodyPr>
          <a:lstStyle/>
          <a:p>
            <a:pPr algn="l" indent="0" marL="0">
              <a:lnSpc>
                <a:spcPct val="80000"/>
              </a:lnSpc>
              <a:buNone/>
            </a:pPr>
            <a:r>
              <a:rPr lang="en-US" sz="1800" dirty="0">
                <a:solidFill>
                  <a:srgbClr val="0E1A26"/>
                </a:solidFill>
                <a:latin typeface="Khula" pitchFamily="34" charset="0"/>
                <a:ea typeface="Khula" pitchFamily="34" charset="-122"/>
                <a:cs typeface="Khula" pitchFamily="34" charset="-120"/>
              </a:rPr>
              <a:t>Since Session 1, every skill has had </a:t>
            </a:r>
            <a:pPr algn="l" indent="0" marL="0">
              <a:lnSpc>
                <a:spcPct val="80000"/>
              </a:lnSpc>
              <a:buNone/>
            </a:pPr>
            <a:r>
              <a:rPr lang="en-US" sz="1800" dirty="0">
                <a:solidFill>
                  <a:srgbClr val="0E1A26"/>
                </a:solidFill>
                <a:latin typeface="Courier New" pitchFamily="34" charset="0"/>
                <a:ea typeface="Courier New" pitchFamily="34" charset="-122"/>
                <a:cs typeface="Courier New" pitchFamily="34" charset="-120"/>
              </a:rPr>
              <a:t>disable-model-invocation: true</a:t>
            </a:r>
            <a:pPr algn="l" indent="0" marL="0">
              <a:lnSpc>
                <a:spcPct val="80000"/>
              </a:lnSpc>
              <a:buNone/>
            </a:pPr>
            <a:r>
              <a:rPr lang="en-US" sz="1800" dirty="0">
                <a:solidFill>
                  <a:srgbClr val="0E1A26"/>
                </a:solidFill>
                <a:latin typeface="Khula" pitchFamily="34" charset="0"/>
                <a:ea typeface="Khula" pitchFamily="34" charset="-122"/>
                <a:cs typeface="Khula" pitchFamily="34" charset="-120"/>
              </a:rPr>
              <a:t>. Now we ask: which skills are ready for the model to invoke on its own?</a:t>
            </a:r>
            <a:endParaRPr lang="en-US" sz="1800" dirty="0"/>
          </a:p>
        </p:txBody>
      </p:sp>
      <p:sp>
        <p:nvSpPr>
          <p:cNvPr id="6" name="Shape 4"/>
          <p:cNvSpPr/>
          <p:nvPr/>
        </p:nvSpPr>
        <p:spPr>
          <a:xfrm>
            <a:off x="1238250" y="3783211"/>
            <a:ext cx="15811500" cy="609600"/>
          </a:xfrm>
          <a:prstGeom prst="roundRect">
            <a:avLst>
              <a:gd name="adj" fmla="val 15625"/>
            </a:avLst>
          </a:prstGeom>
          <a:solidFill>
            <a:srgbClr val="F4F7FA"/>
          </a:solidFill>
          <a:ln/>
        </p:spPr>
      </p:sp>
      <p:sp>
        <p:nvSpPr>
          <p:cNvPr id="7" name="Text 5"/>
          <p:cNvSpPr/>
          <p:nvPr/>
        </p:nvSpPr>
        <p:spPr>
          <a:xfrm>
            <a:off x="1466850" y="3897511"/>
            <a:ext cx="15828645" cy="4191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05596"/>
                </a:solidFill>
                <a:latin typeface="Poppins" pitchFamily="34" charset="0"/>
                <a:ea typeface="Poppins" pitchFamily="34" charset="-122"/>
                <a:cs typeface="Poppins" pitchFamily="34" charset="-120"/>
              </a:rPr>
              <a:t>1. Exact triggers — </a:t>
            </a:r>
            <a:pPr algn="l" indent="0" marL="0">
              <a:lnSpc>
                <a:spcPct val="92308"/>
              </a:lnSpc>
              <a:buNone/>
            </a:pPr>
            <a:r>
              <a:rPr lang="en-US" sz="1800" dirty="0">
                <a:solidFill>
                  <a:srgbClr val="0E1A26"/>
                </a:solidFill>
                <a:latin typeface="Khula" pitchFamily="34" charset="0"/>
                <a:ea typeface="Khula" pitchFamily="34" charset="-122"/>
                <a:cs typeface="Khula" pitchFamily="34" charset="-120"/>
              </a:rPr>
              <a:t>what specific context should cause the model to invoke this skill automatically?</a:t>
            </a:r>
            <a:endParaRPr lang="en-US" sz="1200" dirty="0"/>
          </a:p>
        </p:txBody>
      </p:sp>
      <p:sp>
        <p:nvSpPr>
          <p:cNvPr id="8" name="Shape 6"/>
          <p:cNvSpPr/>
          <p:nvPr/>
        </p:nvSpPr>
        <p:spPr>
          <a:xfrm>
            <a:off x="1238250" y="4469011"/>
            <a:ext cx="15811500" cy="609600"/>
          </a:xfrm>
          <a:prstGeom prst="roundRect">
            <a:avLst>
              <a:gd name="adj" fmla="val 15625"/>
            </a:avLst>
          </a:prstGeom>
          <a:solidFill>
            <a:srgbClr val="F4F7FA"/>
          </a:solidFill>
          <a:ln/>
        </p:spPr>
      </p:sp>
      <p:sp>
        <p:nvSpPr>
          <p:cNvPr id="9" name="Text 7"/>
          <p:cNvSpPr/>
          <p:nvPr/>
        </p:nvSpPr>
        <p:spPr>
          <a:xfrm>
            <a:off x="1466850" y="4583311"/>
            <a:ext cx="15828645" cy="4191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05596"/>
                </a:solidFill>
                <a:latin typeface="Poppins" pitchFamily="34" charset="0"/>
                <a:ea typeface="Poppins" pitchFamily="34" charset="-122"/>
                <a:cs typeface="Poppins" pitchFamily="34" charset="-120"/>
              </a:rPr>
              <a:t>2. Output spec — </a:t>
            </a:r>
            <a:pPr algn="l" indent="0" marL="0">
              <a:lnSpc>
                <a:spcPct val="92308"/>
              </a:lnSpc>
              <a:buNone/>
            </a:pPr>
            <a:r>
              <a:rPr lang="en-US" sz="1800" dirty="0">
                <a:solidFill>
                  <a:srgbClr val="0E1A26"/>
                </a:solidFill>
                <a:latin typeface="Khula" pitchFamily="34" charset="0"/>
                <a:ea typeface="Khula" pitchFamily="34" charset="-122"/>
                <a:cs typeface="Khula" pitchFamily="34" charset="-120"/>
              </a:rPr>
              <a:t>what the skill does when triggered.</a:t>
            </a:r>
            <a:endParaRPr lang="en-US" sz="1200" dirty="0"/>
          </a:p>
        </p:txBody>
      </p:sp>
      <p:sp>
        <p:nvSpPr>
          <p:cNvPr id="10" name="Shape 8"/>
          <p:cNvSpPr/>
          <p:nvPr/>
        </p:nvSpPr>
        <p:spPr>
          <a:xfrm>
            <a:off x="1238250" y="5154811"/>
            <a:ext cx="15811500" cy="990600"/>
          </a:xfrm>
          <a:prstGeom prst="roundRect">
            <a:avLst>
              <a:gd name="adj" fmla="val 9615"/>
            </a:avLst>
          </a:prstGeom>
          <a:solidFill>
            <a:srgbClr val="E9F1FA"/>
          </a:solidFill>
          <a:ln w="19050">
            <a:solidFill>
              <a:srgbClr val="005596"/>
            </a:solidFill>
            <a:prstDash val="solid"/>
          </a:ln>
        </p:spPr>
      </p:sp>
      <p:sp>
        <p:nvSpPr>
          <p:cNvPr id="11" name="Text 9"/>
          <p:cNvSpPr/>
          <p:nvPr/>
        </p:nvSpPr>
        <p:spPr>
          <a:xfrm>
            <a:off x="1485900" y="5288161"/>
            <a:ext cx="15790545" cy="762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05596"/>
                </a:solidFill>
                <a:latin typeface="Poppins" pitchFamily="34" charset="0"/>
                <a:ea typeface="Poppins" pitchFamily="34" charset="-122"/>
                <a:cs typeface="Poppins" pitchFamily="34" charset="-120"/>
              </a:rPr>
              <a:t>3. At least 3 verified trigger test cases — </a:t>
            </a:r>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scenarios where the skill SHOULD invoke, verified to confirm the model actually invokes it and the output meets the spec. This is positive case testing.</a:t>
            </a:r>
            <a:endParaRPr lang="en-US" sz="1200" dirty="0"/>
          </a:p>
        </p:txBody>
      </p:sp>
      <p:sp>
        <p:nvSpPr>
          <p:cNvPr id="12" name="Shape 10"/>
          <p:cNvSpPr/>
          <p:nvPr/>
        </p:nvSpPr>
        <p:spPr>
          <a:xfrm>
            <a:off x="1238250" y="6374011"/>
            <a:ext cx="15811500" cy="914400"/>
          </a:xfrm>
          <a:prstGeom prst="roundRect">
            <a:avLst>
              <a:gd name="adj" fmla="val 10417"/>
            </a:avLst>
          </a:prstGeom>
          <a:solidFill>
            <a:srgbClr val="F4F7FA"/>
          </a:solidFill>
          <a:ln/>
        </p:spPr>
      </p:sp>
      <p:sp>
        <p:nvSpPr>
          <p:cNvPr id="13" name="Text 11"/>
          <p:cNvSpPr/>
          <p:nvPr/>
        </p:nvSpPr>
        <p:spPr>
          <a:xfrm>
            <a:off x="1466850" y="6488311"/>
            <a:ext cx="15828645" cy="7239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The most important criterion is #3. Verified trigger test cases define the invocation boundary — a skill that doesn't invoke when it should means the trigger conditions aren't clear enough.</a:t>
            </a:r>
            <a:endParaRPr lang="en-US" sz="1800" dirty="0"/>
          </a:p>
        </p:txBody>
      </p:sp>
      <p:sp>
        <p:nvSpPr>
          <p:cNvPr id="14" name="Shape 12"/>
          <p:cNvSpPr/>
          <p:nvPr/>
        </p:nvSpPr>
        <p:spPr>
          <a:xfrm>
            <a:off x="1238250" y="7517011"/>
            <a:ext cx="15811500" cy="1057275"/>
          </a:xfrm>
          <a:prstGeom prst="roundRect">
            <a:avLst>
              <a:gd name="adj" fmla="val 14414"/>
            </a:avLst>
          </a:prstGeom>
          <a:solidFill>
            <a:srgbClr val="005596"/>
          </a:solidFill>
          <a:ln/>
          <a:effectLst>
            <a:outerShdw sx="100000" sy="100000" kx="0" ky="0" algn="bl" rotWithShape="0" blurRad="266700" dist="114300" dir="5400000">
              <a:srgbClr val="005596">
                <a:alpha val="28000"/>
              </a:srgbClr>
            </a:outerShdw>
          </a:effectLst>
        </p:spPr>
      </p:sp>
      <p:sp>
        <p:nvSpPr>
          <p:cNvPr id="15" name="Text 13"/>
          <p:cNvSpPr/>
          <p:nvPr/>
        </p:nvSpPr>
        <p:spPr>
          <a:xfrm>
            <a:off x="1543050" y="7688461"/>
            <a:ext cx="15657957" cy="752475"/>
          </a:xfrm>
          <a:prstGeom prst="rect">
            <a:avLst/>
          </a:prstGeom>
          <a:noFill/>
          <a:ln/>
        </p:spPr>
        <p:txBody>
          <a:bodyPr wrap="square" lIns="25400" tIns="25400" rIns="25400" bIns="25400" rtlCol="0" anchor="t">
            <a:normAutofit/>
          </a:bodyPr>
          <a:lstStyle/>
          <a:p>
            <a:pPr algn="l" indent="0" marL="0">
              <a:lnSpc>
                <a:spcPct val="93750"/>
              </a:lnSpc>
              <a:buNone/>
            </a:pPr>
            <a:r>
              <a:rPr lang="en-US" sz="1875" b="1" dirty="0">
                <a:solidFill>
                  <a:srgbClr val="FFFFFF"/>
                </a:solidFill>
                <a:latin typeface="Khula" pitchFamily="34" charset="0"/>
                <a:ea typeface="Khula" pitchFamily="34" charset="-122"/>
                <a:cs typeface="Khula" pitchFamily="34" charset="-120"/>
              </a:rPr>
              <a:t>Remember from Session 1: the harness controls invocation, not the model. Enabling model invocation means telling the harness: "you may trigger this skill when the context matches these conditions."</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1719858"/>
            <a:ext cx="3265289" cy="533400"/>
          </a:xfrm>
          <a:prstGeom prst="roundRect">
            <a:avLst>
              <a:gd name="adj" fmla="val 50000"/>
            </a:avLst>
          </a:prstGeom>
          <a:solidFill>
            <a:srgbClr val="005596"/>
          </a:solidFill>
          <a:ln/>
        </p:spPr>
      </p:sp>
      <p:sp>
        <p:nvSpPr>
          <p:cNvPr id="3" name="Text 1"/>
          <p:cNvSpPr/>
          <p:nvPr/>
        </p:nvSpPr>
        <p:spPr>
          <a:xfrm>
            <a:off x="1485900" y="1815108"/>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2443758"/>
            <a:ext cx="17392650" cy="540990"/>
          </a:xfrm>
          <a:prstGeom prst="rect">
            <a:avLst/>
          </a:prstGeom>
          <a:noFill/>
          <a:ln/>
        </p:spPr>
        <p:txBody>
          <a:bodyPr wrap="square" lIns="25400" tIns="25400" rIns="25400" bIns="25400" rtlCol="0" anchor="t">
            <a:normAutofit/>
          </a:bodyPr>
          <a:lstStyle/>
          <a:p>
            <a:pPr algn="l" indent="0" marL="0">
              <a:lnSpc>
                <a:spcPct val="81231"/>
              </a:lnSpc>
              <a:buNone/>
            </a:pPr>
            <a:r>
              <a:rPr lang="en-US" sz="3300" b="1" spc="-66" kern="0" dirty="0">
                <a:solidFill>
                  <a:srgbClr val="005596"/>
                </a:solidFill>
                <a:latin typeface="Poppins" pitchFamily="34" charset="0"/>
                <a:ea typeface="Poppins" pitchFamily="34" charset="-122"/>
                <a:cs typeface="Poppins" pitchFamily="34" charset="-120"/>
              </a:rPr>
              <a:t>Adversarial Agents: AI Challenges AI</a:t>
            </a:r>
            <a:endParaRPr lang="en-US" sz="3300" dirty="0"/>
          </a:p>
        </p:txBody>
      </p:sp>
      <p:sp>
        <p:nvSpPr>
          <p:cNvPr id="5" name="Text 3"/>
          <p:cNvSpPr/>
          <p:nvPr/>
        </p:nvSpPr>
        <p:spPr>
          <a:xfrm>
            <a:off x="1238250" y="3137148"/>
            <a:ext cx="16285845" cy="607516"/>
          </a:xfrm>
          <a:prstGeom prst="rect">
            <a:avLst/>
          </a:prstGeom>
          <a:noFill/>
          <a:ln/>
        </p:spPr>
        <p:txBody>
          <a:bodyPr wrap="square" lIns="25400" tIns="25400" rIns="25400" bIns="25400" rtlCol="0" anchor="t">
            <a:normAutofit/>
          </a:bodyPr>
          <a:lstStyle/>
          <a:p>
            <a:pPr algn="l" indent="0" marL="0">
              <a:lnSpc>
                <a:spcPct val="80811"/>
              </a:lnSpc>
              <a:buNone/>
            </a:pPr>
            <a:r>
              <a:rPr lang="en-US" sz="1725" dirty="0">
                <a:solidFill>
                  <a:srgbClr val="0E1A26"/>
                </a:solidFill>
                <a:latin typeface="Khula" pitchFamily="34" charset="0"/>
                <a:ea typeface="Khula" pitchFamily="34" charset="-122"/>
                <a:cs typeface="Khula" pitchFamily="34" charset="-120"/>
              </a:rPr>
              <a:t>An adversarial agent is a prompt that receives the output of another skill and attempts to find problems with it — missing requirements, logical errors, edge cases the primary skill missed, quality gaps the evaluator didn't catch.</a:t>
            </a:r>
            <a:endParaRPr lang="en-US" sz="1725" dirty="0"/>
          </a:p>
        </p:txBody>
      </p:sp>
      <p:sp>
        <p:nvSpPr>
          <p:cNvPr id="6" name="Shape 4"/>
          <p:cNvSpPr/>
          <p:nvPr/>
        </p:nvSpPr>
        <p:spPr>
          <a:xfrm>
            <a:off x="1238250" y="3897064"/>
            <a:ext cx="15811500" cy="912316"/>
          </a:xfrm>
          <a:prstGeom prst="roundRect">
            <a:avLst>
              <a:gd name="adj" fmla="val 10440"/>
            </a:avLst>
          </a:prstGeom>
          <a:solidFill>
            <a:srgbClr val="E9F1FA"/>
          </a:solidFill>
          <a:ln w="19050">
            <a:solidFill>
              <a:srgbClr val="005596"/>
            </a:solidFill>
            <a:prstDash val="solid"/>
          </a:ln>
        </p:spPr>
      </p:sp>
      <p:sp>
        <p:nvSpPr>
          <p:cNvPr id="7" name="Text 5"/>
          <p:cNvSpPr/>
          <p:nvPr/>
        </p:nvSpPr>
        <p:spPr>
          <a:xfrm>
            <a:off x="1504950" y="4068514"/>
            <a:ext cx="15736443" cy="607516"/>
          </a:xfrm>
          <a:prstGeom prst="rect">
            <a:avLst/>
          </a:prstGeom>
          <a:noFill/>
          <a:ln/>
        </p:spPr>
        <p:txBody>
          <a:bodyPr wrap="square" lIns="25400" tIns="25400" rIns="25400" bIns="25400" rtlCol="0" anchor="t">
            <a:normAutofit/>
          </a:bodyPr>
          <a:lstStyle/>
          <a:p>
            <a:pPr algn="l" indent="0" marL="0">
              <a:lnSpc>
                <a:spcPct val="80811"/>
              </a:lnSpc>
              <a:buNone/>
            </a:pPr>
            <a:r>
              <a:rPr lang="en-US" sz="1725" b="1" dirty="0">
                <a:solidFill>
                  <a:srgbClr val="0E1A26"/>
                </a:solidFill>
                <a:latin typeface="Khula" pitchFamily="34" charset="0"/>
                <a:ea typeface="Khula" pitchFamily="34" charset="-122"/>
                <a:cs typeface="Khula" pitchFamily="34" charset="-120"/>
              </a:rPr>
              <a:t>The two-prompt problem: </a:t>
            </a:r>
            <a:pPr algn="l" indent="0" marL="0">
              <a:lnSpc>
                <a:spcPct val="80811"/>
              </a:lnSpc>
              <a:buNone/>
            </a:pPr>
            <a:r>
              <a:rPr lang="en-US" sz="1725" dirty="0">
                <a:solidFill>
                  <a:srgbClr val="0E1A26"/>
                </a:solidFill>
                <a:latin typeface="Khula" pitchFamily="34" charset="0"/>
                <a:ea typeface="Khula" pitchFamily="34" charset="-122"/>
                <a:cs typeface="Khula" pitchFamily="34" charset="-120"/>
              </a:rPr>
              <a:t>now you have TWO prompts to vet — the worker prompt (your skill) and the evaluator prompt (the adversarial agent). Does it find real issues, or hallucinate problems? Does it miss issues it should catch? Vet the vetted.</a:t>
            </a:r>
            <a:endParaRPr lang="en-US" sz="1725" dirty="0"/>
          </a:p>
        </p:txBody>
      </p:sp>
      <p:sp>
        <p:nvSpPr>
          <p:cNvPr id="8" name="Text 6"/>
          <p:cNvSpPr/>
          <p:nvPr/>
        </p:nvSpPr>
        <p:spPr>
          <a:xfrm>
            <a:off x="1176338" y="4999881"/>
            <a:ext cx="15949612" cy="2281238"/>
          </a:xfrm>
          <a:prstGeom prst="rect">
            <a:avLst/>
          </a:prstGeom>
          <a:noFill/>
          <a:ln/>
        </p:spPr>
        <p:txBody>
          <a:bodyPr wrap="square" lIns="25400" tIns="25400" rIns="25400" bIns="25400" rtlCol="0" anchor="t">
            <a:normAutofit/>
          </a:bodyPr>
          <a:lstStyle/>
          <a:p>
            <a:pPr algn="l" marL="328613" indent="-328613">
              <a:lnSpc>
                <a:spcPct val="79568"/>
              </a:lnSpc>
              <a:buSzPct val="100000"/>
              <a:buFont typeface="+mj-lt"/>
              <a:buAutoNum type="arabicPeriod" startAt="1"/>
              <a:tabLst>
                <a:tab pos="328613" algn="l"/>
              </a:tabLst>
            </a:pPr>
            <a:r>
              <a:rPr lang="en-US" sz="1725" dirty="0">
                <a:solidFill>
                  <a:srgbClr val="0E1A26"/>
                </a:solidFill>
                <a:latin typeface="Khula" pitchFamily="34" charset="0"/>
                <a:ea typeface="Khula" pitchFamily="34" charset="-122"/>
                <a:cs typeface="Khula" pitchFamily="34" charset="-120"/>
              </a:rPr>
              <a:t>Take the output of a primary skill (e.g., AC generation, Plan, Code, Review)</a:t>
            </a:r>
            <a:endParaRPr lang="en-US" sz="1725" dirty="0"/>
          </a:p>
          <a:p>
            <a:pPr algn="l" marL="328613" indent="-328613">
              <a:lnSpc>
                <a:spcPct val="79568"/>
              </a:lnSpc>
              <a:buSzPct val="100000"/>
              <a:buFont typeface="+mj-lt"/>
              <a:buAutoNum type="arabicPeriod" startAt="2"/>
              <a:tabLst>
                <a:tab pos="328613" algn="l"/>
              </a:tabLst>
            </a:pPr>
            <a:r>
              <a:rPr lang="en-US" sz="1725" dirty="0">
                <a:solidFill>
                  <a:srgbClr val="0E1A26"/>
                </a:solidFill>
                <a:latin typeface="Khula" pitchFamily="34" charset="0"/>
                <a:ea typeface="Khula" pitchFamily="34" charset="-122"/>
                <a:cs typeface="Khula" pitchFamily="34" charset="-120"/>
              </a:rPr>
              <a:t>Give it to a model with an adversarial prompt: "You are a senior product manager reviewing these stories and their AC. Find as many problems as you can: missing requirements, ambiguous AC, edge cases not covered, AC that can't be tested, dependencies not identified. For each problem, explain why it's a problem and what should be done about it."</a:t>
            </a:r>
            <a:endParaRPr lang="en-US" sz="1725" dirty="0"/>
          </a:p>
          <a:p>
            <a:pPr algn="l" marL="328613" indent="-328613">
              <a:lnSpc>
                <a:spcPct val="79568"/>
              </a:lnSpc>
              <a:buSzPct val="100000"/>
              <a:buFont typeface="+mj-lt"/>
              <a:buAutoNum type="arabicPeriod" startAt="3"/>
              <a:tabLst>
                <a:tab pos="328613" algn="l"/>
              </a:tabLst>
            </a:pPr>
            <a:r>
              <a:rPr lang="en-US" sz="1725" dirty="0">
                <a:solidFill>
                  <a:srgbClr val="0E1A26"/>
                </a:solidFill>
                <a:latin typeface="Khula" pitchFamily="34" charset="0"/>
                <a:ea typeface="Khula" pitchFamily="34" charset="-122"/>
                <a:cs typeface="Khula" pitchFamily="34" charset="-120"/>
              </a:rPr>
              <a:t>The adversarial agent returns: issues found, severity, and specific recommendations</a:t>
            </a:r>
            <a:endParaRPr lang="en-US" sz="1725" dirty="0"/>
          </a:p>
          <a:p>
            <a:pPr algn="l" marL="328613" indent="-328613">
              <a:lnSpc>
                <a:spcPct val="79568"/>
              </a:lnSpc>
              <a:buSzPct val="100000"/>
              <a:buFont typeface="+mj-lt"/>
              <a:buAutoNum type="arabicPeriod" startAt="4"/>
              <a:tabLst>
                <a:tab pos="328613" algn="l"/>
              </a:tabLst>
            </a:pPr>
            <a:r>
              <a:rPr lang="en-US" sz="1725" dirty="0">
                <a:solidFill>
                  <a:srgbClr val="0E1A26"/>
                </a:solidFill>
                <a:latin typeface="Khula" pitchFamily="34" charset="0"/>
                <a:ea typeface="Khula" pitchFamily="34" charset="-122"/>
                <a:cs typeface="Khula" pitchFamily="34" charset="-120"/>
              </a:rPr>
              <a:t>The participant reviews the findings and decides what to fix</a:t>
            </a:r>
            <a:endParaRPr lang="en-US" sz="1725" dirty="0"/>
          </a:p>
          <a:p>
            <a:pPr algn="l" marL="328613" indent="-328613">
              <a:lnSpc>
                <a:spcPct val="79568"/>
              </a:lnSpc>
              <a:buSzPct val="100000"/>
              <a:buFont typeface="+mj-lt"/>
              <a:buAutoNum type="arabicPeriod" startAt="5"/>
              <a:tabLst>
                <a:tab pos="328613" algn="l"/>
              </a:tabLst>
            </a:pPr>
            <a:r>
              <a:rPr lang="en-US" sz="1725" dirty="0">
                <a:solidFill>
                  <a:srgbClr val="0E1A26"/>
                </a:solidFill>
                <a:latin typeface="Khula" pitchFamily="34" charset="0"/>
                <a:ea typeface="Khula" pitchFamily="34" charset="-122"/>
                <a:cs typeface="Khula" pitchFamily="34" charset="-120"/>
              </a:rPr>
              <a:t>Calibrated severity and actionable findings: every issue should have a severity level (blocker, major, minor, nit) and a specific, actionable recommendation — not "this is weak" but "AC #3 is untestable because X; rewrite as Y"</a:t>
            </a:r>
            <a:endParaRPr lang="en-US" sz="1725" dirty="0"/>
          </a:p>
        </p:txBody>
      </p:sp>
      <p:sp>
        <p:nvSpPr>
          <p:cNvPr id="9" name="Text 7"/>
          <p:cNvSpPr/>
          <p:nvPr/>
        </p:nvSpPr>
        <p:spPr>
          <a:xfrm>
            <a:off x="1238250" y="7433518"/>
            <a:ext cx="17392650" cy="352425"/>
          </a:xfrm>
          <a:prstGeom prst="rect">
            <a:avLst/>
          </a:prstGeom>
          <a:noFill/>
          <a:ln/>
        </p:spPr>
        <p:txBody>
          <a:bodyPr wrap="square" lIns="25400" tIns="25400" rIns="25400" bIns="25400" rtlCol="0" anchor="t">
            <a:normAutofit/>
          </a:bodyPr>
          <a:lstStyle/>
          <a:p>
            <a:pPr algn="l" indent="0" marL="0">
              <a:lnSpc>
                <a:spcPct val="94286"/>
              </a:lnSpc>
              <a:buNone/>
            </a:pPr>
            <a:r>
              <a:rPr lang="en-US" sz="1650" dirty="0">
                <a:solidFill>
                  <a:srgbClr val="A7A8A9"/>
                </a:solidFill>
                <a:latin typeface="Khula" pitchFamily="34" charset="0"/>
                <a:ea typeface="Khula" pitchFamily="34" charset="-122"/>
                <a:cs typeface="Khula" pitchFamily="34" charset="-120"/>
              </a:rPr>
              <a:t>Adversarial agents are AI-native — they're prompts, not code. Every participant can write one, regardless of role or coding ability.</a:t>
            </a:r>
            <a:endParaRPr lang="en-US" sz="1650" dirty="0"/>
          </a:p>
        </p:txBody>
      </p:sp>
      <p:sp>
        <p:nvSpPr>
          <p:cNvPr id="10" name="Text 8"/>
          <p:cNvSpPr/>
          <p:nvPr/>
        </p:nvSpPr>
        <p:spPr>
          <a:xfrm>
            <a:off x="1238250" y="7938343"/>
            <a:ext cx="16285845" cy="666750"/>
          </a:xfrm>
          <a:prstGeom prst="rect">
            <a:avLst/>
          </a:prstGeom>
          <a:noFill/>
          <a:ln/>
        </p:spPr>
        <p:txBody>
          <a:bodyPr wrap="square" lIns="25400" tIns="25400" rIns="25400" bIns="25400" rtlCol="0" anchor="t">
            <a:normAutofit/>
          </a:bodyPr>
          <a:lstStyle/>
          <a:p>
            <a:pPr algn="l" indent="0" marL="0">
              <a:lnSpc>
                <a:spcPct val="94286"/>
              </a:lnSpc>
              <a:buNone/>
            </a:pPr>
            <a:r>
              <a:rPr lang="en-US" sz="1650" b="1" dirty="0">
                <a:solidFill>
                  <a:srgbClr val="A7A8A9"/>
                </a:solidFill>
                <a:latin typeface="Khula" pitchFamily="34" charset="0"/>
                <a:ea typeface="Khula" pitchFamily="34" charset="-122"/>
                <a:cs typeface="Khula" pitchFamily="34" charset="-120"/>
              </a:rPr>
              <a:t>Note: </a:t>
            </a:r>
            <a:pPr algn="l" indent="0" marL="0">
              <a:lnSpc>
                <a:spcPct val="94286"/>
              </a:lnSpc>
              <a:buNone/>
            </a:pPr>
            <a:r>
              <a:rPr lang="en-US" sz="1650" dirty="0">
                <a:solidFill>
                  <a:srgbClr val="A7A8A9"/>
                </a:solidFill>
                <a:latin typeface="Khula" pitchFamily="34" charset="0"/>
                <a:ea typeface="Khula" pitchFamily="34" charset="-122"/>
                <a:cs typeface="Khula" pitchFamily="34" charset="-120"/>
              </a:rPr>
              <a:t>adversarial agents are one form of verification — not the only form. Deterministic checks from Session 4 handle structural validation; beyond DLP, teams may add deterministic hooks or sentinel files.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345680"/>
            <a:ext cx="3265289" cy="533400"/>
          </a:xfrm>
          <a:prstGeom prst="roundRect">
            <a:avLst>
              <a:gd name="adj" fmla="val 50000"/>
            </a:avLst>
          </a:prstGeom>
          <a:solidFill>
            <a:srgbClr val="005596"/>
          </a:solidFill>
          <a:ln/>
        </p:spPr>
      </p:sp>
      <p:sp>
        <p:nvSpPr>
          <p:cNvPr id="3" name="Text 1"/>
          <p:cNvSpPr/>
          <p:nvPr/>
        </p:nvSpPr>
        <p:spPr>
          <a:xfrm>
            <a:off x="1485900" y="2440930"/>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126730"/>
            <a:ext cx="17392650" cy="538163"/>
          </a:xfrm>
          <a:prstGeom prst="rect">
            <a:avLst/>
          </a:prstGeom>
          <a:noFill/>
          <a:ln/>
        </p:spPr>
        <p:txBody>
          <a:bodyPr wrap="square" lIns="25400" tIns="25400" rIns="25400" bIns="25400" rtlCol="0" anchor="t">
            <a:normAutofit/>
          </a:bodyPr>
          <a:lstStyle/>
          <a:p>
            <a:pPr algn="l" indent="0" marL="0">
              <a:lnSpc>
                <a:spcPct val="83333"/>
              </a:lnSpc>
              <a:buNone/>
            </a:pPr>
            <a:r>
              <a:rPr lang="en-US" sz="3150" b="1" spc="-63" kern="0" dirty="0">
                <a:solidFill>
                  <a:srgbClr val="005596"/>
                </a:solidFill>
                <a:latin typeface="Poppins" pitchFamily="34" charset="0"/>
                <a:ea typeface="Poppins" pitchFamily="34" charset="-122"/>
                <a:cs typeface="Poppins" pitchFamily="34" charset="-120"/>
              </a:rPr>
              <a:t>How Adversarial Agents Relate to Prompt / Harness / Model</a:t>
            </a:r>
            <a:endParaRPr lang="en-US" sz="3150" dirty="0"/>
          </a:p>
        </p:txBody>
      </p:sp>
      <p:sp>
        <p:nvSpPr>
          <p:cNvPr id="5" name="Text 3"/>
          <p:cNvSpPr/>
          <p:nvPr/>
        </p:nvSpPr>
        <p:spPr>
          <a:xfrm>
            <a:off x="1238250" y="3874443"/>
            <a:ext cx="16285845" cy="655141"/>
          </a:xfrm>
          <a:prstGeom prst="rect">
            <a:avLst/>
          </a:prstGeom>
          <a:noFill/>
          <a:ln/>
        </p:spPr>
        <p:txBody>
          <a:bodyPr wrap="square" lIns="25400" tIns="25400" rIns="25400" bIns="25400" rtlCol="0" anchor="t">
            <a:normAutofit/>
          </a:bodyPr>
          <a:lstStyle/>
          <a:p>
            <a:pPr algn="l" indent="0" marL="0">
              <a:lnSpc>
                <a:spcPct val="83077"/>
              </a:lnSpc>
              <a:buNone/>
            </a:pPr>
            <a:r>
              <a:rPr lang="en-US" sz="1800" dirty="0">
                <a:solidFill>
                  <a:srgbClr val="0E1A26"/>
                </a:solidFill>
                <a:latin typeface="Khula" pitchFamily="34" charset="0"/>
                <a:ea typeface="Khula" pitchFamily="34" charset="-122"/>
                <a:cs typeface="Khula" pitchFamily="34" charset="-120"/>
              </a:rPr>
              <a:t>From Session 1: the harness mediates between you and the model. The model can only do what the harness allows. An adversarial agent is a prompt running through a harness that has access to the output of another skill — the harness makes the connection, the model provides the judgment.</a:t>
            </a:r>
            <a:endParaRPr lang="en-US" sz="1800" dirty="0"/>
          </a:p>
        </p:txBody>
      </p:sp>
      <p:sp>
        <p:nvSpPr>
          <p:cNvPr id="6" name="Shape 4"/>
          <p:cNvSpPr/>
          <p:nvPr/>
        </p:nvSpPr>
        <p:spPr>
          <a:xfrm>
            <a:off x="1238250" y="4739134"/>
            <a:ext cx="7772400" cy="1859012"/>
          </a:xfrm>
          <a:prstGeom prst="roundRect">
            <a:avLst>
              <a:gd name="adj" fmla="val 8198"/>
            </a:avLst>
          </a:prstGeom>
          <a:solidFill>
            <a:srgbClr val="F4F7FA"/>
          </a:solidFill>
          <a:ln/>
        </p:spPr>
      </p:sp>
      <p:sp>
        <p:nvSpPr>
          <p:cNvPr id="7" name="Text 5"/>
          <p:cNvSpPr/>
          <p:nvPr/>
        </p:nvSpPr>
        <p:spPr>
          <a:xfrm>
            <a:off x="1504950" y="4948684"/>
            <a:ext cx="79629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A7A8A9"/>
                </a:solidFill>
                <a:latin typeface="Poppins" pitchFamily="34" charset="0"/>
                <a:ea typeface="Poppins" pitchFamily="34" charset="-122"/>
                <a:cs typeface="Poppins" pitchFamily="34" charset="-120"/>
              </a:rPr>
              <a:t>IN YOUR IDE</a:t>
            </a:r>
            <a:endParaRPr lang="en-US" sz="1800" dirty="0"/>
          </a:p>
        </p:txBody>
      </p:sp>
      <p:sp>
        <p:nvSpPr>
          <p:cNvPr id="8" name="Text 6"/>
          <p:cNvSpPr/>
          <p:nvPr/>
        </p:nvSpPr>
        <p:spPr>
          <a:xfrm>
            <a:off x="1504950" y="5386834"/>
            <a:ext cx="7456170" cy="1039862"/>
          </a:xfrm>
          <a:prstGeom prst="rect">
            <a:avLst/>
          </a:prstGeom>
          <a:noFill/>
          <a:ln/>
        </p:spPr>
        <p:txBody>
          <a:bodyPr wrap="square" lIns="25400" tIns="25400" rIns="25400" bIns="25400" rtlCol="0" anchor="t">
            <a:normAutofit/>
          </a:bodyPr>
          <a:lstStyle/>
          <a:p>
            <a:pPr algn="l" indent="0" marL="0">
              <a:lnSpc>
                <a:spcPct val="83077"/>
              </a:lnSpc>
              <a:buNone/>
            </a:pPr>
            <a:r>
              <a:rPr lang="en-US" sz="1800" dirty="0">
                <a:solidFill>
                  <a:srgbClr val="0E1A26"/>
                </a:solidFill>
                <a:latin typeface="Khula" pitchFamily="34" charset="0"/>
                <a:ea typeface="Khula" pitchFamily="34" charset="-122"/>
                <a:cs typeface="Khula" pitchFamily="34" charset="-120"/>
              </a:rPr>
              <a:t>The adversarial agent can be a skill with </a:t>
            </a:r>
            <a:pPr algn="l" indent="0" marL="0">
              <a:lnSpc>
                <a:spcPct val="83077"/>
              </a:lnSpc>
              <a:buNone/>
            </a:pPr>
            <a:r>
              <a:rPr lang="en-US" sz="1800" dirty="0">
                <a:solidFill>
                  <a:srgbClr val="0E1A26"/>
                </a:solidFill>
                <a:latin typeface="Courier New" pitchFamily="34" charset="0"/>
                <a:ea typeface="Courier New" pitchFamily="34" charset="-122"/>
                <a:cs typeface="Courier New" pitchFamily="34" charset="-120"/>
              </a:rPr>
              <a:t>disable-model-invocation: true </a:t>
            </a:r>
            <a:pPr algn="l" indent="0" marL="0">
              <a:lnSpc>
                <a:spcPct val="83077"/>
              </a:lnSpc>
              <a:buNone/>
            </a:pPr>
            <a:r>
              <a:rPr lang="en-US" sz="1800" dirty="0">
                <a:solidFill>
                  <a:srgbClr val="0E1A26"/>
                </a:solidFill>
                <a:latin typeface="Khula" pitchFamily="34" charset="0"/>
                <a:ea typeface="Khula" pitchFamily="34" charset="-122"/>
                <a:cs typeface="Khula" pitchFamily="34" charset="-120"/>
              </a:rPr>
              <a:t>that you invoke after running the primary skill. The harness passes the primary output as context.</a:t>
            </a:r>
            <a:endParaRPr lang="en-US" sz="1800" dirty="0"/>
          </a:p>
        </p:txBody>
      </p:sp>
      <p:sp>
        <p:nvSpPr>
          <p:cNvPr id="9" name="Shape 7"/>
          <p:cNvSpPr/>
          <p:nvPr/>
        </p:nvSpPr>
        <p:spPr>
          <a:xfrm>
            <a:off x="9277350" y="4739134"/>
            <a:ext cx="7772400" cy="1859012"/>
          </a:xfrm>
          <a:prstGeom prst="roundRect">
            <a:avLst>
              <a:gd name="adj" fmla="val 8198"/>
            </a:avLst>
          </a:prstGeom>
          <a:solidFill>
            <a:srgbClr val="F4F7FA"/>
          </a:solidFill>
          <a:ln/>
        </p:spPr>
      </p:sp>
      <p:sp>
        <p:nvSpPr>
          <p:cNvPr id="10" name="Text 8"/>
          <p:cNvSpPr/>
          <p:nvPr/>
        </p:nvSpPr>
        <p:spPr>
          <a:xfrm>
            <a:off x="9544050" y="4948684"/>
            <a:ext cx="79629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A7A8A9"/>
                </a:solidFill>
                <a:latin typeface="Poppins" pitchFamily="34" charset="0"/>
                <a:ea typeface="Poppins" pitchFamily="34" charset="-122"/>
                <a:cs typeface="Poppins" pitchFamily="34" charset="-120"/>
              </a:rPr>
              <a:t>IN A CUSTOM HARNESS (SESSION 6)</a:t>
            </a:r>
            <a:endParaRPr lang="en-US" sz="1800" dirty="0"/>
          </a:p>
        </p:txBody>
      </p:sp>
      <p:sp>
        <p:nvSpPr>
          <p:cNvPr id="11" name="Text 9"/>
          <p:cNvSpPr/>
          <p:nvPr/>
        </p:nvSpPr>
        <p:spPr>
          <a:xfrm>
            <a:off x="9544050" y="5386834"/>
            <a:ext cx="7456170" cy="655141"/>
          </a:xfrm>
          <a:prstGeom prst="rect">
            <a:avLst/>
          </a:prstGeom>
          <a:noFill/>
          <a:ln/>
        </p:spPr>
        <p:txBody>
          <a:bodyPr wrap="square" lIns="25400" tIns="25400" rIns="25400" bIns="25400" rtlCol="0" anchor="t">
            <a:normAutofit/>
          </a:bodyPr>
          <a:lstStyle/>
          <a:p>
            <a:pPr algn="l" indent="0" marL="0">
              <a:lnSpc>
                <a:spcPct val="83077"/>
              </a:lnSpc>
              <a:buNone/>
            </a:pPr>
            <a:r>
              <a:rPr lang="en-US" sz="1800" dirty="0">
                <a:solidFill>
                  <a:srgbClr val="0E1A26"/>
                </a:solidFill>
                <a:latin typeface="Khula" pitchFamily="34" charset="0"/>
                <a:ea typeface="Khula" pitchFamily="34" charset="-122"/>
                <a:cs typeface="Khula" pitchFamily="34" charset="-120"/>
              </a:rPr>
              <a:t>The adversarial agent runs automatically after each step, with the harness orchestrating the handoff.</a:t>
            </a:r>
            <a:endParaRPr lang="en-US" sz="1800" dirty="0"/>
          </a:p>
        </p:txBody>
      </p:sp>
      <p:sp>
        <p:nvSpPr>
          <p:cNvPr id="12" name="Shape 10"/>
          <p:cNvSpPr/>
          <p:nvPr/>
        </p:nvSpPr>
        <p:spPr>
          <a:xfrm>
            <a:off x="1238250" y="6845796"/>
            <a:ext cx="15811500" cy="1095375"/>
          </a:xfrm>
          <a:prstGeom prst="roundRect">
            <a:avLst>
              <a:gd name="adj" fmla="val 13913"/>
            </a:avLst>
          </a:prstGeom>
          <a:solidFill>
            <a:srgbClr val="005596"/>
          </a:solidFill>
          <a:ln/>
          <a:effectLst>
            <a:outerShdw sx="100000" sy="100000" kx="0" ky="0" algn="bl" rotWithShape="0" blurRad="266700" dist="114300" dir="5400000">
              <a:srgbClr val="005596">
                <a:alpha val="28000"/>
              </a:srgbClr>
            </a:outerShdw>
          </a:effectLst>
        </p:spPr>
      </p:sp>
      <p:sp>
        <p:nvSpPr>
          <p:cNvPr id="13" name="Text 11"/>
          <p:cNvSpPr/>
          <p:nvPr/>
        </p:nvSpPr>
        <p:spPr>
          <a:xfrm>
            <a:off x="1543050" y="7036296"/>
            <a:ext cx="15657957" cy="752475"/>
          </a:xfrm>
          <a:prstGeom prst="rect">
            <a:avLst/>
          </a:prstGeom>
          <a:noFill/>
          <a:ln/>
        </p:spPr>
        <p:txBody>
          <a:bodyPr wrap="square" lIns="25400" tIns="25400" rIns="25400" bIns="25400" rtlCol="0" anchor="t">
            <a:normAutofit/>
          </a:bodyPr>
          <a:lstStyle/>
          <a:p>
            <a:pPr algn="l" indent="0" marL="0">
              <a:lnSpc>
                <a:spcPct val="93750"/>
              </a:lnSpc>
              <a:buNone/>
            </a:pPr>
            <a:r>
              <a:rPr lang="en-US" sz="1875" b="1" dirty="0">
                <a:solidFill>
                  <a:srgbClr val="FFFFFF"/>
                </a:solidFill>
                <a:latin typeface="Khula" pitchFamily="34" charset="0"/>
                <a:ea typeface="Khula" pitchFamily="34" charset="-122"/>
                <a:cs typeface="Khula" pitchFamily="34" charset="-120"/>
              </a:rPr>
              <a:t>This is why Prompt/Harness/Model matters — the adversarial agent is just a prompt, but it needs the harness to give it the primary skill's output.</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857250"/>
            <a:ext cx="4918025" cy="533400"/>
          </a:xfrm>
          <a:prstGeom prst="roundRect">
            <a:avLst>
              <a:gd name="adj" fmla="val 50000"/>
            </a:avLst>
          </a:prstGeom>
          <a:solidFill>
            <a:srgbClr val="9D1D96"/>
          </a:solidFill>
          <a:ln/>
        </p:spPr>
      </p:sp>
      <p:sp>
        <p:nvSpPr>
          <p:cNvPr id="3" name="Text 1"/>
          <p:cNvSpPr/>
          <p:nvPr/>
        </p:nvSpPr>
        <p:spPr>
          <a:xfrm>
            <a:off x="1485900" y="952500"/>
            <a:ext cx="4570266"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COMPARE/CONTRAST</a:t>
            </a:r>
            <a:endParaRPr lang="en-US" sz="1800" dirty="0"/>
          </a:p>
        </p:txBody>
      </p:sp>
      <p:sp>
        <p:nvSpPr>
          <p:cNvPr id="4" name="Text 2"/>
          <p:cNvSpPr/>
          <p:nvPr/>
        </p:nvSpPr>
        <p:spPr>
          <a:xfrm>
            <a:off x="1238250" y="1638300"/>
            <a:ext cx="17392650" cy="540990"/>
          </a:xfrm>
          <a:prstGeom prst="rect">
            <a:avLst/>
          </a:prstGeom>
          <a:noFill/>
          <a:ln/>
        </p:spPr>
        <p:txBody>
          <a:bodyPr wrap="square" lIns="25400" tIns="25400" rIns="25400" bIns="25400" rtlCol="0" anchor="t">
            <a:normAutofit/>
          </a:bodyPr>
          <a:lstStyle/>
          <a:p>
            <a:pPr algn="l" indent="0" marL="0">
              <a:lnSpc>
                <a:spcPct val="81231"/>
              </a:lnSpc>
              <a:buNone/>
            </a:pPr>
            <a:r>
              <a:rPr lang="en-US" sz="3300" b="1" spc="-66" kern="0" dirty="0">
                <a:solidFill>
                  <a:srgbClr val="005596"/>
                </a:solidFill>
                <a:latin typeface="Poppins" pitchFamily="34" charset="0"/>
                <a:ea typeface="Poppins" pitchFamily="34" charset="-122"/>
                <a:cs typeface="Poppins" pitchFamily="34" charset="-120"/>
              </a:rPr>
              <a:t>Python Evaluation vs. Adversarial Agents</a:t>
            </a:r>
            <a:endParaRPr lang="en-US" sz="3300" dirty="0"/>
          </a:p>
        </p:txBody>
      </p:sp>
      <p:sp>
        <p:nvSpPr>
          <p:cNvPr id="5" name="Text 3"/>
          <p:cNvSpPr/>
          <p:nvPr/>
        </p:nvSpPr>
        <p:spPr>
          <a:xfrm>
            <a:off x="1238250" y="2426940"/>
            <a:ext cx="78486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A7A8A9"/>
                </a:solidFill>
                <a:latin typeface="Poppins" pitchFamily="34" charset="0"/>
                <a:ea typeface="Poppins" pitchFamily="34" charset="-122"/>
                <a:cs typeface="Poppins" pitchFamily="34" charset="-120"/>
              </a:rPr>
              <a:t>PYTHON EVALUATION (S4)</a:t>
            </a:r>
            <a:endParaRPr lang="en-US" sz="1800" dirty="0"/>
          </a:p>
        </p:txBody>
      </p:sp>
      <p:sp>
        <p:nvSpPr>
          <p:cNvPr id="6" name="Text 4"/>
          <p:cNvSpPr/>
          <p:nvPr/>
        </p:nvSpPr>
        <p:spPr>
          <a:xfrm>
            <a:off x="9429750" y="2426940"/>
            <a:ext cx="78486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005596"/>
                </a:solidFill>
                <a:latin typeface="Poppins" pitchFamily="34" charset="0"/>
                <a:ea typeface="Poppins" pitchFamily="34" charset="-122"/>
                <a:cs typeface="Poppins" pitchFamily="34" charset="-120"/>
              </a:rPr>
              <a:t>ADVERSARIAL AGENTS (S5)</a:t>
            </a:r>
            <a:endParaRPr lang="en-US" sz="1800" dirty="0"/>
          </a:p>
        </p:txBody>
      </p:sp>
      <p:sp>
        <p:nvSpPr>
          <p:cNvPr id="7" name="Shape 5"/>
          <p:cNvSpPr/>
          <p:nvPr/>
        </p:nvSpPr>
        <p:spPr>
          <a:xfrm>
            <a:off x="1238250" y="3074640"/>
            <a:ext cx="7620000" cy="647700"/>
          </a:xfrm>
          <a:prstGeom prst="roundRect">
            <a:avLst>
              <a:gd name="adj" fmla="val 14706"/>
            </a:avLst>
          </a:prstGeom>
          <a:solidFill>
            <a:srgbClr val="F4F7FA"/>
          </a:solidFill>
          <a:ln/>
        </p:spPr>
      </p:sp>
      <p:sp>
        <p:nvSpPr>
          <p:cNvPr id="8" name="Text 6"/>
          <p:cNvSpPr/>
          <p:nvPr/>
        </p:nvSpPr>
        <p:spPr>
          <a:xfrm>
            <a:off x="1447800" y="3227040"/>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Measures against known EC</a:t>
            </a:r>
            <a:endParaRPr lang="en-US" sz="1800" dirty="0"/>
          </a:p>
        </p:txBody>
      </p:sp>
      <p:sp>
        <p:nvSpPr>
          <p:cNvPr id="9" name="Text 7"/>
          <p:cNvSpPr/>
          <p:nvPr/>
        </p:nvSpPr>
        <p:spPr>
          <a:xfrm>
            <a:off x="8820150" y="3227040"/>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10" name="Shape 8"/>
          <p:cNvSpPr/>
          <p:nvPr/>
        </p:nvSpPr>
        <p:spPr>
          <a:xfrm>
            <a:off x="9429750" y="3074640"/>
            <a:ext cx="7620000" cy="647700"/>
          </a:xfrm>
          <a:prstGeom prst="roundRect">
            <a:avLst>
              <a:gd name="adj" fmla="val 14706"/>
            </a:avLst>
          </a:prstGeom>
          <a:solidFill>
            <a:srgbClr val="E9F1FA"/>
          </a:solidFill>
          <a:ln/>
        </p:spPr>
      </p:sp>
      <p:sp>
        <p:nvSpPr>
          <p:cNvPr id="11" name="Text 9"/>
          <p:cNvSpPr/>
          <p:nvPr/>
        </p:nvSpPr>
        <p:spPr>
          <a:xfrm>
            <a:off x="9639300" y="3227040"/>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Finds problems the EC didn't anticipate</a:t>
            </a:r>
            <a:endParaRPr lang="en-US" sz="1800" dirty="0"/>
          </a:p>
        </p:txBody>
      </p:sp>
      <p:sp>
        <p:nvSpPr>
          <p:cNvPr id="12" name="Shape 10"/>
          <p:cNvSpPr/>
          <p:nvPr/>
        </p:nvSpPr>
        <p:spPr>
          <a:xfrm>
            <a:off x="1238250" y="3817590"/>
            <a:ext cx="7620000" cy="647700"/>
          </a:xfrm>
          <a:prstGeom prst="roundRect">
            <a:avLst>
              <a:gd name="adj" fmla="val 14706"/>
            </a:avLst>
          </a:prstGeom>
          <a:solidFill>
            <a:srgbClr val="F4F7FA"/>
          </a:solidFill>
          <a:ln/>
        </p:spPr>
      </p:sp>
      <p:sp>
        <p:nvSpPr>
          <p:cNvPr id="13" name="Text 11"/>
          <p:cNvSpPr/>
          <p:nvPr/>
        </p:nvSpPr>
        <p:spPr>
          <a:xfrm>
            <a:off x="1447800" y="3969990"/>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Retrospective — runs after the fact</a:t>
            </a:r>
            <a:endParaRPr lang="en-US" sz="1800" dirty="0"/>
          </a:p>
        </p:txBody>
      </p:sp>
      <p:sp>
        <p:nvSpPr>
          <p:cNvPr id="14" name="Text 12"/>
          <p:cNvSpPr/>
          <p:nvPr/>
        </p:nvSpPr>
        <p:spPr>
          <a:xfrm>
            <a:off x="8820150" y="3969990"/>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15" name="Shape 13"/>
          <p:cNvSpPr/>
          <p:nvPr/>
        </p:nvSpPr>
        <p:spPr>
          <a:xfrm>
            <a:off x="9429750" y="3817590"/>
            <a:ext cx="7620000" cy="647700"/>
          </a:xfrm>
          <a:prstGeom prst="roundRect">
            <a:avLst>
              <a:gd name="adj" fmla="val 14706"/>
            </a:avLst>
          </a:prstGeom>
          <a:solidFill>
            <a:srgbClr val="E9F1FA"/>
          </a:solidFill>
          <a:ln/>
        </p:spPr>
      </p:sp>
      <p:sp>
        <p:nvSpPr>
          <p:cNvPr id="16" name="Text 14"/>
          <p:cNvSpPr/>
          <p:nvPr/>
        </p:nvSpPr>
        <p:spPr>
          <a:xfrm>
            <a:off x="9639300" y="3969990"/>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Proactive — challenges output before it's used</a:t>
            </a:r>
            <a:endParaRPr lang="en-US" sz="1800" dirty="0"/>
          </a:p>
        </p:txBody>
      </p:sp>
      <p:sp>
        <p:nvSpPr>
          <p:cNvPr id="17" name="Shape 15"/>
          <p:cNvSpPr/>
          <p:nvPr/>
        </p:nvSpPr>
        <p:spPr>
          <a:xfrm>
            <a:off x="1238250" y="4560540"/>
            <a:ext cx="7620000" cy="647700"/>
          </a:xfrm>
          <a:prstGeom prst="roundRect">
            <a:avLst>
              <a:gd name="adj" fmla="val 14706"/>
            </a:avLst>
          </a:prstGeom>
          <a:solidFill>
            <a:srgbClr val="F4F7FA"/>
          </a:solidFill>
          <a:ln/>
        </p:spPr>
      </p:sp>
      <p:sp>
        <p:nvSpPr>
          <p:cNvPr id="18" name="Text 16"/>
          <p:cNvSpPr/>
          <p:nvPr/>
        </p:nvSpPr>
        <p:spPr>
          <a:xfrm>
            <a:off x="1447800" y="4712940"/>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Deterministic + LLM judge</a:t>
            </a:r>
            <a:endParaRPr lang="en-US" sz="1800" dirty="0"/>
          </a:p>
        </p:txBody>
      </p:sp>
      <p:sp>
        <p:nvSpPr>
          <p:cNvPr id="19" name="Text 17"/>
          <p:cNvSpPr/>
          <p:nvPr/>
        </p:nvSpPr>
        <p:spPr>
          <a:xfrm>
            <a:off x="8820150" y="4712940"/>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20" name="Shape 18"/>
          <p:cNvSpPr/>
          <p:nvPr/>
        </p:nvSpPr>
        <p:spPr>
          <a:xfrm>
            <a:off x="9429750" y="4560540"/>
            <a:ext cx="7620000" cy="647700"/>
          </a:xfrm>
          <a:prstGeom prst="roundRect">
            <a:avLst>
              <a:gd name="adj" fmla="val 14706"/>
            </a:avLst>
          </a:prstGeom>
          <a:solidFill>
            <a:srgbClr val="E9F1FA"/>
          </a:solidFill>
          <a:ln/>
        </p:spPr>
      </p:sp>
      <p:sp>
        <p:nvSpPr>
          <p:cNvPr id="21" name="Text 19"/>
          <p:cNvSpPr/>
          <p:nvPr/>
        </p:nvSpPr>
        <p:spPr>
          <a:xfrm>
            <a:off x="9639300" y="4712940"/>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Fully AI-based</a:t>
            </a:r>
            <a:endParaRPr lang="en-US" sz="1800" dirty="0"/>
          </a:p>
        </p:txBody>
      </p:sp>
      <p:sp>
        <p:nvSpPr>
          <p:cNvPr id="22" name="Shape 20"/>
          <p:cNvSpPr/>
          <p:nvPr/>
        </p:nvSpPr>
        <p:spPr>
          <a:xfrm>
            <a:off x="1238250" y="5303490"/>
            <a:ext cx="7620000" cy="647700"/>
          </a:xfrm>
          <a:prstGeom prst="roundRect">
            <a:avLst>
              <a:gd name="adj" fmla="val 14706"/>
            </a:avLst>
          </a:prstGeom>
          <a:solidFill>
            <a:srgbClr val="F4F7FA"/>
          </a:solidFill>
          <a:ln/>
        </p:spPr>
      </p:sp>
      <p:sp>
        <p:nvSpPr>
          <p:cNvPr id="23" name="Text 21"/>
          <p:cNvSpPr/>
          <p:nvPr/>
        </p:nvSpPr>
        <p:spPr>
          <a:xfrm>
            <a:off x="1447800" y="5455890"/>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Answers: "Does it meet the criteria?"</a:t>
            </a:r>
            <a:endParaRPr lang="en-US" sz="1800" dirty="0"/>
          </a:p>
        </p:txBody>
      </p:sp>
      <p:sp>
        <p:nvSpPr>
          <p:cNvPr id="24" name="Text 22"/>
          <p:cNvSpPr/>
          <p:nvPr/>
        </p:nvSpPr>
        <p:spPr>
          <a:xfrm>
            <a:off x="8820150" y="5455890"/>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25" name="Shape 23"/>
          <p:cNvSpPr/>
          <p:nvPr/>
        </p:nvSpPr>
        <p:spPr>
          <a:xfrm>
            <a:off x="9429750" y="5303490"/>
            <a:ext cx="7620000" cy="647700"/>
          </a:xfrm>
          <a:prstGeom prst="roundRect">
            <a:avLst>
              <a:gd name="adj" fmla="val 14706"/>
            </a:avLst>
          </a:prstGeom>
          <a:solidFill>
            <a:srgbClr val="E9F1FA"/>
          </a:solidFill>
          <a:ln/>
        </p:spPr>
      </p:sp>
      <p:sp>
        <p:nvSpPr>
          <p:cNvPr id="26" name="Text 24"/>
          <p:cNvSpPr/>
          <p:nvPr/>
        </p:nvSpPr>
        <p:spPr>
          <a:xfrm>
            <a:off x="9639300" y="5455890"/>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Answers: "What did the criteria miss?"</a:t>
            </a:r>
            <a:endParaRPr lang="en-US" sz="1800" dirty="0"/>
          </a:p>
        </p:txBody>
      </p:sp>
      <p:sp>
        <p:nvSpPr>
          <p:cNvPr id="27" name="Shape 25"/>
          <p:cNvSpPr/>
          <p:nvPr/>
        </p:nvSpPr>
        <p:spPr>
          <a:xfrm>
            <a:off x="1238250" y="6046440"/>
            <a:ext cx="7620000" cy="647700"/>
          </a:xfrm>
          <a:prstGeom prst="roundRect">
            <a:avLst>
              <a:gd name="adj" fmla="val 14706"/>
            </a:avLst>
          </a:prstGeom>
          <a:solidFill>
            <a:srgbClr val="F4F7FA"/>
          </a:solidFill>
          <a:ln/>
        </p:spPr>
      </p:sp>
      <p:sp>
        <p:nvSpPr>
          <p:cNvPr id="28" name="Text 26"/>
          <p:cNvSpPr/>
          <p:nvPr/>
        </p:nvSpPr>
        <p:spPr>
          <a:xfrm>
            <a:off x="1447800" y="6198840"/>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dirty="0">
                <a:solidFill>
                  <a:srgbClr val="0E1A26"/>
                </a:solidFill>
                <a:latin typeface="Khula" pitchFamily="34" charset="0"/>
                <a:ea typeface="Khula" pitchFamily="34" charset="-122"/>
                <a:cs typeface="Khula" pitchFamily="34" charset="-120"/>
              </a:rPr>
              <a:t>Owned by the skill author</a:t>
            </a:r>
            <a:endParaRPr lang="en-US" sz="1800" dirty="0"/>
          </a:p>
        </p:txBody>
      </p:sp>
      <p:sp>
        <p:nvSpPr>
          <p:cNvPr id="29" name="Text 27"/>
          <p:cNvSpPr/>
          <p:nvPr/>
        </p:nvSpPr>
        <p:spPr>
          <a:xfrm>
            <a:off x="8820150" y="6198840"/>
            <a:ext cx="647700" cy="381000"/>
          </a:xfrm>
          <a:prstGeom prst="rect">
            <a:avLst/>
          </a:prstGeom>
          <a:noFill/>
          <a:ln/>
        </p:spPr>
        <p:txBody>
          <a:bodyPr wrap="square" lIns="25400" tIns="25400" rIns="25400" bIns="25400" rtlCol="0" anchor="t">
            <a:normAutofit/>
          </a:bodyPr>
          <a:lstStyle/>
          <a:p>
            <a:pPr algn="ctr" indent="0" marL="0">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30" name="Shape 28"/>
          <p:cNvSpPr/>
          <p:nvPr/>
        </p:nvSpPr>
        <p:spPr>
          <a:xfrm>
            <a:off x="9429750" y="6046440"/>
            <a:ext cx="7620000" cy="647700"/>
          </a:xfrm>
          <a:prstGeom prst="roundRect">
            <a:avLst>
              <a:gd name="adj" fmla="val 14706"/>
            </a:avLst>
          </a:prstGeom>
          <a:solidFill>
            <a:srgbClr val="E9F1FA"/>
          </a:solidFill>
          <a:ln/>
        </p:spPr>
      </p:sp>
      <p:sp>
        <p:nvSpPr>
          <p:cNvPr id="31" name="Text 29"/>
          <p:cNvSpPr/>
          <p:nvPr/>
        </p:nvSpPr>
        <p:spPr>
          <a:xfrm>
            <a:off x="9639300" y="6198840"/>
            <a:ext cx="7429500" cy="381000"/>
          </a:xfrm>
          <a:prstGeom prst="rect">
            <a:avLst/>
          </a:prstGeom>
          <a:noFill/>
          <a:ln/>
        </p:spPr>
        <p:txBody>
          <a:bodyPr wrap="square" lIns="25400" tIns="25400" rIns="25400" bIns="25400" rtlCol="0" anchor="t">
            <a:normAutofit/>
          </a:bodyPr>
          <a:lstStyle/>
          <a:p>
            <a:pPr algn="l" indent="0" marL="0">
              <a:lnSpc>
                <a:spcPct val="92308"/>
              </a:lnSpc>
              <a:buNone/>
            </a:pPr>
            <a:r>
              <a:rPr lang="en-US" sz="1800" b="1" dirty="0">
                <a:solidFill>
                  <a:srgbClr val="0E1A26"/>
                </a:solidFill>
                <a:latin typeface="Khula" pitchFamily="34" charset="0"/>
                <a:ea typeface="Khula" pitchFamily="34" charset="-122"/>
                <a:cs typeface="Khula" pitchFamily="34" charset="-120"/>
              </a:rPr>
              <a:t>Can be written by anyone — even a different team member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666750"/>
            <a:ext cx="3368873" cy="533400"/>
          </a:xfrm>
          <a:prstGeom prst="roundRect">
            <a:avLst>
              <a:gd name="adj" fmla="val 50000"/>
            </a:avLst>
          </a:prstGeom>
          <a:solidFill>
            <a:srgbClr val="F5BB41"/>
          </a:solidFill>
          <a:ln/>
        </p:spPr>
      </p:sp>
      <p:sp>
        <p:nvSpPr>
          <p:cNvPr id="3" name="Text 1"/>
          <p:cNvSpPr/>
          <p:nvPr/>
        </p:nvSpPr>
        <p:spPr>
          <a:xfrm>
            <a:off x="1485900" y="762000"/>
            <a:ext cx="297464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1466850"/>
            <a:ext cx="9426967" cy="476250"/>
          </a:xfrm>
          <a:prstGeom prst="rect">
            <a:avLst/>
          </a:prstGeom>
          <a:noFill/>
          <a:ln/>
        </p:spPr>
        <p:txBody>
          <a:bodyPr wrap="square" lIns="25400" tIns="25400" rIns="25400" bIns="25400" rtlCol="0" anchor="t">
            <a:normAutofit/>
          </a:bodyPr>
          <a:lstStyle/>
          <a:p>
            <a:pPr algn="l" indent="0" marL="0">
              <a:lnSpc>
                <a:spcPct val="76667"/>
              </a:lnSpc>
              <a:buNone/>
            </a:pPr>
            <a:r>
              <a:rPr lang="en-US" sz="3000" b="1" spc="-60" kern="0" dirty="0">
                <a:solidFill>
                  <a:srgbClr val="005596"/>
                </a:solidFill>
                <a:latin typeface="Poppins" pitchFamily="34" charset="0"/>
                <a:ea typeface="Poppins" pitchFamily="34" charset="-122"/>
                <a:cs typeface="Poppins" pitchFamily="34" charset="-120"/>
              </a:rPr>
              <a:t>Lab 1: Graduation Criteria for Model Invocation</a:t>
            </a:r>
            <a:endParaRPr lang="en-US" sz="3000" dirty="0"/>
          </a:p>
        </p:txBody>
      </p:sp>
      <p:sp>
        <p:nvSpPr>
          <p:cNvPr id="5" name="Shape 3"/>
          <p:cNvSpPr/>
          <p:nvPr/>
        </p:nvSpPr>
        <p:spPr>
          <a:xfrm>
            <a:off x="14817179" y="1371600"/>
            <a:ext cx="2232571" cy="533400"/>
          </a:xfrm>
          <a:prstGeom prst="roundRect">
            <a:avLst>
              <a:gd name="adj" fmla="val 50000"/>
            </a:avLst>
          </a:prstGeom>
          <a:solidFill>
            <a:srgbClr val="005596"/>
          </a:solidFill>
          <a:ln/>
        </p:spPr>
      </p:sp>
      <p:sp>
        <p:nvSpPr>
          <p:cNvPr id="6" name="Text 4"/>
          <p:cNvSpPr/>
          <p:nvPr/>
        </p:nvSpPr>
        <p:spPr>
          <a:xfrm>
            <a:off x="15064829" y="1466850"/>
            <a:ext cx="1813471"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 30 MINUTES</a:t>
            </a:r>
            <a:endParaRPr lang="en-US" sz="1800" dirty="0"/>
          </a:p>
        </p:txBody>
      </p:sp>
      <p:sp>
        <p:nvSpPr>
          <p:cNvPr id="7" name="Text 5"/>
          <p:cNvSpPr/>
          <p:nvPr/>
        </p:nvSpPr>
        <p:spPr>
          <a:xfrm>
            <a:off x="1181100" y="2076450"/>
            <a:ext cx="15944850" cy="1523405"/>
          </a:xfrm>
          <a:prstGeom prst="rect">
            <a:avLst/>
          </a:prstGeom>
          <a:noFill/>
          <a:ln/>
        </p:spPr>
        <p:txBody>
          <a:bodyPr wrap="square" lIns="25400" tIns="25400" rIns="25400" bIns="25400" rtlCol="0" anchor="t">
            <a:normAutofit/>
          </a:bodyPr>
          <a:lstStyle/>
          <a:p>
            <a:pPr algn="l" marL="342900" indent="-342900">
              <a:lnSpc>
                <a:spcPct val="80000"/>
              </a:lnSpc>
              <a:buSzPct val="100000"/>
              <a:buFont typeface="+mj-lt"/>
              <a:buAutoNum type="arabicPeriod" startAt="1"/>
              <a:tabLst>
                <a:tab pos="342900" algn="l"/>
              </a:tabLst>
            </a:pPr>
            <a:r>
              <a:rPr lang="en-US" sz="1800" dirty="0">
                <a:solidFill>
                  <a:srgbClr val="0E1A26"/>
                </a:solidFill>
                <a:latin typeface="Khula" pitchFamily="34" charset="0"/>
                <a:ea typeface="Khula" pitchFamily="34" charset="-122"/>
                <a:cs typeface="Khula" pitchFamily="34" charset="-120"/>
              </a:rPr>
              <a:t>Select the skill you've used most and have the most evaluation evidence for</a:t>
            </a:r>
            <a:endParaRPr lang="en-US" sz="1800" dirty="0"/>
          </a:p>
          <a:p>
            <a:pPr algn="l" marL="342900" indent="-342900">
              <a:lnSpc>
                <a:spcPct val="80000"/>
              </a:lnSpc>
              <a:buSzPct val="100000"/>
              <a:buFont typeface="+mj-lt"/>
              <a:buAutoNum type="arabicPeriod" startAt="2"/>
              <a:tabLst>
                <a:tab pos="342900" algn="l"/>
              </a:tabLst>
            </a:pPr>
            <a:r>
              <a:rPr lang="en-US" sz="1800" dirty="0">
                <a:solidFill>
                  <a:srgbClr val="0E1A26"/>
                </a:solidFill>
                <a:latin typeface="Khula" pitchFamily="34" charset="0"/>
                <a:ea typeface="Khula" pitchFamily="34" charset="-122"/>
                <a:cs typeface="Khula" pitchFamily="34" charset="-120"/>
              </a:rPr>
              <a:t>Apply the three graduation criteria. For each, write it down. If you can't write it, you don't have consensus — you have an opinion</a:t>
            </a:r>
            <a:endParaRPr lang="en-US" sz="1800" dirty="0"/>
          </a:p>
          <a:p>
            <a:pPr algn="l" marL="342900" indent="-342900">
              <a:lnSpc>
                <a:spcPct val="80000"/>
              </a:lnSpc>
              <a:buSzPct val="100000"/>
              <a:buFont typeface="+mj-lt"/>
              <a:buAutoNum type="arabicPeriod" startAt="3"/>
              <a:tabLst>
                <a:tab pos="342900" algn="l"/>
              </a:tabLst>
            </a:pPr>
            <a:r>
              <a:rPr lang="en-US" sz="1800" dirty="0">
                <a:solidFill>
                  <a:srgbClr val="0E1A26"/>
                </a:solidFill>
                <a:latin typeface="Khula" pitchFamily="34" charset="0"/>
                <a:ea typeface="Khula" pitchFamily="34" charset="-122"/>
                <a:cs typeface="Khula" pitchFamily="34" charset="-120"/>
              </a:rPr>
              <a:t>For criterion 3 (verified trigger test cases): write at least 3 scenarios where the skill SHOULD invoke, then verify the model actually invokes it and the output meets the spec. If you can't name 3, that's the lab's work — not a shortcut to skip</a:t>
            </a:r>
            <a:endParaRPr lang="en-US" sz="1800" dirty="0"/>
          </a:p>
          <a:p>
            <a:pPr algn="l" marL="342900" indent="-342900">
              <a:lnSpc>
                <a:spcPct val="80000"/>
              </a:lnSpc>
              <a:buSzPct val="100000"/>
              <a:buFont typeface="+mj-lt"/>
              <a:buAutoNum type="arabicPeriod" startAt="4"/>
              <a:tabLst>
                <a:tab pos="342900" algn="l"/>
              </a:tabLst>
            </a:pPr>
            <a:r>
              <a:rPr lang="en-US" sz="1800" dirty="0">
                <a:solidFill>
                  <a:srgbClr val="0E1A26"/>
                </a:solidFill>
                <a:latin typeface="Khula" pitchFamily="34" charset="0"/>
                <a:ea typeface="Khula" pitchFamily="34" charset="-122"/>
                <a:cs typeface="Khula" pitchFamily="34" charset="-120"/>
              </a:rPr>
              <a:t>Decision: either enable model invocation (with test cases committed) or document the specific gap</a:t>
            </a:r>
            <a:endParaRPr lang="en-US" sz="1800" dirty="0"/>
          </a:p>
        </p:txBody>
      </p:sp>
      <p:sp>
        <p:nvSpPr>
          <p:cNvPr id="8" name="Shape 6"/>
          <p:cNvSpPr/>
          <p:nvPr/>
        </p:nvSpPr>
        <p:spPr>
          <a:xfrm>
            <a:off x="1238250" y="3733205"/>
            <a:ext cx="15811500" cy="1581150"/>
          </a:xfrm>
          <a:prstGeom prst="roundRect">
            <a:avLst>
              <a:gd name="adj" fmla="val 9639"/>
            </a:avLst>
          </a:prstGeom>
          <a:solidFill>
            <a:srgbClr val="005596"/>
          </a:solidFill>
          <a:ln/>
          <a:effectLst>
            <a:outerShdw sx="100000" sy="100000" kx="0" ky="0" algn="bl" rotWithShape="0" blurRad="266700" dist="114300" dir="5400000">
              <a:srgbClr val="005596">
                <a:alpha val="28000"/>
              </a:srgbClr>
            </a:outerShdw>
          </a:effectLst>
        </p:spPr>
      </p:sp>
      <p:sp>
        <p:nvSpPr>
          <p:cNvPr id="9" name="Text 7"/>
          <p:cNvSpPr/>
          <p:nvPr/>
        </p:nvSpPr>
        <p:spPr>
          <a:xfrm>
            <a:off x="1543050" y="3904655"/>
            <a:ext cx="1672209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108" kern="0" dirty="0">
                <a:solidFill>
                  <a:srgbClr val="F5BB41"/>
                </a:solidFill>
                <a:latin typeface="Poppins" pitchFamily="34" charset="0"/>
                <a:ea typeface="Poppins" pitchFamily="34" charset="-122"/>
                <a:cs typeface="Poppins" pitchFamily="34" charset="-120"/>
              </a:rPr>
              <a:t>YOU'LL KNOW WHEN YOU'RE DONE BECAUSE…</a:t>
            </a:r>
            <a:endParaRPr lang="en-US" sz="1800" dirty="0"/>
          </a:p>
        </p:txBody>
      </p:sp>
      <p:sp>
        <p:nvSpPr>
          <p:cNvPr id="10" name="Text 8"/>
          <p:cNvSpPr/>
          <p:nvPr/>
        </p:nvSpPr>
        <p:spPr>
          <a:xfrm>
            <a:off x="1543050" y="4304705"/>
            <a:ext cx="15657957" cy="647700"/>
          </a:xfrm>
          <a:prstGeom prst="rect">
            <a:avLst/>
          </a:prstGeom>
          <a:noFill/>
          <a:ln/>
        </p:spPr>
        <p:txBody>
          <a:bodyPr wrap="square" lIns="25400" tIns="25400" rIns="25400" bIns="25400" rtlCol="0" anchor="t">
            <a:normAutofit/>
          </a:bodyPr>
          <a:lstStyle/>
          <a:p>
            <a:pPr algn="l" indent="0" marL="0">
              <a:lnSpc>
                <a:spcPct val="76923"/>
              </a:lnSpc>
              <a:buNone/>
            </a:pPr>
            <a:r>
              <a:rPr lang="en-US" sz="1800" dirty="0">
                <a:solidFill>
                  <a:srgbClr val="FFFFFF"/>
                </a:solidFill>
                <a:latin typeface="Khula" pitchFamily="34" charset="0"/>
                <a:ea typeface="Khula" pitchFamily="34" charset="-122"/>
                <a:cs typeface="Khula" pitchFamily="34" charset="-120"/>
              </a:rPr>
              <a:t>You have either a skill with </a:t>
            </a:r>
            <a:pPr algn="l" indent="0" marL="0">
              <a:lnSpc>
                <a:spcPct val="76923"/>
              </a:lnSpc>
              <a:buNone/>
            </a:pPr>
            <a:r>
              <a:rPr lang="en-US" sz="1800" dirty="0">
                <a:solidFill>
                  <a:srgbClr val="FFFFFF"/>
                </a:solidFill>
                <a:latin typeface="Courier New" pitchFamily="34" charset="0"/>
                <a:ea typeface="Courier New" pitchFamily="34" charset="-122"/>
                <a:cs typeface="Courier New" pitchFamily="34" charset="-120"/>
              </a:rPr>
              <a:t>disable-model-invocation </a:t>
            </a:r>
            <a:pPr algn="l" indent="0" marL="0">
              <a:lnSpc>
                <a:spcPct val="76923"/>
              </a:lnSpc>
              <a:buNone/>
            </a:pPr>
            <a:r>
              <a:rPr lang="en-US" sz="1800" dirty="0">
                <a:solidFill>
                  <a:srgbClr val="FFFFFF"/>
                </a:solidFill>
                <a:latin typeface="Khula" pitchFamily="34" charset="0"/>
                <a:ea typeface="Khula" pitchFamily="34" charset="-122"/>
                <a:cs typeface="Khula" pitchFamily="34" charset="-120"/>
              </a:rPr>
              <a:t>set to false (or removed) with 5 invocation test cases committed (3 verified positive trigger cases, 2 quality), or a specification document with the specific gap identified.</a:t>
            </a:r>
            <a:endParaRPr lang="en-US" sz="1800" dirty="0"/>
          </a:p>
        </p:txBody>
      </p:sp>
      <p:sp>
        <p:nvSpPr>
          <p:cNvPr id="11" name="Shape 9"/>
          <p:cNvSpPr/>
          <p:nvPr/>
        </p:nvSpPr>
        <p:spPr>
          <a:xfrm>
            <a:off x="1238250" y="5485805"/>
            <a:ext cx="15811500" cy="960090"/>
          </a:xfrm>
          <a:prstGeom prst="roundRect">
            <a:avLst>
              <a:gd name="adj" fmla="val 15874"/>
            </a:avLst>
          </a:prstGeom>
          <a:solidFill>
            <a:srgbClr val="FBF1FA"/>
          </a:solidFill>
          <a:ln w="28575">
            <a:solidFill>
              <a:srgbClr val="9D1D96"/>
            </a:solidFill>
            <a:prstDash val="dash"/>
          </a:ln>
        </p:spPr>
      </p:sp>
      <p:sp>
        <p:nvSpPr>
          <p:cNvPr id="12" name="Text 10"/>
          <p:cNvSpPr/>
          <p:nvPr/>
        </p:nvSpPr>
        <p:spPr>
          <a:xfrm>
            <a:off x="1533525" y="5628680"/>
            <a:ext cx="1674304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9D1D96"/>
                </a:solidFill>
                <a:latin typeface="Poppins" pitchFamily="34" charset="0"/>
                <a:ea typeface="Poppins" pitchFamily="34" charset="-122"/>
                <a:cs typeface="Poppins" pitchFamily="34" charset="-120"/>
              </a:rPr>
              <a:t>STRETCH GOAL (FOR ADVANCED USERS) — OPTIONAL</a:t>
            </a:r>
            <a:endParaRPr lang="en-US" sz="1800" dirty="0"/>
          </a:p>
        </p:txBody>
      </p:sp>
      <p:sp>
        <p:nvSpPr>
          <p:cNvPr id="13" name="Text 11"/>
          <p:cNvSpPr/>
          <p:nvPr/>
        </p:nvSpPr>
        <p:spPr>
          <a:xfrm>
            <a:off x="1533525" y="6028730"/>
            <a:ext cx="16743045" cy="312390"/>
          </a:xfrm>
          <a:prstGeom prst="rect">
            <a:avLst/>
          </a:prstGeom>
          <a:noFill/>
          <a:ln/>
        </p:spPr>
        <p:txBody>
          <a:bodyPr wrap="square" lIns="25400" tIns="25400" rIns="25400" bIns="25400" rtlCol="0" anchor="t">
            <a:normAutofit/>
          </a:bodyPr>
          <a:lstStyle/>
          <a:p>
            <a:pPr algn="l" indent="0" marL="0">
              <a:lnSpc>
                <a:spcPct val="73846"/>
              </a:lnSpc>
              <a:buNone/>
            </a:pPr>
            <a:r>
              <a:rPr lang="en-US" sz="1800" dirty="0">
                <a:solidFill>
                  <a:srgbClr val="0E1A26"/>
                </a:solidFill>
                <a:latin typeface="Khula" pitchFamily="34" charset="0"/>
                <a:ea typeface="Khula" pitchFamily="34" charset="-122"/>
                <a:cs typeface="Khula" pitchFamily="34" charset="-120"/>
              </a:rPr>
              <a:t>Write an adversarial agent that targets TypeScript type safety of generated code under strict settings.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571500"/>
            <a:ext cx="3368873" cy="533400"/>
          </a:xfrm>
          <a:prstGeom prst="roundRect">
            <a:avLst>
              <a:gd name="adj" fmla="val 50000"/>
            </a:avLst>
          </a:prstGeom>
          <a:solidFill>
            <a:srgbClr val="F5BB41"/>
          </a:solidFill>
          <a:ln/>
        </p:spPr>
      </p:sp>
      <p:sp>
        <p:nvSpPr>
          <p:cNvPr id="3" name="Text 1"/>
          <p:cNvSpPr/>
          <p:nvPr/>
        </p:nvSpPr>
        <p:spPr>
          <a:xfrm>
            <a:off x="1485900" y="666750"/>
            <a:ext cx="297464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1374577"/>
            <a:ext cx="10447868" cy="454223"/>
          </a:xfrm>
          <a:prstGeom prst="rect">
            <a:avLst/>
          </a:prstGeom>
          <a:noFill/>
          <a:ln/>
        </p:spPr>
        <p:txBody>
          <a:bodyPr wrap="square" lIns="25400" tIns="25400" rIns="25400" bIns="25400" rtlCol="0" anchor="t">
            <a:normAutofit/>
          </a:bodyPr>
          <a:lstStyle/>
          <a:p>
            <a:pPr algn="l" indent="0" marL="0">
              <a:lnSpc>
                <a:spcPct val="76667"/>
              </a:lnSpc>
              <a:buNone/>
            </a:pPr>
            <a:r>
              <a:rPr lang="en-US" sz="2850" b="1" spc="-57" kern="0" dirty="0">
                <a:solidFill>
                  <a:srgbClr val="005596"/>
                </a:solidFill>
                <a:latin typeface="Poppins" pitchFamily="34" charset="0"/>
                <a:ea typeface="Poppins" pitchFamily="34" charset="-122"/>
                <a:cs typeface="Poppins" pitchFamily="34" charset="-120"/>
              </a:rPr>
              <a:t>Lab 2: Write an Adversarial Agent for One of Your Skills</a:t>
            </a:r>
            <a:endParaRPr lang="en-US" sz="2850" dirty="0"/>
          </a:p>
        </p:txBody>
      </p:sp>
      <p:sp>
        <p:nvSpPr>
          <p:cNvPr id="5" name="Shape 3"/>
          <p:cNvSpPr/>
          <p:nvPr/>
        </p:nvSpPr>
        <p:spPr>
          <a:xfrm>
            <a:off x="14800808" y="1257300"/>
            <a:ext cx="2248942" cy="533400"/>
          </a:xfrm>
          <a:prstGeom prst="roundRect">
            <a:avLst>
              <a:gd name="adj" fmla="val 50000"/>
            </a:avLst>
          </a:prstGeom>
          <a:solidFill>
            <a:srgbClr val="005596"/>
          </a:solidFill>
          <a:ln/>
        </p:spPr>
      </p:sp>
      <p:sp>
        <p:nvSpPr>
          <p:cNvPr id="6" name="Text 4"/>
          <p:cNvSpPr/>
          <p:nvPr/>
        </p:nvSpPr>
        <p:spPr>
          <a:xfrm>
            <a:off x="15048458" y="1352550"/>
            <a:ext cx="1829842"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 40 MINUTES</a:t>
            </a:r>
            <a:endParaRPr lang="en-US" sz="1800" dirty="0"/>
          </a:p>
        </p:txBody>
      </p:sp>
      <p:sp>
        <p:nvSpPr>
          <p:cNvPr id="7" name="Text 5"/>
          <p:cNvSpPr/>
          <p:nvPr/>
        </p:nvSpPr>
        <p:spPr>
          <a:xfrm>
            <a:off x="1176338" y="1943100"/>
            <a:ext cx="17427893" cy="311944"/>
          </a:xfrm>
          <a:prstGeom prst="rect">
            <a:avLst/>
          </a:prstGeom>
          <a:noFill/>
          <a:ln/>
        </p:spPr>
        <p:txBody>
          <a:bodyPr wrap="square" lIns="25400" tIns="25400" rIns="25400" bIns="25400" rtlCol="0" anchor="t">
            <a:normAutofit/>
          </a:bodyPr>
          <a:lstStyle/>
          <a:p>
            <a:pPr algn="l" marL="328613" indent="-328613">
              <a:lnSpc>
                <a:spcPct val="77703"/>
              </a:lnSpc>
              <a:buSzPct val="100000"/>
              <a:buFont typeface="+mj-lt"/>
              <a:buAutoNum type="arabicPeriod" startAt="1"/>
              <a:tabLst>
                <a:tab pos="328613" algn="l"/>
              </a:tabLst>
            </a:pPr>
            <a:r>
              <a:rPr lang="en-US" sz="1725" dirty="0">
                <a:solidFill>
                  <a:srgbClr val="0E1A26"/>
                </a:solidFill>
                <a:latin typeface="Khula" pitchFamily="34" charset="0"/>
                <a:ea typeface="Khula" pitchFamily="34" charset="-122"/>
                <a:cs typeface="Khula" pitchFamily="34" charset="-120"/>
              </a:rPr>
              <a:t>Choose one of your existing skills (AC, Plan, Code, or Review)</a:t>
            </a:r>
            <a:endParaRPr lang="en-US" sz="1725" dirty="0"/>
          </a:p>
        </p:txBody>
      </p:sp>
      <p:sp>
        <p:nvSpPr>
          <p:cNvPr id="8" name="Text 6"/>
          <p:cNvSpPr/>
          <p:nvPr/>
        </p:nvSpPr>
        <p:spPr>
          <a:xfrm>
            <a:off x="1176338" y="2216944"/>
            <a:ext cx="17427893" cy="350044"/>
          </a:xfrm>
          <a:prstGeom prst="rect">
            <a:avLst/>
          </a:prstGeom>
          <a:noFill/>
          <a:ln/>
        </p:spPr>
        <p:txBody>
          <a:bodyPr wrap="square" lIns="25400" tIns="25400" rIns="25400" bIns="25400" rtlCol="0" anchor="t">
            <a:normAutofit/>
          </a:bodyPr>
          <a:lstStyle/>
          <a:p>
            <a:pPr algn="l" marL="328613" indent="-328613">
              <a:lnSpc>
                <a:spcPct val="77703"/>
              </a:lnSpc>
              <a:buSzPct val="100000"/>
              <a:buFont typeface="+mj-lt"/>
              <a:buAutoNum type="arabicPeriod" startAt="2"/>
            </a:pPr>
            <a:r>
              <a:rPr lang="en-US" sz="1725" dirty="0">
                <a:solidFill>
                  <a:srgbClr val="0E1A26"/>
                </a:solidFill>
                <a:latin typeface="Khula" pitchFamily="34" charset="0"/>
                <a:ea typeface="Khula" pitchFamily="34" charset="-122"/>
                <a:cs typeface="Khula" pitchFamily="34" charset="-120"/>
              </a:rPr>
              <a:t>Write an adversarial prompt as a new skill with </a:t>
            </a:r>
            <a:pPr algn="l" indent="0" marL="0">
              <a:lnSpc>
                <a:spcPct val="77703"/>
              </a:lnSpc>
              <a:buNone/>
            </a:pPr>
            <a:r>
              <a:rPr lang="en-US" sz="1725" dirty="0">
                <a:solidFill>
                  <a:srgbClr val="0E1A26"/>
                </a:solidFill>
                <a:latin typeface="Courier New" pitchFamily="34" charset="0"/>
                <a:ea typeface="Courier New" pitchFamily="34" charset="-122"/>
                <a:cs typeface="Courier New" pitchFamily="34" charset="-120"/>
              </a:rPr>
              <a:t>disable-model-invocation: true</a:t>
            </a:r>
            <a:endParaRPr lang="en-US" sz="1725" dirty="0"/>
          </a:p>
        </p:txBody>
      </p:sp>
      <p:sp>
        <p:nvSpPr>
          <p:cNvPr id="9" name="Text 7"/>
          <p:cNvSpPr/>
          <p:nvPr/>
        </p:nvSpPr>
        <p:spPr>
          <a:xfrm>
            <a:off x="1176338" y="2528888"/>
            <a:ext cx="16339757" cy="585788"/>
          </a:xfrm>
          <a:prstGeom prst="rect">
            <a:avLst/>
          </a:prstGeom>
          <a:noFill/>
          <a:ln/>
        </p:spPr>
        <p:txBody>
          <a:bodyPr wrap="square" lIns="25400" tIns="25400" rIns="25400" bIns="25400" rtlCol="0" anchor="t">
            <a:normAutofit/>
          </a:bodyPr>
          <a:lstStyle/>
          <a:p>
            <a:pPr algn="l" marL="328613" indent="-328613">
              <a:lnSpc>
                <a:spcPct val="77703"/>
              </a:lnSpc>
              <a:buSzPct val="100000"/>
              <a:buFont typeface="+mj-lt"/>
              <a:buAutoNum type="arabicPeriod" startAt="3"/>
              <a:tabLst>
                <a:tab pos="328613" algn="l"/>
              </a:tabLst>
            </a:pPr>
            <a:r>
              <a:rPr lang="en-US" sz="1725" dirty="0">
                <a:solidFill>
                  <a:srgbClr val="0E1A26"/>
                </a:solidFill>
                <a:latin typeface="Khula" pitchFamily="34" charset="0"/>
                <a:ea typeface="Khula" pitchFamily="34" charset="-122"/>
                <a:cs typeface="Khula" pitchFamily="34" charset="-120"/>
              </a:rPr>
              <a:t>The adversarial skill receives the primary skill's output and attempts to find: missing requirements, logical errors, edge cases, quality gaps the evaluator didn't catch</a:t>
            </a:r>
            <a:endParaRPr lang="en-US" sz="1725" dirty="0"/>
          </a:p>
        </p:txBody>
      </p:sp>
      <p:sp>
        <p:nvSpPr>
          <p:cNvPr id="10" name="Text 8"/>
          <p:cNvSpPr/>
          <p:nvPr/>
        </p:nvSpPr>
        <p:spPr>
          <a:xfrm>
            <a:off x="1176338" y="3076575"/>
            <a:ext cx="17427893" cy="311944"/>
          </a:xfrm>
          <a:prstGeom prst="rect">
            <a:avLst/>
          </a:prstGeom>
          <a:noFill/>
          <a:ln/>
        </p:spPr>
        <p:txBody>
          <a:bodyPr wrap="square" lIns="25400" tIns="25400" rIns="25400" bIns="25400" rtlCol="0" anchor="t">
            <a:normAutofit/>
          </a:bodyPr>
          <a:lstStyle/>
          <a:p>
            <a:pPr algn="l" marL="328613" indent="-328613">
              <a:lnSpc>
                <a:spcPct val="77703"/>
              </a:lnSpc>
              <a:buSzPct val="100000"/>
              <a:buFont typeface="+mj-lt"/>
              <a:buAutoNum type="arabicPeriod" startAt="4"/>
              <a:tabLst>
                <a:tab pos="328613" algn="l"/>
              </a:tabLst>
            </a:pPr>
            <a:r>
              <a:rPr lang="en-US" sz="1725" dirty="0">
                <a:solidFill>
                  <a:srgbClr val="0E1A26"/>
                </a:solidFill>
                <a:latin typeface="Khula" pitchFamily="34" charset="0"/>
                <a:ea typeface="Khula" pitchFamily="34" charset="-122"/>
                <a:cs typeface="Khula" pitchFamily="34" charset="-120"/>
              </a:rPr>
              <a:t>Run the adversarial agent against 2–3 real outputs from the primary skill</a:t>
            </a:r>
            <a:endParaRPr lang="en-US" sz="1725" dirty="0"/>
          </a:p>
        </p:txBody>
      </p:sp>
      <p:sp>
        <p:nvSpPr>
          <p:cNvPr id="11" name="Text 9"/>
          <p:cNvSpPr/>
          <p:nvPr/>
        </p:nvSpPr>
        <p:spPr>
          <a:xfrm>
            <a:off x="1176338" y="3350419"/>
            <a:ext cx="17427893" cy="311944"/>
          </a:xfrm>
          <a:prstGeom prst="rect">
            <a:avLst/>
          </a:prstGeom>
          <a:noFill/>
          <a:ln/>
        </p:spPr>
        <p:txBody>
          <a:bodyPr wrap="square" lIns="25400" tIns="25400" rIns="25400" bIns="25400" rtlCol="0" anchor="t">
            <a:normAutofit/>
          </a:bodyPr>
          <a:lstStyle/>
          <a:p>
            <a:pPr algn="l" marL="328613" indent="-328613">
              <a:lnSpc>
                <a:spcPct val="77703"/>
              </a:lnSpc>
              <a:buSzPct val="100000"/>
              <a:buFont typeface="+mj-lt"/>
              <a:buAutoNum type="arabicPeriod" startAt="5"/>
              <a:tabLst>
                <a:tab pos="328613" algn="l"/>
              </a:tabLst>
            </a:pPr>
            <a:r>
              <a:rPr lang="en-US" sz="1725" dirty="0">
                <a:solidFill>
                  <a:srgbClr val="0E1A26"/>
                </a:solidFill>
                <a:latin typeface="Khula" pitchFamily="34" charset="0"/>
                <a:ea typeface="Khula" pitchFamily="34" charset="-122"/>
                <a:cs typeface="Khula" pitchFamily="34" charset="-120"/>
              </a:rPr>
              <a:t>Document: what does the adversarial agent find that your Python evaluator (Session 4) didn't?</a:t>
            </a:r>
            <a:endParaRPr lang="en-US" sz="1725" dirty="0"/>
          </a:p>
        </p:txBody>
      </p:sp>
      <p:sp>
        <p:nvSpPr>
          <p:cNvPr id="12" name="Text 10"/>
          <p:cNvSpPr/>
          <p:nvPr/>
        </p:nvSpPr>
        <p:spPr>
          <a:xfrm>
            <a:off x="1176338" y="3624263"/>
            <a:ext cx="17427893" cy="311944"/>
          </a:xfrm>
          <a:prstGeom prst="rect">
            <a:avLst/>
          </a:prstGeom>
          <a:noFill/>
          <a:ln/>
        </p:spPr>
        <p:txBody>
          <a:bodyPr wrap="square" lIns="25400" tIns="25400" rIns="25400" bIns="25400" rtlCol="0" anchor="t">
            <a:normAutofit/>
          </a:bodyPr>
          <a:lstStyle/>
          <a:p>
            <a:pPr algn="l" marL="328613" indent="-328613">
              <a:lnSpc>
                <a:spcPct val="77703"/>
              </a:lnSpc>
              <a:buSzPct val="100000"/>
              <a:buFont typeface="+mj-lt"/>
              <a:buAutoNum type="arabicPeriod" startAt="6"/>
              <a:tabLst>
                <a:tab pos="328613" algn="l"/>
              </a:tabLst>
            </a:pPr>
            <a:r>
              <a:rPr lang="en-US" sz="1725" dirty="0">
                <a:solidFill>
                  <a:srgbClr val="0E1A26"/>
                </a:solidFill>
                <a:latin typeface="Khula" pitchFamily="34" charset="0"/>
                <a:ea typeface="Khula" pitchFamily="34" charset="-122"/>
                <a:cs typeface="Khula" pitchFamily="34" charset="-120"/>
              </a:rPr>
              <a:t>Commit the adversarial skill and findings</a:t>
            </a:r>
            <a:endParaRPr lang="en-US" sz="1725" dirty="0"/>
          </a:p>
        </p:txBody>
      </p:sp>
      <p:sp>
        <p:nvSpPr>
          <p:cNvPr id="13" name="Shape 11"/>
          <p:cNvSpPr/>
          <p:nvPr/>
        </p:nvSpPr>
        <p:spPr>
          <a:xfrm>
            <a:off x="1238250" y="4050506"/>
            <a:ext cx="15811500" cy="1424880"/>
          </a:xfrm>
          <a:prstGeom prst="roundRect">
            <a:avLst>
              <a:gd name="adj" fmla="val 10696"/>
            </a:avLst>
          </a:prstGeom>
          <a:solidFill>
            <a:srgbClr val="005596"/>
          </a:solidFill>
          <a:ln/>
          <a:effectLst>
            <a:outerShdw sx="100000" sy="100000" kx="0" ky="0" algn="bl" rotWithShape="0" blurRad="266700" dist="114300" dir="5400000">
              <a:srgbClr val="005596">
                <a:alpha val="28000"/>
              </a:srgbClr>
            </a:outerShdw>
          </a:effectLst>
        </p:spPr>
      </p:sp>
      <p:sp>
        <p:nvSpPr>
          <p:cNvPr id="14" name="Text 12"/>
          <p:cNvSpPr/>
          <p:nvPr/>
        </p:nvSpPr>
        <p:spPr>
          <a:xfrm>
            <a:off x="1524000" y="4183856"/>
            <a:ext cx="167640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108" kern="0" dirty="0">
                <a:solidFill>
                  <a:srgbClr val="F5BB41"/>
                </a:solidFill>
                <a:latin typeface="Poppins" pitchFamily="34" charset="0"/>
                <a:ea typeface="Poppins" pitchFamily="34" charset="-122"/>
                <a:cs typeface="Poppins" pitchFamily="34" charset="-120"/>
              </a:rPr>
              <a:t>YOU'LL KNOW WHEN YOU'RE DONE BECAUSE…</a:t>
            </a:r>
            <a:endParaRPr lang="en-US" sz="1800" dirty="0"/>
          </a:p>
        </p:txBody>
      </p:sp>
      <p:sp>
        <p:nvSpPr>
          <p:cNvPr id="15" name="Text 13"/>
          <p:cNvSpPr/>
          <p:nvPr/>
        </p:nvSpPr>
        <p:spPr>
          <a:xfrm>
            <a:off x="1524000" y="4564856"/>
            <a:ext cx="15697200" cy="586680"/>
          </a:xfrm>
          <a:prstGeom prst="rect">
            <a:avLst/>
          </a:prstGeom>
          <a:noFill/>
          <a:ln/>
        </p:spPr>
        <p:txBody>
          <a:bodyPr wrap="square" lIns="25400" tIns="25400" rIns="25400" bIns="25400" rtlCol="0" anchor="t">
            <a:normAutofit/>
          </a:bodyPr>
          <a:lstStyle/>
          <a:p>
            <a:pPr algn="l" indent="0" marL="0">
              <a:lnSpc>
                <a:spcPct val="73846"/>
              </a:lnSpc>
              <a:buNone/>
            </a:pPr>
            <a:r>
              <a:rPr lang="en-US" sz="1800" dirty="0">
                <a:solidFill>
                  <a:srgbClr val="FFFFFF"/>
                </a:solidFill>
                <a:latin typeface="Khula" pitchFamily="34" charset="0"/>
                <a:ea typeface="Khula" pitchFamily="34" charset="-122"/>
                <a:cs typeface="Khula" pitchFamily="34" charset="-120"/>
              </a:rPr>
              <a:t>You have a committed adversarial skill that challenges another skill's output, and you've documented at least one issue the adversarial agent found that your Session 4 evaluator missed.</a:t>
            </a:r>
            <a:endParaRPr lang="en-US" sz="1800" dirty="0"/>
          </a:p>
        </p:txBody>
      </p:sp>
      <p:sp>
        <p:nvSpPr>
          <p:cNvPr id="16" name="Shape 14"/>
          <p:cNvSpPr/>
          <p:nvPr/>
        </p:nvSpPr>
        <p:spPr>
          <a:xfrm>
            <a:off x="1238250" y="5627787"/>
            <a:ext cx="15811500" cy="960090"/>
          </a:xfrm>
          <a:prstGeom prst="roundRect">
            <a:avLst>
              <a:gd name="adj" fmla="val 15874"/>
            </a:avLst>
          </a:prstGeom>
          <a:solidFill>
            <a:srgbClr val="FBF1FA"/>
          </a:solidFill>
          <a:ln w="28575">
            <a:solidFill>
              <a:srgbClr val="9D1D96"/>
            </a:solidFill>
            <a:prstDash val="dash"/>
          </a:ln>
        </p:spPr>
      </p:sp>
      <p:sp>
        <p:nvSpPr>
          <p:cNvPr id="17" name="Text 15"/>
          <p:cNvSpPr/>
          <p:nvPr/>
        </p:nvSpPr>
        <p:spPr>
          <a:xfrm>
            <a:off x="1533525" y="5770662"/>
            <a:ext cx="1674304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9D1D96"/>
                </a:solidFill>
                <a:latin typeface="Poppins" pitchFamily="34" charset="0"/>
                <a:ea typeface="Poppins" pitchFamily="34" charset="-122"/>
                <a:cs typeface="Poppins" pitchFamily="34" charset="-120"/>
              </a:rPr>
              <a:t>STRETCH GOAL (FOR ADVANCED USERS) — OPTIONAL</a:t>
            </a:r>
            <a:endParaRPr lang="en-US" sz="1800" dirty="0"/>
          </a:p>
        </p:txBody>
      </p:sp>
      <p:sp>
        <p:nvSpPr>
          <p:cNvPr id="18" name="Text 16"/>
          <p:cNvSpPr/>
          <p:nvPr/>
        </p:nvSpPr>
        <p:spPr>
          <a:xfrm>
            <a:off x="1533525" y="6170712"/>
            <a:ext cx="16743045" cy="312390"/>
          </a:xfrm>
          <a:prstGeom prst="rect">
            <a:avLst/>
          </a:prstGeom>
          <a:noFill/>
          <a:ln/>
        </p:spPr>
        <p:txBody>
          <a:bodyPr wrap="square" lIns="25400" tIns="25400" rIns="25400" bIns="25400" rtlCol="0" anchor="t">
            <a:normAutofit/>
          </a:bodyPr>
          <a:lstStyle/>
          <a:p>
            <a:pPr algn="l" indent="0" marL="0">
              <a:lnSpc>
                <a:spcPct val="73846"/>
              </a:lnSpc>
              <a:buNone/>
            </a:pPr>
            <a:r>
              <a:rPr lang="en-US" sz="1800" dirty="0">
                <a:solidFill>
                  <a:srgbClr val="0E1A26"/>
                </a:solidFill>
                <a:latin typeface="Khula" pitchFamily="34" charset="0"/>
                <a:ea typeface="Khula" pitchFamily="34" charset="-122"/>
                <a:cs typeface="Khula" pitchFamily="34" charset="-120"/>
              </a:rPr>
              <a:t>Write adversarial agents for both Express backend and React/ShadCN frontend aspects of the pantry tracker skills.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579638"/>
            <a:ext cx="3368873" cy="533400"/>
          </a:xfrm>
          <a:prstGeom prst="roundRect">
            <a:avLst>
              <a:gd name="adj" fmla="val 50000"/>
            </a:avLst>
          </a:prstGeom>
          <a:solidFill>
            <a:srgbClr val="F5BB41"/>
          </a:solidFill>
          <a:ln/>
        </p:spPr>
      </p:sp>
      <p:sp>
        <p:nvSpPr>
          <p:cNvPr id="3" name="Text 1"/>
          <p:cNvSpPr/>
          <p:nvPr/>
        </p:nvSpPr>
        <p:spPr>
          <a:xfrm>
            <a:off x="1485900" y="2674888"/>
            <a:ext cx="297464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3455938"/>
            <a:ext cx="11330925" cy="495300"/>
          </a:xfrm>
          <a:prstGeom prst="rect">
            <a:avLst/>
          </a:prstGeom>
          <a:noFill/>
          <a:ln/>
        </p:spPr>
        <p:txBody>
          <a:bodyPr wrap="square" lIns="25400" tIns="25400" rIns="25400" bIns="25400" rtlCol="0" anchor="t">
            <a:normAutofit/>
          </a:bodyPr>
          <a:lstStyle/>
          <a:p>
            <a:pPr algn="l" indent="0" marL="0">
              <a:lnSpc>
                <a:spcPct val="80000"/>
              </a:lnSpc>
              <a:buNone/>
            </a:pPr>
            <a:r>
              <a:rPr lang="en-US" sz="3000" b="1" spc="-60" kern="0" dirty="0">
                <a:solidFill>
                  <a:srgbClr val="005596"/>
                </a:solidFill>
                <a:latin typeface="Poppins" pitchFamily="34" charset="0"/>
                <a:ea typeface="Poppins" pitchFamily="34" charset="-122"/>
                <a:cs typeface="Poppins" pitchFamily="34" charset="-120"/>
              </a:rPr>
              <a:t>Lab 3: Evaluator + Adversarial Agent — Closing the Loop</a:t>
            </a:r>
            <a:endParaRPr lang="en-US" sz="3000" dirty="0"/>
          </a:p>
        </p:txBody>
      </p:sp>
      <p:sp>
        <p:nvSpPr>
          <p:cNvPr id="5" name="Shape 3"/>
          <p:cNvSpPr/>
          <p:nvPr/>
        </p:nvSpPr>
        <p:spPr>
          <a:xfrm>
            <a:off x="14870013" y="3379738"/>
            <a:ext cx="2179737" cy="533400"/>
          </a:xfrm>
          <a:prstGeom prst="roundRect">
            <a:avLst>
              <a:gd name="adj" fmla="val 50000"/>
            </a:avLst>
          </a:prstGeom>
          <a:solidFill>
            <a:srgbClr val="005596"/>
          </a:solidFill>
          <a:ln/>
        </p:spPr>
      </p:sp>
      <p:sp>
        <p:nvSpPr>
          <p:cNvPr id="6" name="Text 4"/>
          <p:cNvSpPr/>
          <p:nvPr/>
        </p:nvSpPr>
        <p:spPr>
          <a:xfrm>
            <a:off x="15117663" y="3474988"/>
            <a:ext cx="1760637"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 15 MINUTES</a:t>
            </a:r>
            <a:endParaRPr lang="en-US" sz="1800" dirty="0"/>
          </a:p>
        </p:txBody>
      </p:sp>
      <p:sp>
        <p:nvSpPr>
          <p:cNvPr id="7" name="Text 5"/>
          <p:cNvSpPr/>
          <p:nvPr/>
        </p:nvSpPr>
        <p:spPr>
          <a:xfrm>
            <a:off x="1200150" y="4179838"/>
            <a:ext cx="15925800" cy="1638002"/>
          </a:xfrm>
          <a:prstGeom prst="rect">
            <a:avLst/>
          </a:prstGeom>
          <a:noFill/>
          <a:ln/>
        </p:spPr>
        <p:txBody>
          <a:bodyPr wrap="square" lIns="25400" tIns="25400" rIns="25400" bIns="25400" rtlCol="0" anchor="t">
            <a:normAutofit/>
          </a:bodyPr>
          <a:lstStyle/>
          <a:p>
            <a:pPr algn="l" marL="342900" indent="-342900">
              <a:lnSpc>
                <a:spcPct val="86154"/>
              </a:lnSpc>
              <a:buSzPct val="100000"/>
              <a:buFont typeface="+mj-lt"/>
              <a:buAutoNum type="arabicPeriod" startAt="1"/>
              <a:tabLst>
                <a:tab pos="342900" algn="l"/>
              </a:tabLst>
            </a:pPr>
            <a:r>
              <a:rPr lang="en-US" sz="1800" dirty="0">
                <a:solidFill>
                  <a:srgbClr val="0E1A26"/>
                </a:solidFill>
                <a:latin typeface="Khula" pitchFamily="34" charset="0"/>
                <a:ea typeface="Khula" pitchFamily="34" charset="-122"/>
                <a:cs typeface="Khula" pitchFamily="34" charset="-120"/>
              </a:rPr>
              <a:t>Open your Python evaluation script from Session 4</a:t>
            </a:r>
            <a:endParaRPr lang="en-US" sz="1800" dirty="0"/>
          </a:p>
          <a:p>
            <a:pPr algn="l" marL="342900" indent="-342900">
              <a:lnSpc>
                <a:spcPct val="86154"/>
              </a:lnSpc>
              <a:buSzPct val="100000"/>
              <a:buFont typeface="+mj-lt"/>
              <a:buAutoNum type="arabicPeriod" startAt="2"/>
              <a:tabLst>
                <a:tab pos="342900" algn="l"/>
              </a:tabLst>
            </a:pPr>
            <a:r>
              <a:rPr lang="en-US" sz="1800" dirty="0">
                <a:solidFill>
                  <a:srgbClr val="0E1A26"/>
                </a:solidFill>
                <a:latin typeface="Khula" pitchFamily="34" charset="0"/>
                <a:ea typeface="Khula" pitchFamily="34" charset="-122"/>
                <a:cs typeface="Khula" pitchFamily="34" charset="-120"/>
              </a:rPr>
              <a:t>Open your adversarial agent from Lab 2</a:t>
            </a:r>
            <a:endParaRPr lang="en-US" sz="1800" dirty="0"/>
          </a:p>
          <a:p>
            <a:pPr algn="l" marL="342900" indent="-342900">
              <a:lnSpc>
                <a:spcPct val="86154"/>
              </a:lnSpc>
              <a:buSzPct val="100000"/>
              <a:buFont typeface="+mj-lt"/>
              <a:buAutoNum type="arabicPeriod" startAt="3"/>
              <a:tabLst>
                <a:tab pos="342900" algn="l"/>
              </a:tabLst>
            </a:pPr>
            <a:r>
              <a:rPr lang="en-US" sz="1800" dirty="0">
                <a:solidFill>
                  <a:srgbClr val="0E1A26"/>
                </a:solidFill>
                <a:latin typeface="Khula" pitchFamily="34" charset="0"/>
                <a:ea typeface="Khula" pitchFamily="34" charset="-122"/>
                <a:cs typeface="Khula" pitchFamily="34" charset="-120"/>
              </a:rPr>
              <a:t>For each EC in your evaluator: does the adversarial agent also check it? If not, consider whether the EC is something the adversarial agent should challenge</a:t>
            </a:r>
            <a:endParaRPr lang="en-US" sz="1800" dirty="0"/>
          </a:p>
          <a:p>
            <a:pPr algn="l" marL="342900" indent="-342900">
              <a:lnSpc>
                <a:spcPct val="86154"/>
              </a:lnSpc>
              <a:buSzPct val="100000"/>
              <a:buFont typeface="+mj-lt"/>
              <a:buAutoNum type="arabicPeriod" startAt="4"/>
              <a:tabLst>
                <a:tab pos="342900" algn="l"/>
              </a:tabLst>
            </a:pPr>
            <a:r>
              <a:rPr lang="en-US" sz="1800" dirty="0">
                <a:solidFill>
                  <a:srgbClr val="0E1A26"/>
                </a:solidFill>
                <a:latin typeface="Khula" pitchFamily="34" charset="0"/>
                <a:ea typeface="Khula" pitchFamily="34" charset="-122"/>
                <a:cs typeface="Khula" pitchFamily="34" charset="-120"/>
              </a:rPr>
              <a:t>For each issue the adversarial agent found: should it become a new EC in your evaluator?</a:t>
            </a:r>
            <a:endParaRPr lang="en-US" sz="1800" dirty="0"/>
          </a:p>
          <a:p>
            <a:pPr algn="l" marL="342900" indent="-342900">
              <a:lnSpc>
                <a:spcPct val="86154"/>
              </a:lnSpc>
              <a:buSzPct val="100000"/>
              <a:buFont typeface="+mj-lt"/>
              <a:buAutoNum type="arabicPeriod" startAt="5"/>
              <a:tabLst>
                <a:tab pos="342900" algn="l"/>
              </a:tabLst>
            </a:pPr>
            <a:r>
              <a:rPr lang="en-US" sz="1800" dirty="0">
                <a:solidFill>
                  <a:srgbClr val="0E1A26"/>
                </a:solidFill>
                <a:latin typeface="Khula" pitchFamily="34" charset="0"/>
                <a:ea typeface="Khula" pitchFamily="34" charset="-122"/>
                <a:cs typeface="Khula" pitchFamily="34" charset="-120"/>
              </a:rPr>
              <a:t>Document the delta: what does evaluation catch that the adversarial agent doesn't? What does the adversarial agent catch that evaluation doesn't?</a:t>
            </a:r>
            <a:endParaRPr lang="en-US" sz="1800" dirty="0"/>
          </a:p>
        </p:txBody>
      </p:sp>
      <p:sp>
        <p:nvSpPr>
          <p:cNvPr id="8" name="Shape 6"/>
          <p:cNvSpPr/>
          <p:nvPr/>
        </p:nvSpPr>
        <p:spPr>
          <a:xfrm>
            <a:off x="1238250" y="6046440"/>
            <a:ext cx="15811500" cy="1660922"/>
          </a:xfrm>
          <a:prstGeom prst="roundRect">
            <a:avLst>
              <a:gd name="adj" fmla="val 9176"/>
            </a:avLst>
          </a:prstGeom>
          <a:solidFill>
            <a:srgbClr val="005596"/>
          </a:solidFill>
          <a:ln/>
          <a:effectLst>
            <a:outerShdw sx="100000" sy="100000" kx="0" ky="0" algn="bl" rotWithShape="0" blurRad="266700" dist="114300" dir="5400000">
              <a:srgbClr val="005596">
                <a:alpha val="28000"/>
              </a:srgbClr>
            </a:outerShdw>
          </a:effectLst>
        </p:spPr>
      </p:sp>
      <p:sp>
        <p:nvSpPr>
          <p:cNvPr id="9" name="Text 7"/>
          <p:cNvSpPr/>
          <p:nvPr/>
        </p:nvSpPr>
        <p:spPr>
          <a:xfrm>
            <a:off x="1581150" y="6255990"/>
            <a:ext cx="1663827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108" kern="0" dirty="0">
                <a:solidFill>
                  <a:srgbClr val="F5BB41"/>
                </a:solidFill>
                <a:latin typeface="Poppins" pitchFamily="34" charset="0"/>
                <a:ea typeface="Poppins" pitchFamily="34" charset="-122"/>
                <a:cs typeface="Poppins" pitchFamily="34" charset="-120"/>
              </a:rPr>
              <a:t>YOU'LL KNOW WHEN YOU'RE DONE BECAUSE…</a:t>
            </a:r>
            <a:endParaRPr lang="en-US" sz="1800" dirty="0"/>
          </a:p>
        </p:txBody>
      </p:sp>
      <p:sp>
        <p:nvSpPr>
          <p:cNvPr id="10" name="Text 8"/>
          <p:cNvSpPr/>
          <p:nvPr/>
        </p:nvSpPr>
        <p:spPr>
          <a:xfrm>
            <a:off x="1581150" y="6675090"/>
            <a:ext cx="15579471" cy="632222"/>
          </a:xfrm>
          <a:prstGeom prst="rect">
            <a:avLst/>
          </a:prstGeom>
          <a:noFill/>
          <a:ln/>
        </p:spPr>
        <p:txBody>
          <a:bodyPr wrap="square" lIns="25400" tIns="25400" rIns="25400" bIns="25400" rtlCol="0" anchor="t">
            <a:normAutofit/>
          </a:bodyPr>
          <a:lstStyle/>
          <a:p>
            <a:pPr algn="l" indent="0" marL="0">
              <a:lnSpc>
                <a:spcPct val="80000"/>
              </a:lnSpc>
              <a:buNone/>
            </a:pPr>
            <a:r>
              <a:rPr lang="en-US" sz="1800" dirty="0">
                <a:solidFill>
                  <a:srgbClr val="FFFFFF"/>
                </a:solidFill>
                <a:latin typeface="Khula" pitchFamily="34" charset="0"/>
                <a:ea typeface="Khula" pitchFamily="34" charset="-122"/>
                <a:cs typeface="Khula" pitchFamily="34" charset="-120"/>
              </a:rPr>
              <a:t>You have a committed document mapping your evaluation criteria to your adversarial agent's findings, with the delta noted — what each catches that the other doesn't.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97D3">
                  <a:alpha val="100000"/>
                </a:srgbClr>
              </a:gs>
              <a:gs pos="100000">
                <a:srgbClr val="5BC2A7">
                  <a:alpha val="100000"/>
                </a:srgbClr>
              </a:gs>
            </a:gsLst>
            <a:lin ang="2700000" scaled="0"/>
          </a:gradFill>
          <a:ln/>
        </p:spPr>
      </p:sp>
      <p:sp>
        <p:nvSpPr>
          <p:cNvPr id="3" name="Shape 1"/>
          <p:cNvSpPr/>
          <p:nvPr/>
        </p:nvSpPr>
        <p:spPr>
          <a:xfrm>
            <a:off x="1143000" y="857250"/>
            <a:ext cx="3306514" cy="533400"/>
          </a:xfrm>
          <a:prstGeom prst="roundRect">
            <a:avLst>
              <a:gd name="adj" fmla="val 50000"/>
            </a:avLst>
          </a:prstGeom>
          <a:solidFill>
            <a:srgbClr val="FFFFFF">
              <a:alpha val="20000"/>
            </a:srgbClr>
          </a:solidFill>
          <a:ln/>
        </p:spPr>
      </p:sp>
      <p:sp>
        <p:nvSpPr>
          <p:cNvPr id="4" name="Text 2"/>
          <p:cNvSpPr/>
          <p:nvPr/>
        </p:nvSpPr>
        <p:spPr>
          <a:xfrm>
            <a:off x="1390650" y="952500"/>
            <a:ext cx="291041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CLOSING</a:t>
            </a:r>
            <a:endParaRPr lang="en-US" sz="1800" dirty="0"/>
          </a:p>
        </p:txBody>
      </p:sp>
      <p:sp>
        <p:nvSpPr>
          <p:cNvPr id="5" name="Text 3"/>
          <p:cNvSpPr/>
          <p:nvPr/>
        </p:nvSpPr>
        <p:spPr>
          <a:xfrm>
            <a:off x="1143000" y="1619250"/>
            <a:ext cx="17602200"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spc="-75" kern="0" dirty="0">
                <a:solidFill>
                  <a:srgbClr val="FFFFFF"/>
                </a:solidFill>
                <a:latin typeface="Poppins" pitchFamily="34" charset="0"/>
                <a:ea typeface="Poppins" pitchFamily="34" charset="-122"/>
                <a:cs typeface="Poppins" pitchFamily="34" charset="-120"/>
              </a:rPr>
              <a:t>Before you go… </a:t>
            </a:r>
            <a:pPr algn="l" indent="0" marL="0">
              <a:lnSpc>
                <a:spcPct val="72368"/>
              </a:lnSpc>
              <a:buNone/>
            </a:pPr>
            <a:r>
              <a:rPr lang="en-US" sz="2250" b="1" spc="-75" kern="0" dirty="0">
                <a:solidFill>
                  <a:srgbClr val="FFFFFF"/>
                </a:solidFill>
                <a:latin typeface="Poppins" pitchFamily="34" charset="0"/>
                <a:ea typeface="Poppins" pitchFamily="34" charset="-122"/>
                <a:cs typeface="Poppins" pitchFamily="34" charset="-120"/>
              </a:rPr>
              <a:t>(1 of 2)</a:t>
            </a:r>
            <a:endParaRPr lang="en-US" sz="3750" dirty="0"/>
          </a:p>
        </p:txBody>
      </p:sp>
      <p:sp>
        <p:nvSpPr>
          <p:cNvPr id="6" name="Shape 4"/>
          <p:cNvSpPr/>
          <p:nvPr/>
        </p:nvSpPr>
        <p:spPr>
          <a:xfrm>
            <a:off x="1143000" y="2371725"/>
            <a:ext cx="16002000" cy="1767632"/>
          </a:xfrm>
          <a:prstGeom prst="roundRect">
            <a:avLst>
              <a:gd name="adj" fmla="val 8622"/>
            </a:avLst>
          </a:prstGeom>
          <a:solidFill>
            <a:srgbClr val="FFFFFF">
              <a:alpha val="94000"/>
            </a:srgbClr>
          </a:solidFill>
          <a:ln/>
        </p:spPr>
      </p:sp>
      <p:sp>
        <p:nvSpPr>
          <p:cNvPr id="7" name="Text 5"/>
          <p:cNvSpPr/>
          <p:nvPr/>
        </p:nvSpPr>
        <p:spPr>
          <a:xfrm>
            <a:off x="1390650" y="2543175"/>
            <a:ext cx="17057370" cy="289471"/>
          </a:xfrm>
          <a:prstGeom prst="rect">
            <a:avLst/>
          </a:prstGeom>
          <a:noFill/>
          <a:ln/>
        </p:spPr>
        <p:txBody>
          <a:bodyPr wrap="square" lIns="25400" tIns="25400" rIns="25400" bIns="25400" rtlCol="0" anchor="t">
            <a:normAutofit/>
          </a:bodyPr>
          <a:lstStyle/>
          <a:p>
            <a:pPr algn="l" indent="0" marL="0">
              <a:lnSpc>
                <a:spcPct val="75429"/>
              </a:lnSpc>
              <a:buNone/>
            </a:pPr>
            <a:r>
              <a:rPr lang="en-US" sz="1800" b="1" spc="-36" kern="0" dirty="0">
                <a:solidFill>
                  <a:srgbClr val="005596"/>
                </a:solidFill>
                <a:latin typeface="Poppins" pitchFamily="34" charset="0"/>
                <a:ea typeface="Poppins" pitchFamily="34" charset="-122"/>
                <a:cs typeface="Poppins" pitchFamily="34" charset="-120"/>
              </a:rPr>
              <a:t>Goal 1: </a:t>
            </a:r>
            <a:pPr algn="l" indent="0" marL="0">
              <a:lnSpc>
                <a:spcPct val="75429"/>
              </a:lnSpc>
              <a:buNone/>
            </a:pPr>
            <a:r>
              <a:rPr lang="en-US" sz="1800" b="1" spc="-36" kern="0" dirty="0">
                <a:solidFill>
                  <a:srgbClr val="4597D3"/>
                </a:solidFill>
                <a:latin typeface="Poppins" pitchFamily="34" charset="0"/>
                <a:ea typeface="Poppins" pitchFamily="34" charset="-122"/>
                <a:cs typeface="Poppins" pitchFamily="34" charset="-120"/>
              </a:rPr>
              <a:t>Evaluate a skill for model invocation</a:t>
            </a:r>
            <a:endParaRPr lang="en-US" sz="1800" dirty="0"/>
          </a:p>
        </p:txBody>
      </p:sp>
      <p:sp>
        <p:nvSpPr>
          <p:cNvPr id="8" name="Text 6"/>
          <p:cNvSpPr/>
          <p:nvPr/>
        </p:nvSpPr>
        <p:spPr>
          <a:xfrm>
            <a:off x="1390650" y="2870746"/>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You've applied the three criteria to your epics-and-stories skill. If it's ready, the model can invoke it automatically. If not, you know exactly what's missing.</a:t>
            </a:r>
            <a:endParaRPr lang="en-US" sz="1800" dirty="0"/>
          </a:p>
        </p:txBody>
      </p:sp>
      <p:sp>
        <p:nvSpPr>
          <p:cNvPr id="9" name="Text 7"/>
          <p:cNvSpPr/>
          <p:nvPr/>
        </p:nvSpPr>
        <p:spPr>
          <a:xfrm>
            <a:off x="6610350" y="2870746"/>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Development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You've done the same for your Plan and Code skills. The decision is evidence-based.</a:t>
            </a:r>
            <a:endParaRPr lang="en-US" sz="1800" dirty="0"/>
          </a:p>
        </p:txBody>
      </p:sp>
      <p:sp>
        <p:nvSpPr>
          <p:cNvPr id="10" name="Text 8"/>
          <p:cNvSpPr/>
          <p:nvPr/>
        </p:nvSpPr>
        <p:spPr>
          <a:xfrm>
            <a:off x="11830050" y="2870746"/>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Testing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You've evaluated your review-implementation skill the same way. If the boundary isn't clear, you've documented why — the right call.</a:t>
            </a:r>
            <a:endParaRPr lang="en-US" sz="1800" dirty="0"/>
          </a:p>
        </p:txBody>
      </p:sp>
      <p:sp>
        <p:nvSpPr>
          <p:cNvPr id="11" name="Shape 9"/>
          <p:cNvSpPr/>
          <p:nvPr/>
        </p:nvSpPr>
        <p:spPr>
          <a:xfrm>
            <a:off x="1143000" y="4291757"/>
            <a:ext cx="16002000" cy="1767632"/>
          </a:xfrm>
          <a:prstGeom prst="roundRect">
            <a:avLst>
              <a:gd name="adj" fmla="val 8622"/>
            </a:avLst>
          </a:prstGeom>
          <a:solidFill>
            <a:srgbClr val="FFFFFF">
              <a:alpha val="94000"/>
            </a:srgbClr>
          </a:solidFill>
          <a:ln/>
        </p:spPr>
      </p:sp>
      <p:sp>
        <p:nvSpPr>
          <p:cNvPr id="12" name="Text 10"/>
          <p:cNvSpPr/>
          <p:nvPr/>
        </p:nvSpPr>
        <p:spPr>
          <a:xfrm>
            <a:off x="1390650" y="4463207"/>
            <a:ext cx="17057370" cy="289471"/>
          </a:xfrm>
          <a:prstGeom prst="rect">
            <a:avLst/>
          </a:prstGeom>
          <a:noFill/>
          <a:ln/>
        </p:spPr>
        <p:txBody>
          <a:bodyPr wrap="square" lIns="25400" tIns="25400" rIns="25400" bIns="25400" rtlCol="0" anchor="t">
            <a:normAutofit/>
          </a:bodyPr>
          <a:lstStyle/>
          <a:p>
            <a:pPr algn="l" indent="0" marL="0">
              <a:lnSpc>
                <a:spcPct val="75429"/>
              </a:lnSpc>
              <a:buNone/>
            </a:pPr>
            <a:r>
              <a:rPr lang="en-US" sz="1800" b="1" spc="-36" kern="0" dirty="0">
                <a:solidFill>
                  <a:srgbClr val="005596"/>
                </a:solidFill>
                <a:latin typeface="Poppins" pitchFamily="34" charset="0"/>
                <a:ea typeface="Poppins" pitchFamily="34" charset="-122"/>
                <a:cs typeface="Poppins" pitchFamily="34" charset="-120"/>
              </a:rPr>
              <a:t>Goal 2: </a:t>
            </a:r>
            <a:pPr algn="l" indent="0" marL="0">
              <a:lnSpc>
                <a:spcPct val="75429"/>
              </a:lnSpc>
              <a:buNone/>
            </a:pPr>
            <a:r>
              <a:rPr lang="en-US" sz="1800" b="1" spc="-36" kern="0" dirty="0">
                <a:solidFill>
                  <a:srgbClr val="4597D3"/>
                </a:solidFill>
                <a:latin typeface="Poppins" pitchFamily="34" charset="0"/>
                <a:ea typeface="Poppins" pitchFamily="34" charset="-122"/>
                <a:cs typeface="Poppins" pitchFamily="34" charset="-120"/>
              </a:rPr>
              <a:t>Enable model invocation (or document the gap)</a:t>
            </a:r>
            <a:endParaRPr lang="en-US" sz="1800" dirty="0"/>
          </a:p>
        </p:txBody>
      </p:sp>
      <p:sp>
        <p:nvSpPr>
          <p:cNvPr id="13" name="Text 11"/>
          <p:cNvSpPr/>
          <p:nvPr/>
        </p:nvSpPr>
        <p:spPr>
          <a:xfrm>
            <a:off x="1390650" y="4790777"/>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epics-and-stories skill may now auto-invoke when the context matches. Or you've written down exactly what needs to happen first.</a:t>
            </a:r>
            <a:endParaRPr lang="en-US" sz="1800" dirty="0"/>
          </a:p>
        </p:txBody>
      </p:sp>
      <p:sp>
        <p:nvSpPr>
          <p:cNvPr id="14" name="Text 12"/>
          <p:cNvSpPr/>
          <p:nvPr/>
        </p:nvSpPr>
        <p:spPr>
          <a:xfrm>
            <a:off x="6610350" y="4790777"/>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Development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Same for Plan and Code. Both outcomes are valid; vague "it's not ready" without specifics is not.</a:t>
            </a:r>
            <a:endParaRPr lang="en-US" sz="1800" dirty="0"/>
          </a:p>
        </p:txBody>
      </p:sp>
      <p:sp>
        <p:nvSpPr>
          <p:cNvPr id="15" name="Text 13"/>
          <p:cNvSpPr/>
          <p:nvPr/>
        </p:nvSpPr>
        <p:spPr>
          <a:xfrm>
            <a:off x="11830050" y="4790777"/>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Testing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Same for the review-implementation skill. The discipline is in the documentation.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97D3">
                  <a:alpha val="100000"/>
                </a:srgbClr>
              </a:gs>
              <a:gs pos="100000">
                <a:srgbClr val="5BC2A7">
                  <a:alpha val="100000"/>
                </a:srgbClr>
              </a:gs>
            </a:gsLst>
            <a:lin ang="2700000" scaled="0"/>
          </a:gradFill>
          <a:ln/>
        </p:spPr>
      </p:sp>
      <p:sp>
        <p:nvSpPr>
          <p:cNvPr id="3" name="Shape 1"/>
          <p:cNvSpPr/>
          <p:nvPr/>
        </p:nvSpPr>
        <p:spPr>
          <a:xfrm>
            <a:off x="1143000" y="857250"/>
            <a:ext cx="3306514" cy="533400"/>
          </a:xfrm>
          <a:prstGeom prst="roundRect">
            <a:avLst>
              <a:gd name="adj" fmla="val 50000"/>
            </a:avLst>
          </a:prstGeom>
          <a:solidFill>
            <a:srgbClr val="FFFFFF">
              <a:alpha val="20000"/>
            </a:srgbClr>
          </a:solidFill>
          <a:ln/>
        </p:spPr>
      </p:sp>
      <p:sp>
        <p:nvSpPr>
          <p:cNvPr id="4" name="Text 2"/>
          <p:cNvSpPr/>
          <p:nvPr/>
        </p:nvSpPr>
        <p:spPr>
          <a:xfrm>
            <a:off x="1390650" y="952500"/>
            <a:ext cx="291041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CLOSING</a:t>
            </a:r>
            <a:endParaRPr lang="en-US" sz="1800" dirty="0"/>
          </a:p>
        </p:txBody>
      </p:sp>
      <p:sp>
        <p:nvSpPr>
          <p:cNvPr id="5" name="Text 3"/>
          <p:cNvSpPr/>
          <p:nvPr/>
        </p:nvSpPr>
        <p:spPr>
          <a:xfrm>
            <a:off x="1143000" y="1619250"/>
            <a:ext cx="17602200"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spc="-75" kern="0" dirty="0">
                <a:solidFill>
                  <a:srgbClr val="FFFFFF"/>
                </a:solidFill>
                <a:latin typeface="Poppins" pitchFamily="34" charset="0"/>
                <a:ea typeface="Poppins" pitchFamily="34" charset="-122"/>
                <a:cs typeface="Poppins" pitchFamily="34" charset="-120"/>
              </a:rPr>
              <a:t>Before you go… </a:t>
            </a:r>
            <a:pPr algn="l" indent="0" marL="0">
              <a:lnSpc>
                <a:spcPct val="72368"/>
              </a:lnSpc>
              <a:buNone/>
            </a:pPr>
            <a:r>
              <a:rPr lang="en-US" sz="2250" b="1" spc="-75" kern="0" dirty="0">
                <a:solidFill>
                  <a:srgbClr val="FFFFFF"/>
                </a:solidFill>
                <a:latin typeface="Poppins" pitchFamily="34" charset="0"/>
                <a:ea typeface="Poppins" pitchFamily="34" charset="-122"/>
                <a:cs typeface="Poppins" pitchFamily="34" charset="-120"/>
              </a:rPr>
              <a:t>(2 of 2)</a:t>
            </a:r>
            <a:endParaRPr lang="en-US" sz="3750" dirty="0"/>
          </a:p>
        </p:txBody>
      </p:sp>
      <p:sp>
        <p:nvSpPr>
          <p:cNvPr id="6" name="Shape 4"/>
          <p:cNvSpPr/>
          <p:nvPr/>
        </p:nvSpPr>
        <p:spPr>
          <a:xfrm>
            <a:off x="1143000" y="2371725"/>
            <a:ext cx="16002000" cy="1767632"/>
          </a:xfrm>
          <a:prstGeom prst="roundRect">
            <a:avLst>
              <a:gd name="adj" fmla="val 8622"/>
            </a:avLst>
          </a:prstGeom>
          <a:solidFill>
            <a:srgbClr val="FFFFFF">
              <a:alpha val="94000"/>
            </a:srgbClr>
          </a:solidFill>
          <a:ln/>
        </p:spPr>
      </p:sp>
      <p:sp>
        <p:nvSpPr>
          <p:cNvPr id="7" name="Text 5"/>
          <p:cNvSpPr/>
          <p:nvPr/>
        </p:nvSpPr>
        <p:spPr>
          <a:xfrm>
            <a:off x="1390650" y="2543175"/>
            <a:ext cx="17057370" cy="289471"/>
          </a:xfrm>
          <a:prstGeom prst="rect">
            <a:avLst/>
          </a:prstGeom>
          <a:noFill/>
          <a:ln/>
        </p:spPr>
        <p:txBody>
          <a:bodyPr wrap="square" lIns="25400" tIns="25400" rIns="25400" bIns="25400" rtlCol="0" anchor="t">
            <a:normAutofit/>
          </a:bodyPr>
          <a:lstStyle/>
          <a:p>
            <a:pPr algn="l" indent="0" marL="0">
              <a:lnSpc>
                <a:spcPct val="75429"/>
              </a:lnSpc>
              <a:buNone/>
            </a:pPr>
            <a:r>
              <a:rPr lang="en-US" sz="1800" b="1" spc="-36" kern="0" dirty="0">
                <a:solidFill>
                  <a:srgbClr val="005596"/>
                </a:solidFill>
                <a:latin typeface="Poppins" pitchFamily="34" charset="0"/>
                <a:ea typeface="Poppins" pitchFamily="34" charset="-122"/>
                <a:cs typeface="Poppins" pitchFamily="34" charset="-120"/>
              </a:rPr>
              <a:t>Goal 3: </a:t>
            </a:r>
            <a:pPr algn="l" indent="0" marL="0">
              <a:lnSpc>
                <a:spcPct val="75429"/>
              </a:lnSpc>
              <a:buNone/>
            </a:pPr>
            <a:r>
              <a:rPr lang="en-US" sz="1800" b="1" spc="-36" kern="0" dirty="0">
                <a:solidFill>
                  <a:srgbClr val="4597D3"/>
                </a:solidFill>
                <a:latin typeface="Poppins" pitchFamily="34" charset="0"/>
                <a:ea typeface="Poppins" pitchFamily="34" charset="-122"/>
                <a:cs typeface="Poppins" pitchFamily="34" charset="-120"/>
              </a:rPr>
              <a:t>Write an adversarial agent prompt</a:t>
            </a:r>
            <a:endParaRPr lang="en-US" sz="1800" dirty="0"/>
          </a:p>
        </p:txBody>
      </p:sp>
      <p:sp>
        <p:nvSpPr>
          <p:cNvPr id="8" name="Text 6"/>
          <p:cNvSpPr/>
          <p:nvPr/>
        </p:nvSpPr>
        <p:spPr>
          <a:xfrm>
            <a:off x="1390650" y="2870746"/>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 have an adversarial skill that challenges your epics-and-stories output — finding what your evaluator missed. Your proactive quality layer.</a:t>
            </a:r>
            <a:endParaRPr lang="en-US" sz="1800" dirty="0"/>
          </a:p>
        </p:txBody>
      </p:sp>
      <p:sp>
        <p:nvSpPr>
          <p:cNvPr id="9" name="Text 7"/>
          <p:cNvSpPr/>
          <p:nvPr/>
        </p:nvSpPr>
        <p:spPr>
          <a:xfrm>
            <a:off x="6610350" y="2870746"/>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Development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 have an adversarial skill that challenges your Plan → Code output. It finds gaps the plan didn't address.</a:t>
            </a:r>
            <a:endParaRPr lang="en-US" sz="1800" dirty="0"/>
          </a:p>
        </p:txBody>
      </p:sp>
      <p:sp>
        <p:nvSpPr>
          <p:cNvPr id="10" name="Text 8"/>
          <p:cNvSpPr/>
          <p:nvPr/>
        </p:nvSpPr>
        <p:spPr>
          <a:xfrm>
            <a:off x="11830050" y="2870746"/>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Testing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 have an adversarial skill that challenges your review-implementation output. It finds issues your EC didn't define.</a:t>
            </a:r>
            <a:endParaRPr lang="en-US" sz="1800" dirty="0"/>
          </a:p>
        </p:txBody>
      </p:sp>
      <p:sp>
        <p:nvSpPr>
          <p:cNvPr id="11" name="Shape 9"/>
          <p:cNvSpPr/>
          <p:nvPr/>
        </p:nvSpPr>
        <p:spPr>
          <a:xfrm>
            <a:off x="1143000" y="4291757"/>
            <a:ext cx="16002000" cy="1767632"/>
          </a:xfrm>
          <a:prstGeom prst="roundRect">
            <a:avLst>
              <a:gd name="adj" fmla="val 8622"/>
            </a:avLst>
          </a:prstGeom>
          <a:solidFill>
            <a:srgbClr val="FFFFFF">
              <a:alpha val="94000"/>
            </a:srgbClr>
          </a:solidFill>
          <a:ln/>
        </p:spPr>
      </p:sp>
      <p:sp>
        <p:nvSpPr>
          <p:cNvPr id="12" name="Text 10"/>
          <p:cNvSpPr/>
          <p:nvPr/>
        </p:nvSpPr>
        <p:spPr>
          <a:xfrm>
            <a:off x="1390650" y="4463207"/>
            <a:ext cx="17057370" cy="289471"/>
          </a:xfrm>
          <a:prstGeom prst="rect">
            <a:avLst/>
          </a:prstGeom>
          <a:noFill/>
          <a:ln/>
        </p:spPr>
        <p:txBody>
          <a:bodyPr wrap="square" lIns="25400" tIns="25400" rIns="25400" bIns="25400" rtlCol="0" anchor="t">
            <a:normAutofit/>
          </a:bodyPr>
          <a:lstStyle/>
          <a:p>
            <a:pPr algn="l" indent="0" marL="0">
              <a:lnSpc>
                <a:spcPct val="75429"/>
              </a:lnSpc>
              <a:buNone/>
            </a:pPr>
            <a:r>
              <a:rPr lang="en-US" sz="1800" b="1" spc="-36" kern="0" dirty="0">
                <a:solidFill>
                  <a:srgbClr val="005596"/>
                </a:solidFill>
                <a:latin typeface="Poppins" pitchFamily="34" charset="0"/>
                <a:ea typeface="Poppins" pitchFamily="34" charset="-122"/>
                <a:cs typeface="Poppins" pitchFamily="34" charset="-120"/>
              </a:rPr>
              <a:t>Goal 4: </a:t>
            </a:r>
            <a:pPr algn="l" indent="0" marL="0">
              <a:lnSpc>
                <a:spcPct val="75429"/>
              </a:lnSpc>
              <a:buNone/>
            </a:pPr>
            <a:r>
              <a:rPr lang="en-US" sz="1800" b="1" spc="-36" kern="0" dirty="0">
                <a:solidFill>
                  <a:srgbClr val="4597D3"/>
                </a:solidFill>
                <a:latin typeface="Poppins" pitchFamily="34" charset="0"/>
                <a:ea typeface="Poppins" pitchFamily="34" charset="-122"/>
                <a:cs typeface="Poppins" pitchFamily="34" charset="-120"/>
              </a:rPr>
              <a:t>Understand how they complement each other</a:t>
            </a:r>
            <a:endParaRPr lang="en-US" sz="1800" dirty="0"/>
          </a:p>
        </p:txBody>
      </p:sp>
      <p:sp>
        <p:nvSpPr>
          <p:cNvPr id="13" name="Text 11"/>
          <p:cNvSpPr/>
          <p:nvPr/>
        </p:nvSpPr>
        <p:spPr>
          <a:xfrm>
            <a:off x="1390650" y="4790777"/>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Python evaluator says "does the output meet the EC?" Your adversarial agent says "what did the EC miss?" Both are needed.</a:t>
            </a:r>
            <a:endParaRPr lang="en-US" sz="1800" dirty="0"/>
          </a:p>
        </p:txBody>
      </p:sp>
      <p:sp>
        <p:nvSpPr>
          <p:cNvPr id="14" name="Text 12"/>
          <p:cNvSpPr/>
          <p:nvPr/>
        </p:nvSpPr>
        <p:spPr>
          <a:xfrm>
            <a:off x="6610350" y="4790777"/>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Development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evaluator measures Plan → Code quality. Your adversarial agent finds what the plan missed. Together, a complete quality strategy.</a:t>
            </a:r>
            <a:endParaRPr lang="en-US" sz="1800" dirty="0"/>
          </a:p>
        </p:txBody>
      </p:sp>
      <p:sp>
        <p:nvSpPr>
          <p:cNvPr id="15" name="Text 13"/>
          <p:cNvSpPr/>
          <p:nvPr/>
        </p:nvSpPr>
        <p:spPr>
          <a:xfrm>
            <a:off x="11830050" y="4790777"/>
            <a:ext cx="5219319" cy="1135261"/>
          </a:xfrm>
          <a:prstGeom prst="rect">
            <a:avLst/>
          </a:prstGeom>
          <a:noFill/>
          <a:ln/>
        </p:spPr>
        <p:txBody>
          <a:bodyPr wrap="square" lIns="25400" tIns="25400" rIns="25400" bIns="25400" rtlCol="0" anchor="t">
            <a:normAutofit/>
          </a:bodyPr>
          <a:lstStyle/>
          <a:p>
            <a:pPr algn="l" indent="0" marL="0">
              <a:lnSpc>
                <a:spcPct val="73846"/>
              </a:lnSpc>
              <a:buNone/>
            </a:pPr>
            <a:r>
              <a:rPr lang="en-US" sz="1800" b="1" dirty="0">
                <a:solidFill>
                  <a:srgbClr val="0E1A26"/>
                </a:solidFill>
                <a:latin typeface="Khula" pitchFamily="34" charset="0"/>
                <a:ea typeface="Khula" pitchFamily="34" charset="-122"/>
                <a:cs typeface="Khula" pitchFamily="34" charset="-120"/>
              </a:rPr>
              <a:t>Testing — </a:t>
            </a:r>
            <a:pPr algn="l" indent="0" marL="0">
              <a:lnSpc>
                <a:spcPct val="73846"/>
              </a:lnSpc>
              <a:buNone/>
            </a:pPr>
            <a:r>
              <a:rPr lang="en-US" sz="1800" dirty="0">
                <a:solidFill>
                  <a:srgbClr val="0E1A26"/>
                </a:solidFill>
                <a:latin typeface="Khula" pitchFamily="34" charset="0"/>
                <a:ea typeface="Khula" pitchFamily="34" charset="-122"/>
                <a:cs typeface="Khula" pitchFamily="34" charset="-120"/>
              </a:rPr>
              <a:t>Your evaluator checks review coverage. Your adversarial agent finds issues the coverage didn't anticipate. Together they make your reviews stronger.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2026-08-05T16:49:29Z</dcterms:created>
  <dcterms:modified xsi:type="dcterms:W3CDTF">2026-08-05T16:49:29Z</dcterms:modified>
</cp:coreProperties>
</file>