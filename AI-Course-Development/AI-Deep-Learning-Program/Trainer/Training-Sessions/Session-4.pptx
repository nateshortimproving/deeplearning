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Session 4 as the shift from informal, intuition-driven skill iteration to systematic, measured iteration. This is Loop 2's first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Surfaces the gap between informal evaluation (intuition) and systematic evaluation (EDD). Most participants have been changing skills without measurement — this session fixes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goal and its per-role relevance; invite each role to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goal and its per-role relevance; invite each role to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points and pacing live here, never on the slide face. Walk the table row by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phase, emphasizing the one-change-per-iteration rule as the load-bearing discipline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ordering: deterministic checks always run first, cheap and instant. LLM judges are reserved for judgment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two questions participants ask most: why not just string-match, and why not a config-based eval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JSON example live — point out the pass/score/reasoning per criterion, then the aggregate.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each row as a real behavior shift participants recognize from the past 6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evaluation script live against an AC generation skill's real output from a participant or the sample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checkpoints, common blockers, and what to watch for while circulating.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checkpoints, common blockers, and what to watch for while circulating.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checkpoints, common blockers, and what to watch for while circulating.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 beat of silence after each reflection prompt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 beat of silence after each reflection prompt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05596">
                  <a:alpha val="100000"/>
                </a:srgbClr>
              </a:gs>
              <a:gs pos="60000">
                <a:srgbClr val="4597D3">
                  <a:alpha val="100000"/>
                </a:srgbClr>
              </a:gs>
              <a:gs pos="100000">
                <a:srgbClr val="5BC2A7">
                  <a:alpha val="100000"/>
                </a:srgbClr>
              </a:gs>
            </a:gsLst>
            <a:lin ang="2700000" scaled="0"/>
          </a:gradFill>
          <a:ln/>
        </p:spPr>
      </p:sp>
      <p:sp>
        <p:nvSpPr>
          <p:cNvPr id="3" name="Shape 1"/>
          <p:cNvSpPr/>
          <p:nvPr/>
        </p:nvSpPr>
        <p:spPr>
          <a:xfrm>
            <a:off x="1143000" y="2611785"/>
            <a:ext cx="2965103" cy="533400"/>
          </a:xfrm>
          <a:prstGeom prst="roundRect">
            <a:avLst>
              <a:gd name="adj" fmla="val 50000"/>
            </a:avLst>
          </a:prstGeom>
          <a:solidFill>
            <a:srgbClr val="FFFFFF">
              <a:alpha val="18000"/>
            </a:srgbClr>
          </a:solidFill>
          <a:ln/>
        </p:spPr>
      </p:sp>
      <p:sp>
        <p:nvSpPr>
          <p:cNvPr id="4" name="Text 2"/>
          <p:cNvSpPr/>
          <p:nvPr/>
        </p:nvSpPr>
        <p:spPr>
          <a:xfrm>
            <a:off x="1390650" y="2707035"/>
            <a:ext cx="2558756" cy="381000"/>
          </a:xfrm>
          <a:prstGeom prst="rect">
            <a:avLst/>
          </a:prstGeom>
          <a:noFill/>
          <a:ln/>
        </p:spPr>
        <p:txBody>
          <a:bodyPr wrap="none" lIns="25400" tIns="25400" rIns="25400" bIns="25400" rtlCol="0" anchor="ctr">
            <a:normAutofit/>
          </a:bodyPr>
          <a:lstStyle/>
          <a:p>
            <a:pPr algn="l" indent="0" marL="0">
              <a:lnSpc>
                <a:spcPct val="128571"/>
              </a:lnSpc>
              <a:buNone/>
            </a:pPr>
            <a:r>
              <a:rPr lang="en-US" sz="1800" b="1" spc="108" kern="0" dirty="0">
                <a:solidFill>
                  <a:srgbClr val="FFFFFF"/>
                </a:solidFill>
                <a:latin typeface="Arial" pitchFamily="34" charset="0"/>
                <a:ea typeface="Arial" pitchFamily="34" charset="-122"/>
                <a:cs typeface="Arial" pitchFamily="34" charset="-120"/>
              </a:rPr>
              <a:t>SLIDE TYPE — INTRO</a:t>
            </a:r>
            <a:endParaRPr lang="en-US" sz="1800" dirty="0"/>
          </a:p>
        </p:txBody>
      </p:sp>
      <p:sp>
        <p:nvSpPr>
          <p:cNvPr id="5" name="Shape 3"/>
          <p:cNvSpPr/>
          <p:nvPr/>
        </p:nvSpPr>
        <p:spPr>
          <a:xfrm>
            <a:off x="1143000" y="3526185"/>
            <a:ext cx="1395561" cy="533400"/>
          </a:xfrm>
          <a:prstGeom prst="roundRect">
            <a:avLst>
              <a:gd name="adj" fmla="val 50000"/>
            </a:avLst>
          </a:prstGeom>
          <a:solidFill>
            <a:srgbClr val="FFFFFF"/>
          </a:solidFill>
          <a:ln/>
        </p:spPr>
      </p:sp>
      <p:sp>
        <p:nvSpPr>
          <p:cNvPr id="6" name="Text 4"/>
          <p:cNvSpPr/>
          <p:nvPr/>
        </p:nvSpPr>
        <p:spPr>
          <a:xfrm>
            <a:off x="1390650" y="3621435"/>
            <a:ext cx="976461" cy="381000"/>
          </a:xfrm>
          <a:prstGeom prst="rect">
            <a:avLst/>
          </a:prstGeom>
          <a:noFill/>
          <a:ln/>
        </p:spPr>
        <p:txBody>
          <a:bodyPr wrap="none" lIns="25400" tIns="25400" rIns="25400" bIns="25400" rtlCol="0" anchor="ctr">
            <a:normAutofit/>
          </a:bodyPr>
          <a:lstStyle/>
          <a:p>
            <a:pPr algn="l" indent="0" marL="0">
              <a:lnSpc>
                <a:spcPct val="128571"/>
              </a:lnSpc>
              <a:buNone/>
            </a:pPr>
            <a:r>
              <a:rPr lang="en-US" sz="1800" b="1" spc="108" kern="0" dirty="0">
                <a:solidFill>
                  <a:srgbClr val="005596"/>
                </a:solidFill>
                <a:latin typeface="Arial" pitchFamily="34" charset="0"/>
                <a:ea typeface="Arial" pitchFamily="34" charset="-122"/>
                <a:cs typeface="Arial" pitchFamily="34" charset="-120"/>
              </a:rPr>
              <a:t>WEEK 7</a:t>
            </a:r>
            <a:endParaRPr lang="en-US" sz="1800" dirty="0"/>
          </a:p>
        </p:txBody>
      </p:sp>
      <p:sp>
        <p:nvSpPr>
          <p:cNvPr id="7" name="Shape 5"/>
          <p:cNvSpPr/>
          <p:nvPr/>
        </p:nvSpPr>
        <p:spPr>
          <a:xfrm>
            <a:off x="2767161" y="3526185"/>
            <a:ext cx="1367730" cy="533400"/>
          </a:xfrm>
          <a:prstGeom prst="roundRect">
            <a:avLst>
              <a:gd name="adj" fmla="val 50000"/>
            </a:avLst>
          </a:prstGeom>
          <a:solidFill>
            <a:srgbClr val="FFFFFF"/>
          </a:solidFill>
          <a:ln/>
        </p:spPr>
      </p:sp>
      <p:sp>
        <p:nvSpPr>
          <p:cNvPr id="8" name="Text 6"/>
          <p:cNvSpPr/>
          <p:nvPr/>
        </p:nvSpPr>
        <p:spPr>
          <a:xfrm>
            <a:off x="3014811" y="3621435"/>
            <a:ext cx="948630" cy="381000"/>
          </a:xfrm>
          <a:prstGeom prst="rect">
            <a:avLst/>
          </a:prstGeom>
          <a:noFill/>
          <a:ln/>
        </p:spPr>
        <p:txBody>
          <a:bodyPr wrap="none" lIns="25400" tIns="25400" rIns="25400" bIns="25400" rtlCol="0" anchor="ctr">
            <a:normAutofit/>
          </a:bodyPr>
          <a:lstStyle/>
          <a:p>
            <a:pPr algn="l" indent="0" marL="0">
              <a:lnSpc>
                <a:spcPct val="128571"/>
              </a:lnSpc>
              <a:buNone/>
            </a:pPr>
            <a:r>
              <a:rPr lang="en-US" sz="1800" b="1" spc="108" kern="0" dirty="0">
                <a:solidFill>
                  <a:srgbClr val="005596"/>
                </a:solidFill>
                <a:latin typeface="Arial" pitchFamily="34" charset="0"/>
                <a:ea typeface="Arial" pitchFamily="34" charset="-122"/>
                <a:cs typeface="Arial" pitchFamily="34" charset="-120"/>
              </a:rPr>
              <a:t>LOOP 2</a:t>
            </a:r>
            <a:endParaRPr lang="en-US" sz="1800" dirty="0"/>
          </a:p>
        </p:txBody>
      </p:sp>
      <p:sp>
        <p:nvSpPr>
          <p:cNvPr id="9" name="Shape 7"/>
          <p:cNvSpPr/>
          <p:nvPr/>
        </p:nvSpPr>
        <p:spPr>
          <a:xfrm>
            <a:off x="4363492" y="3526185"/>
            <a:ext cx="2963168" cy="533400"/>
          </a:xfrm>
          <a:prstGeom prst="roundRect">
            <a:avLst>
              <a:gd name="adj" fmla="val 50000"/>
            </a:avLst>
          </a:prstGeom>
          <a:solidFill>
            <a:srgbClr val="FFFFFF"/>
          </a:solidFill>
          <a:ln/>
        </p:spPr>
      </p:sp>
      <p:sp>
        <p:nvSpPr>
          <p:cNvPr id="10" name="Text 8"/>
          <p:cNvSpPr/>
          <p:nvPr/>
        </p:nvSpPr>
        <p:spPr>
          <a:xfrm>
            <a:off x="4611142" y="3621435"/>
            <a:ext cx="2556763" cy="381000"/>
          </a:xfrm>
          <a:prstGeom prst="rect">
            <a:avLst/>
          </a:prstGeom>
          <a:noFill/>
          <a:ln/>
        </p:spPr>
        <p:txBody>
          <a:bodyPr wrap="none" lIns="25400" tIns="25400" rIns="25400" bIns="25400" rtlCol="0" anchor="ctr">
            <a:normAutofit/>
          </a:bodyPr>
          <a:lstStyle/>
          <a:p>
            <a:pPr algn="l" indent="0" marL="0">
              <a:lnSpc>
                <a:spcPct val="128571"/>
              </a:lnSpc>
              <a:buNone/>
            </a:pPr>
            <a:r>
              <a:rPr lang="en-US" sz="1800" b="1" spc="108" kern="0" dirty="0">
                <a:solidFill>
                  <a:srgbClr val="005596"/>
                </a:solidFill>
                <a:latin typeface="Arial" pitchFamily="34" charset="0"/>
                <a:ea typeface="Arial" pitchFamily="34" charset="-122"/>
                <a:cs typeface="Arial" pitchFamily="34" charset="-120"/>
              </a:rPr>
              <a:t>PRODUCT/PROCESS</a:t>
            </a:r>
            <a:endParaRPr lang="en-US" sz="1800" dirty="0"/>
          </a:p>
        </p:txBody>
      </p:sp>
      <p:sp>
        <p:nvSpPr>
          <p:cNvPr id="11" name="Text 9"/>
          <p:cNvSpPr/>
          <p:nvPr/>
        </p:nvSpPr>
        <p:spPr>
          <a:xfrm>
            <a:off x="1143000" y="4402485"/>
            <a:ext cx="16482060" cy="1558230"/>
          </a:xfrm>
          <a:prstGeom prst="rect">
            <a:avLst/>
          </a:prstGeom>
          <a:noFill/>
          <a:ln/>
        </p:spPr>
        <p:txBody>
          <a:bodyPr wrap="square" lIns="25400" tIns="25400" rIns="25400" bIns="25400" rtlCol="0" anchor="t">
            <a:normAutofit/>
          </a:bodyPr>
          <a:lstStyle/>
          <a:p>
            <a:pPr algn="l" indent="0" marL="0">
              <a:lnSpc>
                <a:spcPct val="91724"/>
              </a:lnSpc>
              <a:buNone/>
            </a:pPr>
            <a:r>
              <a:rPr lang="en-US" sz="5700" b="1" spc="-114" kern="0" dirty="0">
                <a:solidFill>
                  <a:srgbClr val="FFFFFF"/>
                </a:solidFill>
                <a:latin typeface="Arial" pitchFamily="34" charset="0"/>
                <a:ea typeface="Arial" pitchFamily="34" charset="-122"/>
                <a:cs typeface="Arial" pitchFamily="34" charset="-120"/>
              </a:rPr>
              <a:t>Evaluation-Driven Development with Python Evaluations</a:t>
            </a:r>
            <a:endParaRPr lang="en-US" sz="5700" dirty="0"/>
          </a:p>
        </p:txBody>
      </p:sp>
      <p:sp>
        <p:nvSpPr>
          <p:cNvPr id="12" name="Text 10"/>
          <p:cNvSpPr/>
          <p:nvPr/>
        </p:nvSpPr>
        <p:spPr>
          <a:xfrm>
            <a:off x="1143000" y="6208365"/>
            <a:ext cx="15206662" cy="1238250"/>
          </a:xfrm>
          <a:prstGeom prst="rect">
            <a:avLst/>
          </a:prstGeom>
          <a:noFill/>
          <a:ln/>
        </p:spPr>
        <p:txBody>
          <a:bodyPr wrap="square" lIns="25400" tIns="25400" rIns="25400" bIns="25400" rtlCol="0" anchor="t">
            <a:normAutofit/>
          </a:bodyPr>
          <a:lstStyle/>
          <a:p>
            <a:pPr algn="l" indent="0" marL="0">
              <a:lnSpc>
                <a:spcPct val="93333"/>
              </a:lnSpc>
              <a:buNone/>
            </a:pPr>
            <a:r>
              <a:rPr lang="en-US" sz="2100" dirty="0">
                <a:solidFill>
                  <a:srgbClr val="FFFFFF"/>
                </a:solidFill>
                <a:latin typeface="Khula" pitchFamily="34" charset="0"/>
                <a:ea typeface="Khula" pitchFamily="34" charset="-122"/>
                <a:cs typeface="Khula" pitchFamily="34" charset="-120"/>
              </a:rPr>
              <a:t>You've been evaluating skills informally for 6 weeks — checking output against EC you wrote by hand. Today evaluation becomes systematic: deterministic checks first (fast, free, structural), then LLM judges second (qualitative judgment). We write Python evaluation scripts that use both — and use them to drive iteration.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33500" y="2928938"/>
            <a:ext cx="3473500" cy="533400"/>
          </a:xfrm>
          <a:prstGeom prst="roundRect">
            <a:avLst>
              <a:gd name="adj" fmla="val 50000"/>
            </a:avLst>
          </a:prstGeom>
          <a:solidFill>
            <a:srgbClr val="F5BB41"/>
          </a:solidFill>
          <a:ln/>
        </p:spPr>
      </p:sp>
      <p:sp>
        <p:nvSpPr>
          <p:cNvPr id="3" name="Text 1"/>
          <p:cNvSpPr/>
          <p:nvPr/>
        </p:nvSpPr>
        <p:spPr>
          <a:xfrm>
            <a:off x="1581150" y="3024188"/>
            <a:ext cx="3082405"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0E1A26"/>
                </a:solidFill>
                <a:latin typeface="Poppins" pitchFamily="34" charset="0"/>
                <a:ea typeface="Poppins" pitchFamily="34" charset="-122"/>
                <a:cs typeface="Poppins" pitchFamily="34" charset="-120"/>
              </a:rPr>
              <a:t>SLIDE TYPE — CHECK-IN</a:t>
            </a:r>
            <a:endParaRPr lang="en-US" sz="1800" dirty="0"/>
          </a:p>
        </p:txBody>
      </p:sp>
      <p:sp>
        <p:nvSpPr>
          <p:cNvPr id="4" name="Text 2"/>
          <p:cNvSpPr/>
          <p:nvPr/>
        </p:nvSpPr>
        <p:spPr>
          <a:xfrm>
            <a:off x="1333500" y="3881438"/>
            <a:ext cx="1718310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108" kern="0" dirty="0">
                <a:solidFill>
                  <a:srgbClr val="4597D3"/>
                </a:solidFill>
                <a:latin typeface="Poppins" pitchFamily="34" charset="0"/>
                <a:ea typeface="Poppins" pitchFamily="34" charset="-122"/>
                <a:cs typeface="Poppins" pitchFamily="34" charset="-120"/>
              </a:rPr>
              <a:t>CHECK-IN</a:t>
            </a:r>
            <a:endParaRPr lang="en-US" sz="1800" dirty="0"/>
          </a:p>
        </p:txBody>
      </p:sp>
      <p:sp>
        <p:nvSpPr>
          <p:cNvPr id="5" name="Text 3"/>
          <p:cNvSpPr/>
          <p:nvPr/>
        </p:nvSpPr>
        <p:spPr>
          <a:xfrm>
            <a:off x="1333500" y="4414838"/>
            <a:ext cx="16089630" cy="1133475"/>
          </a:xfrm>
          <a:prstGeom prst="rect">
            <a:avLst/>
          </a:prstGeom>
          <a:noFill/>
          <a:ln/>
        </p:spPr>
        <p:txBody>
          <a:bodyPr wrap="square" lIns="25400" tIns="25400" rIns="25400" bIns="25400" rtlCol="0" anchor="t">
            <a:normAutofit/>
          </a:bodyPr>
          <a:lstStyle/>
          <a:p>
            <a:pPr algn="l" indent="0" marL="0">
              <a:lnSpc>
                <a:spcPct val="83333"/>
              </a:lnSpc>
              <a:buNone/>
            </a:pPr>
            <a:r>
              <a:rPr lang="en-US" sz="3450" b="1" spc="-69" kern="0" dirty="0">
                <a:solidFill>
                  <a:srgbClr val="005596"/>
                </a:solidFill>
                <a:latin typeface="Poppins" pitchFamily="34" charset="0"/>
                <a:ea typeface="Poppins" pitchFamily="34" charset="-122"/>
                <a:cs typeface="Poppins" pitchFamily="34" charset="-120"/>
              </a:rPr>
              <a:t>In the past 6 weeks, did you change a skill? How do you know if the change made it better — or just different?</a:t>
            </a:r>
            <a:endParaRPr lang="en-US" sz="3450" dirty="0"/>
          </a:p>
        </p:txBody>
      </p:sp>
      <p:sp>
        <p:nvSpPr>
          <p:cNvPr id="6" name="Shape 4"/>
          <p:cNvSpPr/>
          <p:nvPr/>
        </p:nvSpPr>
        <p:spPr>
          <a:xfrm>
            <a:off x="1333500" y="5929313"/>
            <a:ext cx="15125700" cy="1428750"/>
          </a:xfrm>
          <a:prstGeom prst="roundRect">
            <a:avLst>
              <a:gd name="adj" fmla="val 10667"/>
            </a:avLst>
          </a:prstGeom>
          <a:solidFill>
            <a:srgbClr val="F4F7FA"/>
          </a:solidFill>
          <a:ln/>
        </p:spPr>
      </p:sp>
      <p:sp>
        <p:nvSpPr>
          <p:cNvPr id="7" name="Text 5"/>
          <p:cNvSpPr/>
          <p:nvPr/>
        </p:nvSpPr>
        <p:spPr>
          <a:xfrm>
            <a:off x="1752600" y="6272213"/>
            <a:ext cx="14716125" cy="781050"/>
          </a:xfrm>
          <a:prstGeom prst="rect">
            <a:avLst/>
          </a:prstGeom>
          <a:noFill/>
          <a:ln/>
        </p:spPr>
        <p:txBody>
          <a:bodyPr wrap="square" lIns="25400" tIns="25400" rIns="25400" bIns="25400" rtlCol="0" anchor="t">
            <a:normAutofit/>
          </a:bodyPr>
          <a:lstStyle/>
          <a:p>
            <a:pPr algn="l" indent="0" marL="0">
              <a:lnSpc>
                <a:spcPct val="92857"/>
              </a:lnSpc>
              <a:buNone/>
            </a:pPr>
            <a:r>
              <a:rPr lang="en-US" sz="1950" dirty="0">
                <a:solidFill>
                  <a:srgbClr val="0E1A26"/>
                </a:solidFill>
                <a:latin typeface="Khula" pitchFamily="34" charset="0"/>
                <a:ea typeface="Khula" pitchFamily="34" charset="-122"/>
                <a:cs typeface="Khula" pitchFamily="34" charset="-120"/>
              </a:rPr>
              <a:t>Most participants have been changing skills without measurement. This session fixes that with a systematic, repeatable evaluation discipline.</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762000"/>
            <a:ext cx="4156621" cy="533400"/>
          </a:xfrm>
          <a:prstGeom prst="roundRect">
            <a:avLst>
              <a:gd name="adj" fmla="val 50000"/>
            </a:avLst>
          </a:prstGeom>
          <a:solidFill>
            <a:srgbClr val="9D1D96"/>
          </a:solidFill>
          <a:ln/>
        </p:spPr>
      </p:sp>
      <p:sp>
        <p:nvSpPr>
          <p:cNvPr id="3" name="Text 1"/>
          <p:cNvSpPr/>
          <p:nvPr/>
        </p:nvSpPr>
        <p:spPr>
          <a:xfrm>
            <a:off x="1390650" y="857250"/>
            <a:ext cx="3786019"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SESSION GOALS</a:t>
            </a:r>
            <a:endParaRPr lang="en-US" sz="1800" dirty="0"/>
          </a:p>
        </p:txBody>
      </p:sp>
      <p:sp>
        <p:nvSpPr>
          <p:cNvPr id="4" name="Text 2"/>
          <p:cNvSpPr/>
          <p:nvPr/>
        </p:nvSpPr>
        <p:spPr>
          <a:xfrm>
            <a:off x="1143000" y="1543050"/>
            <a:ext cx="17602200" cy="540990"/>
          </a:xfrm>
          <a:prstGeom prst="rect">
            <a:avLst/>
          </a:prstGeom>
          <a:noFill/>
          <a:ln/>
        </p:spPr>
        <p:txBody>
          <a:bodyPr wrap="square" lIns="25400" tIns="25400" rIns="25400" bIns="25400" rtlCol="0" anchor="t">
            <a:normAutofit/>
          </a:bodyPr>
          <a:lstStyle/>
          <a:p>
            <a:pPr algn="l" indent="0" marL="0">
              <a:lnSpc>
                <a:spcPct val="73333"/>
              </a:lnSpc>
              <a:buNone/>
            </a:pPr>
            <a:r>
              <a:rPr lang="en-US" sz="3600" b="1" spc="-72" kern="0" dirty="0">
                <a:solidFill>
                  <a:srgbClr val="005596"/>
                </a:solidFill>
                <a:latin typeface="Poppins" pitchFamily="34" charset="0"/>
                <a:ea typeface="Poppins" pitchFamily="34" charset="-122"/>
                <a:cs typeface="Poppins" pitchFamily="34" charset="-120"/>
              </a:rPr>
              <a:t>Session Goals </a:t>
            </a:r>
            <a:pPr algn="l" indent="0" marL="0">
              <a:lnSpc>
                <a:spcPct val="73333"/>
              </a:lnSpc>
              <a:buNone/>
            </a:pPr>
            <a:r>
              <a:rPr lang="en-US" sz="2250" b="1" spc="-72" kern="0" dirty="0">
                <a:solidFill>
                  <a:srgbClr val="005596"/>
                </a:solidFill>
                <a:latin typeface="Poppins" pitchFamily="34" charset="0"/>
                <a:ea typeface="Poppins" pitchFamily="34" charset="-122"/>
                <a:cs typeface="Poppins" pitchFamily="34" charset="-120"/>
              </a:rPr>
              <a:t>(1 of 2)</a:t>
            </a:r>
            <a:endParaRPr lang="en-US" sz="3600" dirty="0"/>
          </a:p>
        </p:txBody>
      </p:sp>
      <p:sp>
        <p:nvSpPr>
          <p:cNvPr id="5" name="Shape 3"/>
          <p:cNvSpPr/>
          <p:nvPr/>
        </p:nvSpPr>
        <p:spPr>
          <a:xfrm>
            <a:off x="1143000" y="2293590"/>
            <a:ext cx="16002000" cy="2434233"/>
          </a:xfrm>
          <a:prstGeom prst="roundRect">
            <a:avLst>
              <a:gd name="adj" fmla="val 6261"/>
            </a:avLst>
          </a:prstGeom>
          <a:ln w="19050">
            <a:solidFill>
              <a:srgbClr val="E3E9EF"/>
            </a:solidFill>
            <a:prstDash val="solid"/>
          </a:ln>
        </p:spPr>
      </p:sp>
      <p:sp>
        <p:nvSpPr>
          <p:cNvPr id="6" name="Text 4"/>
          <p:cNvSpPr/>
          <p:nvPr/>
        </p:nvSpPr>
        <p:spPr>
          <a:xfrm>
            <a:off x="1409700" y="2465040"/>
            <a:ext cx="17015460" cy="300038"/>
          </a:xfrm>
          <a:prstGeom prst="rect">
            <a:avLst/>
          </a:prstGeom>
          <a:noFill/>
          <a:ln/>
        </p:spPr>
        <p:txBody>
          <a:bodyPr wrap="square" lIns="25400" tIns="25400" rIns="25400" bIns="25400" rtlCol="0" anchor="t">
            <a:normAutofit/>
          </a:bodyPr>
          <a:lstStyle/>
          <a:p>
            <a:pPr algn="l" indent="0" marL="0">
              <a:lnSpc>
                <a:spcPct val="72368"/>
              </a:lnSpc>
              <a:buNone/>
            </a:pPr>
            <a:r>
              <a:rPr lang="en-US" sz="1875" b="1" spc="-37" kern="0" dirty="0">
                <a:solidFill>
                  <a:srgbClr val="0E1A26"/>
                </a:solidFill>
                <a:latin typeface="Poppins" pitchFamily="34" charset="0"/>
                <a:ea typeface="Poppins" pitchFamily="34" charset="-122"/>
                <a:cs typeface="Poppins" pitchFamily="34" charset="-120"/>
              </a:rPr>
              <a:t>Goal 1: </a:t>
            </a:r>
            <a:pPr algn="l" indent="0" marL="0">
              <a:lnSpc>
                <a:spcPct val="72368"/>
              </a:lnSpc>
              <a:buNone/>
            </a:pPr>
            <a:r>
              <a:rPr lang="en-US" sz="1875" b="1" spc="-37" kern="0" dirty="0">
                <a:solidFill>
                  <a:srgbClr val="4597D3"/>
                </a:solidFill>
                <a:latin typeface="Poppins" pitchFamily="34" charset="0"/>
                <a:ea typeface="Poppins" pitchFamily="34" charset="-122"/>
                <a:cs typeface="Poppins" pitchFamily="34" charset="-120"/>
              </a:rPr>
              <a:t>Articulate EDD — Red/Green/Refactor applied to skills</a:t>
            </a:r>
            <a:endParaRPr lang="en-US" sz="1875" dirty="0"/>
          </a:p>
        </p:txBody>
      </p:sp>
      <p:sp>
        <p:nvSpPr>
          <p:cNvPr id="7" name="Shape 5"/>
          <p:cNvSpPr/>
          <p:nvPr/>
        </p:nvSpPr>
        <p:spPr>
          <a:xfrm>
            <a:off x="1409700" y="2812703"/>
            <a:ext cx="5041850" cy="1743670"/>
          </a:xfrm>
          <a:prstGeom prst="roundRect">
            <a:avLst>
              <a:gd name="adj" fmla="val 5463"/>
            </a:avLst>
          </a:prstGeom>
          <a:solidFill>
            <a:srgbClr val="F4F7FA"/>
          </a:solidFill>
          <a:ln/>
        </p:spPr>
      </p:sp>
      <p:sp>
        <p:nvSpPr>
          <p:cNvPr id="8" name="Text 6"/>
          <p:cNvSpPr/>
          <p:nvPr/>
        </p:nvSpPr>
        <p:spPr>
          <a:xfrm>
            <a:off x="1562100" y="2927003"/>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9" name="Text 7"/>
          <p:cNvSpPr/>
          <p:nvPr/>
        </p:nvSpPr>
        <p:spPr>
          <a:xfrm>
            <a:off x="1562100" y="3327053"/>
            <a:ext cx="4879162" cy="1153120"/>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Your AC skill has been changing for 6 weeks. EDD tells you whether those changes improved it or just changed it — this is your discipline now.</a:t>
            </a:r>
            <a:endParaRPr lang="en-US" sz="1800" dirty="0"/>
          </a:p>
        </p:txBody>
      </p:sp>
      <p:sp>
        <p:nvSpPr>
          <p:cNvPr id="10" name="Shape 8"/>
          <p:cNvSpPr/>
          <p:nvPr/>
        </p:nvSpPr>
        <p:spPr>
          <a:xfrm>
            <a:off x="6623000" y="2812703"/>
            <a:ext cx="5041850" cy="1743670"/>
          </a:xfrm>
          <a:prstGeom prst="roundRect">
            <a:avLst>
              <a:gd name="adj" fmla="val 5463"/>
            </a:avLst>
          </a:prstGeom>
          <a:solidFill>
            <a:srgbClr val="F4F7FA"/>
          </a:solidFill>
          <a:ln/>
        </p:spPr>
      </p:sp>
      <p:sp>
        <p:nvSpPr>
          <p:cNvPr id="11" name="Text 9"/>
          <p:cNvSpPr/>
          <p:nvPr/>
        </p:nvSpPr>
        <p:spPr>
          <a:xfrm>
            <a:off x="6775400" y="2927003"/>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12" name="Text 10"/>
          <p:cNvSpPr/>
          <p:nvPr/>
        </p:nvSpPr>
        <p:spPr>
          <a:xfrm>
            <a:off x="6775400" y="3327053"/>
            <a:ext cx="4879162" cy="874365"/>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Your Plan and Code skills have been iterating too. EDD gives you the measurement tool to know if your iteration is working.</a:t>
            </a:r>
            <a:endParaRPr lang="en-US" sz="1800" dirty="0"/>
          </a:p>
        </p:txBody>
      </p:sp>
      <p:sp>
        <p:nvSpPr>
          <p:cNvPr id="13" name="Shape 11"/>
          <p:cNvSpPr/>
          <p:nvPr/>
        </p:nvSpPr>
        <p:spPr>
          <a:xfrm>
            <a:off x="11836301" y="2812703"/>
            <a:ext cx="5041850" cy="1743670"/>
          </a:xfrm>
          <a:prstGeom prst="roundRect">
            <a:avLst>
              <a:gd name="adj" fmla="val 5463"/>
            </a:avLst>
          </a:prstGeom>
          <a:solidFill>
            <a:srgbClr val="F4F7FA"/>
          </a:solidFill>
          <a:ln/>
        </p:spPr>
      </p:sp>
      <p:sp>
        <p:nvSpPr>
          <p:cNvPr id="14" name="Text 12"/>
          <p:cNvSpPr/>
          <p:nvPr/>
        </p:nvSpPr>
        <p:spPr>
          <a:xfrm>
            <a:off x="11988701" y="2927003"/>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TESTING</a:t>
            </a:r>
            <a:endParaRPr lang="en-US" sz="1800" dirty="0"/>
          </a:p>
        </p:txBody>
      </p:sp>
      <p:sp>
        <p:nvSpPr>
          <p:cNvPr id="15" name="Text 13"/>
          <p:cNvSpPr/>
          <p:nvPr/>
        </p:nvSpPr>
        <p:spPr>
          <a:xfrm>
            <a:off x="11988701" y="3327053"/>
            <a:ext cx="4879162" cy="874365"/>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Your test plan skill benefits the same way — but you'll also see how LLM judges evaluate test plan quality, not just code.</a:t>
            </a:r>
            <a:endParaRPr lang="en-US" sz="1800" dirty="0"/>
          </a:p>
        </p:txBody>
      </p:sp>
      <p:sp>
        <p:nvSpPr>
          <p:cNvPr id="16" name="Shape 14"/>
          <p:cNvSpPr/>
          <p:nvPr/>
        </p:nvSpPr>
        <p:spPr>
          <a:xfrm>
            <a:off x="1143000" y="4899273"/>
            <a:ext cx="16002000" cy="2434233"/>
          </a:xfrm>
          <a:prstGeom prst="roundRect">
            <a:avLst>
              <a:gd name="adj" fmla="val 6261"/>
            </a:avLst>
          </a:prstGeom>
          <a:ln w="19050">
            <a:solidFill>
              <a:srgbClr val="E3E9EF"/>
            </a:solidFill>
            <a:prstDash val="solid"/>
          </a:ln>
        </p:spPr>
      </p:sp>
      <p:sp>
        <p:nvSpPr>
          <p:cNvPr id="17" name="Text 15"/>
          <p:cNvSpPr/>
          <p:nvPr/>
        </p:nvSpPr>
        <p:spPr>
          <a:xfrm>
            <a:off x="1409700" y="5070723"/>
            <a:ext cx="17015460" cy="300038"/>
          </a:xfrm>
          <a:prstGeom prst="rect">
            <a:avLst/>
          </a:prstGeom>
          <a:noFill/>
          <a:ln/>
        </p:spPr>
        <p:txBody>
          <a:bodyPr wrap="square" lIns="25400" tIns="25400" rIns="25400" bIns="25400" rtlCol="0" anchor="t">
            <a:normAutofit/>
          </a:bodyPr>
          <a:lstStyle/>
          <a:p>
            <a:pPr algn="l" indent="0" marL="0">
              <a:lnSpc>
                <a:spcPct val="72368"/>
              </a:lnSpc>
              <a:buNone/>
            </a:pPr>
            <a:r>
              <a:rPr lang="en-US" sz="1875" b="1" spc="-37" kern="0" dirty="0">
                <a:solidFill>
                  <a:srgbClr val="0E1A26"/>
                </a:solidFill>
                <a:latin typeface="Poppins" pitchFamily="34" charset="0"/>
                <a:ea typeface="Poppins" pitchFamily="34" charset="-122"/>
                <a:cs typeface="Poppins" pitchFamily="34" charset="-120"/>
              </a:rPr>
              <a:t>Goal 2: </a:t>
            </a:r>
            <a:pPr algn="l" indent="0" marL="0">
              <a:lnSpc>
                <a:spcPct val="72368"/>
              </a:lnSpc>
              <a:buNone/>
            </a:pPr>
            <a:r>
              <a:rPr lang="en-US" sz="1875" b="1" spc="-37" kern="0" dirty="0">
                <a:solidFill>
                  <a:srgbClr val="4597D3"/>
                </a:solidFill>
                <a:latin typeface="Poppins" pitchFamily="34" charset="0"/>
                <a:ea typeface="Poppins" pitchFamily="34" charset="-122"/>
                <a:cs typeface="Poppins" pitchFamily="34" charset="-120"/>
              </a:rPr>
              <a:t>Write a Python evaluation script with an LLM judge for your most-used skill</a:t>
            </a:r>
            <a:endParaRPr lang="en-US" sz="1875" dirty="0"/>
          </a:p>
        </p:txBody>
      </p:sp>
      <p:sp>
        <p:nvSpPr>
          <p:cNvPr id="18" name="Shape 16"/>
          <p:cNvSpPr/>
          <p:nvPr/>
        </p:nvSpPr>
        <p:spPr>
          <a:xfrm>
            <a:off x="1409700" y="5418386"/>
            <a:ext cx="5041850" cy="1743670"/>
          </a:xfrm>
          <a:prstGeom prst="roundRect">
            <a:avLst>
              <a:gd name="adj" fmla="val 5463"/>
            </a:avLst>
          </a:prstGeom>
          <a:solidFill>
            <a:srgbClr val="F4F7FA"/>
          </a:solidFill>
          <a:ln/>
        </p:spPr>
      </p:sp>
      <p:sp>
        <p:nvSpPr>
          <p:cNvPr id="19" name="Text 17"/>
          <p:cNvSpPr/>
          <p:nvPr/>
        </p:nvSpPr>
        <p:spPr>
          <a:xfrm>
            <a:off x="1562100" y="5532686"/>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20" name="Text 18"/>
          <p:cNvSpPr/>
          <p:nvPr/>
        </p:nvSpPr>
        <p:spPr>
          <a:xfrm>
            <a:off x="1562100" y="5932736"/>
            <a:ext cx="4879162" cy="1153120"/>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You'll build a script that checks your AC skill's output against your EC. The LLM judge evaluates quality; deterministic checks validate structure.</a:t>
            </a:r>
            <a:endParaRPr lang="en-US" sz="1800" dirty="0"/>
          </a:p>
        </p:txBody>
      </p:sp>
      <p:sp>
        <p:nvSpPr>
          <p:cNvPr id="21" name="Shape 19"/>
          <p:cNvSpPr/>
          <p:nvPr/>
        </p:nvSpPr>
        <p:spPr>
          <a:xfrm>
            <a:off x="6623000" y="5418386"/>
            <a:ext cx="5041850" cy="1743670"/>
          </a:xfrm>
          <a:prstGeom prst="roundRect">
            <a:avLst>
              <a:gd name="adj" fmla="val 5463"/>
            </a:avLst>
          </a:prstGeom>
          <a:solidFill>
            <a:srgbClr val="F4F7FA"/>
          </a:solidFill>
          <a:ln/>
        </p:spPr>
      </p:sp>
      <p:sp>
        <p:nvSpPr>
          <p:cNvPr id="22" name="Text 20"/>
          <p:cNvSpPr/>
          <p:nvPr/>
        </p:nvSpPr>
        <p:spPr>
          <a:xfrm>
            <a:off x="6775400" y="5532686"/>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23" name="Text 21"/>
          <p:cNvSpPr/>
          <p:nvPr/>
        </p:nvSpPr>
        <p:spPr>
          <a:xfrm>
            <a:off x="6775400" y="5932736"/>
            <a:ext cx="4879162" cy="874365"/>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You'll apply the same pattern to your Plan and Code skills. The evaluation script is an artifact you own and can adapt.</a:t>
            </a:r>
            <a:endParaRPr lang="en-US" sz="1800" dirty="0"/>
          </a:p>
        </p:txBody>
      </p:sp>
      <p:sp>
        <p:nvSpPr>
          <p:cNvPr id="24" name="Shape 22"/>
          <p:cNvSpPr/>
          <p:nvPr/>
        </p:nvSpPr>
        <p:spPr>
          <a:xfrm>
            <a:off x="11836301" y="5418386"/>
            <a:ext cx="5041850" cy="1743670"/>
          </a:xfrm>
          <a:prstGeom prst="roundRect">
            <a:avLst>
              <a:gd name="adj" fmla="val 5463"/>
            </a:avLst>
          </a:prstGeom>
          <a:solidFill>
            <a:srgbClr val="F4F7FA"/>
          </a:solidFill>
          <a:ln/>
        </p:spPr>
      </p:sp>
      <p:sp>
        <p:nvSpPr>
          <p:cNvPr id="25" name="Text 23"/>
          <p:cNvSpPr/>
          <p:nvPr/>
        </p:nvSpPr>
        <p:spPr>
          <a:xfrm>
            <a:off x="11988701" y="5532686"/>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TESTING</a:t>
            </a:r>
            <a:endParaRPr lang="en-US" sz="1800" dirty="0"/>
          </a:p>
        </p:txBody>
      </p:sp>
      <p:sp>
        <p:nvSpPr>
          <p:cNvPr id="26" name="Text 24"/>
          <p:cNvSpPr/>
          <p:nvPr/>
        </p:nvSpPr>
        <p:spPr>
          <a:xfrm>
            <a:off x="11988701" y="5932736"/>
            <a:ext cx="4879162" cy="874365"/>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You'll see how LLM judges evaluate test plan output — coverage, risk identification, and non-duplication with unit tests.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762000"/>
            <a:ext cx="4156621" cy="533400"/>
          </a:xfrm>
          <a:prstGeom prst="roundRect">
            <a:avLst>
              <a:gd name="adj" fmla="val 50000"/>
            </a:avLst>
          </a:prstGeom>
          <a:solidFill>
            <a:srgbClr val="9D1D96"/>
          </a:solidFill>
          <a:ln/>
        </p:spPr>
      </p:sp>
      <p:sp>
        <p:nvSpPr>
          <p:cNvPr id="3" name="Text 1"/>
          <p:cNvSpPr/>
          <p:nvPr/>
        </p:nvSpPr>
        <p:spPr>
          <a:xfrm>
            <a:off x="1390650" y="857250"/>
            <a:ext cx="3786019"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SESSION GOALS</a:t>
            </a:r>
            <a:endParaRPr lang="en-US" sz="1800" dirty="0"/>
          </a:p>
        </p:txBody>
      </p:sp>
      <p:sp>
        <p:nvSpPr>
          <p:cNvPr id="4" name="Text 2"/>
          <p:cNvSpPr/>
          <p:nvPr/>
        </p:nvSpPr>
        <p:spPr>
          <a:xfrm>
            <a:off x="1143000" y="1543050"/>
            <a:ext cx="17602200" cy="540990"/>
          </a:xfrm>
          <a:prstGeom prst="rect">
            <a:avLst/>
          </a:prstGeom>
          <a:noFill/>
          <a:ln/>
        </p:spPr>
        <p:txBody>
          <a:bodyPr wrap="square" lIns="25400" tIns="25400" rIns="25400" bIns="25400" rtlCol="0" anchor="t">
            <a:normAutofit/>
          </a:bodyPr>
          <a:lstStyle/>
          <a:p>
            <a:pPr algn="l" indent="0" marL="0">
              <a:lnSpc>
                <a:spcPct val="73333"/>
              </a:lnSpc>
              <a:buNone/>
            </a:pPr>
            <a:r>
              <a:rPr lang="en-US" sz="3600" b="1" spc="-72" kern="0" dirty="0">
                <a:solidFill>
                  <a:srgbClr val="005596"/>
                </a:solidFill>
                <a:latin typeface="Poppins" pitchFamily="34" charset="0"/>
                <a:ea typeface="Poppins" pitchFamily="34" charset="-122"/>
                <a:cs typeface="Poppins" pitchFamily="34" charset="-120"/>
              </a:rPr>
              <a:t>Session Goals </a:t>
            </a:r>
            <a:pPr algn="l" indent="0" marL="0">
              <a:lnSpc>
                <a:spcPct val="73333"/>
              </a:lnSpc>
              <a:buNone/>
            </a:pPr>
            <a:r>
              <a:rPr lang="en-US" sz="2250" b="1" spc="-72" kern="0" dirty="0">
                <a:solidFill>
                  <a:srgbClr val="005596"/>
                </a:solidFill>
                <a:latin typeface="Poppins" pitchFamily="34" charset="0"/>
                <a:ea typeface="Poppins" pitchFamily="34" charset="-122"/>
                <a:cs typeface="Poppins" pitchFamily="34" charset="-120"/>
              </a:rPr>
              <a:t>(2 of 2)</a:t>
            </a:r>
            <a:endParaRPr lang="en-US" sz="3600" dirty="0"/>
          </a:p>
        </p:txBody>
      </p:sp>
      <p:sp>
        <p:nvSpPr>
          <p:cNvPr id="5" name="Shape 3"/>
          <p:cNvSpPr/>
          <p:nvPr/>
        </p:nvSpPr>
        <p:spPr>
          <a:xfrm>
            <a:off x="1143000" y="2293590"/>
            <a:ext cx="16002000" cy="2434233"/>
          </a:xfrm>
          <a:prstGeom prst="roundRect">
            <a:avLst>
              <a:gd name="adj" fmla="val 6261"/>
            </a:avLst>
          </a:prstGeom>
          <a:ln w="19050">
            <a:solidFill>
              <a:srgbClr val="E3E9EF"/>
            </a:solidFill>
            <a:prstDash val="solid"/>
          </a:ln>
        </p:spPr>
      </p:sp>
      <p:sp>
        <p:nvSpPr>
          <p:cNvPr id="6" name="Text 4"/>
          <p:cNvSpPr/>
          <p:nvPr/>
        </p:nvSpPr>
        <p:spPr>
          <a:xfrm>
            <a:off x="1409700" y="2465040"/>
            <a:ext cx="17015460" cy="300038"/>
          </a:xfrm>
          <a:prstGeom prst="rect">
            <a:avLst/>
          </a:prstGeom>
          <a:noFill/>
          <a:ln/>
        </p:spPr>
        <p:txBody>
          <a:bodyPr wrap="square" lIns="25400" tIns="25400" rIns="25400" bIns="25400" rtlCol="0" anchor="t">
            <a:normAutofit/>
          </a:bodyPr>
          <a:lstStyle/>
          <a:p>
            <a:pPr algn="l" indent="0" marL="0">
              <a:lnSpc>
                <a:spcPct val="72368"/>
              </a:lnSpc>
              <a:buNone/>
            </a:pPr>
            <a:r>
              <a:rPr lang="en-US" sz="1875" b="1" spc="-37" kern="0" dirty="0">
                <a:solidFill>
                  <a:srgbClr val="0E1A26"/>
                </a:solidFill>
                <a:latin typeface="Poppins" pitchFamily="34" charset="0"/>
                <a:ea typeface="Poppins" pitchFamily="34" charset="-122"/>
                <a:cs typeface="Poppins" pitchFamily="34" charset="-120"/>
              </a:rPr>
              <a:t>Goal 3: </a:t>
            </a:r>
            <a:pPr algn="l" indent="0" marL="0">
              <a:lnSpc>
                <a:spcPct val="72368"/>
              </a:lnSpc>
              <a:buNone/>
            </a:pPr>
            <a:r>
              <a:rPr lang="en-US" sz="1875" b="1" spc="-37" kern="0" dirty="0">
                <a:solidFill>
                  <a:srgbClr val="4597D3"/>
                </a:solidFill>
                <a:latin typeface="Poppins" pitchFamily="34" charset="0"/>
                <a:ea typeface="Poppins" pitchFamily="34" charset="-122"/>
                <a:cs typeface="Poppins" pitchFamily="34" charset="-120"/>
              </a:rPr>
              <a:t>Run a documented improvement cycle — hypothesis → change → measure → conclude</a:t>
            </a:r>
            <a:endParaRPr lang="en-US" sz="1875" dirty="0"/>
          </a:p>
        </p:txBody>
      </p:sp>
      <p:sp>
        <p:nvSpPr>
          <p:cNvPr id="7" name="Shape 5"/>
          <p:cNvSpPr/>
          <p:nvPr/>
        </p:nvSpPr>
        <p:spPr>
          <a:xfrm>
            <a:off x="1409700" y="2812703"/>
            <a:ext cx="5041850" cy="1743670"/>
          </a:xfrm>
          <a:prstGeom prst="roundRect">
            <a:avLst>
              <a:gd name="adj" fmla="val 5463"/>
            </a:avLst>
          </a:prstGeom>
          <a:solidFill>
            <a:srgbClr val="F4F7FA"/>
          </a:solidFill>
          <a:ln/>
        </p:spPr>
      </p:sp>
      <p:sp>
        <p:nvSpPr>
          <p:cNvPr id="8" name="Text 6"/>
          <p:cNvSpPr/>
          <p:nvPr/>
        </p:nvSpPr>
        <p:spPr>
          <a:xfrm>
            <a:off x="1562100" y="2927003"/>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9" name="Text 7"/>
          <p:cNvSpPr/>
          <p:nvPr/>
        </p:nvSpPr>
        <p:spPr>
          <a:xfrm>
            <a:off x="1562100" y="3327053"/>
            <a:ext cx="4879162" cy="1153120"/>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You'll form a hypothesis about your AC skill, make one change, run the evaluator, and document whether the change improved the score.</a:t>
            </a:r>
            <a:endParaRPr lang="en-US" sz="1800" dirty="0"/>
          </a:p>
        </p:txBody>
      </p:sp>
      <p:sp>
        <p:nvSpPr>
          <p:cNvPr id="10" name="Shape 8"/>
          <p:cNvSpPr/>
          <p:nvPr/>
        </p:nvSpPr>
        <p:spPr>
          <a:xfrm>
            <a:off x="6623000" y="2812703"/>
            <a:ext cx="5041850" cy="1743670"/>
          </a:xfrm>
          <a:prstGeom prst="roundRect">
            <a:avLst>
              <a:gd name="adj" fmla="val 5463"/>
            </a:avLst>
          </a:prstGeom>
          <a:solidFill>
            <a:srgbClr val="F4F7FA"/>
          </a:solidFill>
          <a:ln/>
        </p:spPr>
      </p:sp>
      <p:sp>
        <p:nvSpPr>
          <p:cNvPr id="11" name="Text 9"/>
          <p:cNvSpPr/>
          <p:nvPr/>
        </p:nvSpPr>
        <p:spPr>
          <a:xfrm>
            <a:off x="6775400" y="2927003"/>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12" name="Text 10"/>
          <p:cNvSpPr/>
          <p:nvPr/>
        </p:nvSpPr>
        <p:spPr>
          <a:xfrm>
            <a:off x="6775400" y="3327053"/>
            <a:ext cx="4879162" cy="595610"/>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Same discipline for Plan and Code skills. One change per iteration. Document everything.</a:t>
            </a:r>
            <a:endParaRPr lang="en-US" sz="1800" dirty="0"/>
          </a:p>
        </p:txBody>
      </p:sp>
      <p:sp>
        <p:nvSpPr>
          <p:cNvPr id="13" name="Shape 11"/>
          <p:cNvSpPr/>
          <p:nvPr/>
        </p:nvSpPr>
        <p:spPr>
          <a:xfrm>
            <a:off x="11836301" y="2812703"/>
            <a:ext cx="5041850" cy="1743670"/>
          </a:xfrm>
          <a:prstGeom prst="roundRect">
            <a:avLst>
              <a:gd name="adj" fmla="val 5463"/>
            </a:avLst>
          </a:prstGeom>
          <a:solidFill>
            <a:srgbClr val="F4F7FA"/>
          </a:solidFill>
          <a:ln/>
        </p:spPr>
      </p:sp>
      <p:sp>
        <p:nvSpPr>
          <p:cNvPr id="14" name="Text 12"/>
          <p:cNvSpPr/>
          <p:nvPr/>
        </p:nvSpPr>
        <p:spPr>
          <a:xfrm>
            <a:off x="11988701" y="2927003"/>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TESTING</a:t>
            </a:r>
            <a:endParaRPr lang="en-US" sz="1800" dirty="0"/>
          </a:p>
        </p:txBody>
      </p:sp>
      <p:sp>
        <p:nvSpPr>
          <p:cNvPr id="15" name="Text 13"/>
          <p:cNvSpPr/>
          <p:nvPr/>
        </p:nvSpPr>
        <p:spPr>
          <a:xfrm>
            <a:off x="11988701" y="3327053"/>
            <a:ext cx="4879162" cy="595610"/>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Same for test plan skills. The improvement cycle is universal across all skills.</a:t>
            </a:r>
            <a:endParaRPr lang="en-US" sz="1800" dirty="0"/>
          </a:p>
        </p:txBody>
      </p:sp>
      <p:sp>
        <p:nvSpPr>
          <p:cNvPr id="16" name="Shape 14"/>
          <p:cNvSpPr/>
          <p:nvPr/>
        </p:nvSpPr>
        <p:spPr>
          <a:xfrm>
            <a:off x="1143000" y="4899273"/>
            <a:ext cx="16002000" cy="2155478"/>
          </a:xfrm>
          <a:prstGeom prst="roundRect">
            <a:avLst>
              <a:gd name="adj" fmla="val 7070"/>
            </a:avLst>
          </a:prstGeom>
          <a:ln w="19050">
            <a:solidFill>
              <a:srgbClr val="E3E9EF"/>
            </a:solidFill>
            <a:prstDash val="solid"/>
          </a:ln>
        </p:spPr>
      </p:sp>
      <p:sp>
        <p:nvSpPr>
          <p:cNvPr id="17" name="Text 15"/>
          <p:cNvSpPr/>
          <p:nvPr/>
        </p:nvSpPr>
        <p:spPr>
          <a:xfrm>
            <a:off x="1409700" y="5070723"/>
            <a:ext cx="17015460" cy="300038"/>
          </a:xfrm>
          <a:prstGeom prst="rect">
            <a:avLst/>
          </a:prstGeom>
          <a:noFill/>
          <a:ln/>
        </p:spPr>
        <p:txBody>
          <a:bodyPr wrap="square" lIns="25400" tIns="25400" rIns="25400" bIns="25400" rtlCol="0" anchor="t">
            <a:normAutofit/>
          </a:bodyPr>
          <a:lstStyle/>
          <a:p>
            <a:pPr algn="l" indent="0" marL="0">
              <a:lnSpc>
                <a:spcPct val="72368"/>
              </a:lnSpc>
              <a:buNone/>
            </a:pPr>
            <a:r>
              <a:rPr lang="en-US" sz="1875" b="1" spc="-37" kern="0" dirty="0">
                <a:solidFill>
                  <a:srgbClr val="0E1A26"/>
                </a:solidFill>
                <a:latin typeface="Poppins" pitchFamily="34" charset="0"/>
                <a:ea typeface="Poppins" pitchFamily="34" charset="-122"/>
                <a:cs typeface="Poppins" pitchFamily="34" charset="-120"/>
              </a:rPr>
              <a:t>Goal 4: </a:t>
            </a:r>
            <a:pPr algn="l" indent="0" marL="0">
              <a:lnSpc>
                <a:spcPct val="72368"/>
              </a:lnSpc>
              <a:buNone/>
            </a:pPr>
            <a:r>
              <a:rPr lang="en-US" sz="1875" b="1" spc="-37" kern="0" dirty="0">
                <a:solidFill>
                  <a:srgbClr val="4597D3"/>
                </a:solidFill>
                <a:latin typeface="Poppins" pitchFamily="34" charset="0"/>
                <a:ea typeface="Poppins" pitchFamily="34" charset="-122"/>
                <a:cs typeface="Poppins" pitchFamily="34" charset="-120"/>
              </a:rPr>
              <a:t>Apply the Refactor step — remove dead instructions using your evaluator</a:t>
            </a:r>
            <a:endParaRPr lang="en-US" sz="1875" dirty="0"/>
          </a:p>
        </p:txBody>
      </p:sp>
      <p:sp>
        <p:nvSpPr>
          <p:cNvPr id="18" name="Shape 16"/>
          <p:cNvSpPr/>
          <p:nvPr/>
        </p:nvSpPr>
        <p:spPr>
          <a:xfrm>
            <a:off x="1409700" y="5418386"/>
            <a:ext cx="5041850" cy="1464915"/>
          </a:xfrm>
          <a:prstGeom prst="roundRect">
            <a:avLst>
              <a:gd name="adj" fmla="val 6502"/>
            </a:avLst>
          </a:prstGeom>
          <a:solidFill>
            <a:srgbClr val="F4F7FA"/>
          </a:solidFill>
          <a:ln/>
        </p:spPr>
      </p:sp>
      <p:sp>
        <p:nvSpPr>
          <p:cNvPr id="19" name="Text 17"/>
          <p:cNvSpPr/>
          <p:nvPr/>
        </p:nvSpPr>
        <p:spPr>
          <a:xfrm>
            <a:off x="1562100" y="5532686"/>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20" name="Text 18"/>
          <p:cNvSpPr/>
          <p:nvPr/>
        </p:nvSpPr>
        <p:spPr>
          <a:xfrm>
            <a:off x="1562100" y="5932736"/>
            <a:ext cx="4879162" cy="874365"/>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Your AC skill may have instructions that don't affect output quality. The evaluator proves it. Remove them.</a:t>
            </a:r>
            <a:endParaRPr lang="en-US" sz="1800" dirty="0"/>
          </a:p>
        </p:txBody>
      </p:sp>
      <p:sp>
        <p:nvSpPr>
          <p:cNvPr id="21" name="Shape 19"/>
          <p:cNvSpPr/>
          <p:nvPr/>
        </p:nvSpPr>
        <p:spPr>
          <a:xfrm>
            <a:off x="6623000" y="5418386"/>
            <a:ext cx="5041850" cy="1464915"/>
          </a:xfrm>
          <a:prstGeom prst="roundRect">
            <a:avLst>
              <a:gd name="adj" fmla="val 6502"/>
            </a:avLst>
          </a:prstGeom>
          <a:solidFill>
            <a:srgbClr val="F4F7FA"/>
          </a:solidFill>
          <a:ln/>
        </p:spPr>
      </p:sp>
      <p:sp>
        <p:nvSpPr>
          <p:cNvPr id="22" name="Text 20"/>
          <p:cNvSpPr/>
          <p:nvPr/>
        </p:nvSpPr>
        <p:spPr>
          <a:xfrm>
            <a:off x="6775400" y="5532686"/>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23" name="Text 21"/>
          <p:cNvSpPr/>
          <p:nvPr/>
        </p:nvSpPr>
        <p:spPr>
          <a:xfrm>
            <a:off x="6775400" y="5932736"/>
            <a:ext cx="4879162" cy="595610"/>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Your Plan and Code skills have the same risk. The evaluator finds dead weight.</a:t>
            </a:r>
            <a:endParaRPr lang="en-US" sz="1800" dirty="0"/>
          </a:p>
        </p:txBody>
      </p:sp>
      <p:sp>
        <p:nvSpPr>
          <p:cNvPr id="24" name="Shape 22"/>
          <p:cNvSpPr/>
          <p:nvPr/>
        </p:nvSpPr>
        <p:spPr>
          <a:xfrm>
            <a:off x="11836301" y="5418386"/>
            <a:ext cx="5041850" cy="1464915"/>
          </a:xfrm>
          <a:prstGeom prst="roundRect">
            <a:avLst>
              <a:gd name="adj" fmla="val 6502"/>
            </a:avLst>
          </a:prstGeom>
          <a:solidFill>
            <a:srgbClr val="F4F7FA"/>
          </a:solidFill>
          <a:ln/>
        </p:spPr>
      </p:sp>
      <p:sp>
        <p:nvSpPr>
          <p:cNvPr id="25" name="Text 23"/>
          <p:cNvSpPr/>
          <p:nvPr/>
        </p:nvSpPr>
        <p:spPr>
          <a:xfrm>
            <a:off x="11988701" y="5532686"/>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TESTING</a:t>
            </a:r>
            <a:endParaRPr lang="en-US" sz="1800" dirty="0"/>
          </a:p>
        </p:txBody>
      </p:sp>
      <p:sp>
        <p:nvSpPr>
          <p:cNvPr id="26" name="Text 24"/>
          <p:cNvSpPr/>
          <p:nvPr/>
        </p:nvSpPr>
        <p:spPr>
          <a:xfrm>
            <a:off x="11988701" y="5932736"/>
            <a:ext cx="4879162" cy="595610"/>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Your test plan skill too. A leaner skill is a more reliable skill.</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2249835"/>
            <a:ext cx="3265289" cy="533400"/>
          </a:xfrm>
          <a:prstGeom prst="roundRect">
            <a:avLst>
              <a:gd name="adj" fmla="val 50000"/>
            </a:avLst>
          </a:prstGeom>
          <a:solidFill>
            <a:srgbClr val="005596"/>
          </a:solidFill>
          <a:ln/>
        </p:spPr>
      </p:sp>
      <p:sp>
        <p:nvSpPr>
          <p:cNvPr id="3" name="Text 1"/>
          <p:cNvSpPr/>
          <p:nvPr/>
        </p:nvSpPr>
        <p:spPr>
          <a:xfrm>
            <a:off x="1485900" y="2345085"/>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068985"/>
            <a:ext cx="17392650" cy="586680"/>
          </a:xfrm>
          <a:prstGeom prst="rect">
            <a:avLst/>
          </a:prstGeom>
          <a:noFill/>
          <a:ln/>
        </p:spPr>
        <p:txBody>
          <a:bodyPr wrap="square" lIns="25400" tIns="25400" rIns="25400" bIns="25400" rtlCol="0" anchor="t">
            <a:normAutofit/>
          </a:bodyPr>
          <a:lstStyle/>
          <a:p>
            <a:pPr algn="l" indent="0" marL="0">
              <a:lnSpc>
                <a:spcPct val="80000"/>
              </a:lnSpc>
              <a:buNone/>
            </a:pPr>
            <a:r>
              <a:rPr lang="en-US" sz="3600" b="1" spc="-72" kern="0" dirty="0">
                <a:solidFill>
                  <a:srgbClr val="005596"/>
                </a:solidFill>
                <a:latin typeface="Poppins" pitchFamily="34" charset="0"/>
                <a:ea typeface="Poppins" pitchFamily="34" charset="-122"/>
                <a:cs typeface="Poppins" pitchFamily="34" charset="-120"/>
              </a:rPr>
              <a:t>EDD: Red, Green, Refactor for Skills</a:t>
            </a:r>
            <a:endParaRPr lang="en-US" sz="3600" dirty="0"/>
          </a:p>
        </p:txBody>
      </p:sp>
      <p:sp>
        <p:nvSpPr>
          <p:cNvPr id="5" name="Text 3"/>
          <p:cNvSpPr/>
          <p:nvPr/>
        </p:nvSpPr>
        <p:spPr>
          <a:xfrm>
            <a:off x="1238250" y="3903315"/>
            <a:ext cx="1739265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The TDD analogy is precise:</a:t>
            </a:r>
            <a:endParaRPr lang="en-US" sz="1800" dirty="0"/>
          </a:p>
        </p:txBody>
      </p:sp>
      <p:sp>
        <p:nvSpPr>
          <p:cNvPr id="6" name="Text 4"/>
          <p:cNvSpPr/>
          <p:nvPr/>
        </p:nvSpPr>
        <p:spPr>
          <a:xfrm>
            <a:off x="1238250" y="4531965"/>
            <a:ext cx="784860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A7A8A9"/>
                </a:solidFill>
                <a:latin typeface="Poppins" pitchFamily="34" charset="0"/>
                <a:ea typeface="Poppins" pitchFamily="34" charset="-122"/>
                <a:cs typeface="Poppins" pitchFamily="34" charset="-120"/>
              </a:rPr>
              <a:t>TDD</a:t>
            </a:r>
            <a:endParaRPr lang="en-US" sz="1800" dirty="0"/>
          </a:p>
        </p:txBody>
      </p:sp>
      <p:sp>
        <p:nvSpPr>
          <p:cNvPr id="7" name="Text 5"/>
          <p:cNvSpPr/>
          <p:nvPr/>
        </p:nvSpPr>
        <p:spPr>
          <a:xfrm>
            <a:off x="9429750" y="4531965"/>
            <a:ext cx="784860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005596"/>
                </a:solidFill>
                <a:latin typeface="Poppins" pitchFamily="34" charset="0"/>
                <a:ea typeface="Poppins" pitchFamily="34" charset="-122"/>
                <a:cs typeface="Poppins" pitchFamily="34" charset="-120"/>
              </a:rPr>
              <a:t>EDD</a:t>
            </a:r>
            <a:endParaRPr lang="en-US" sz="1800" dirty="0"/>
          </a:p>
        </p:txBody>
      </p:sp>
      <p:sp>
        <p:nvSpPr>
          <p:cNvPr id="8" name="Shape 6"/>
          <p:cNvSpPr/>
          <p:nvPr/>
        </p:nvSpPr>
        <p:spPr>
          <a:xfrm>
            <a:off x="1238250" y="5389215"/>
            <a:ext cx="7620000" cy="647700"/>
          </a:xfrm>
          <a:prstGeom prst="roundRect">
            <a:avLst>
              <a:gd name="adj" fmla="val 14706"/>
            </a:avLst>
          </a:prstGeom>
          <a:solidFill>
            <a:srgbClr val="F4F7FA"/>
          </a:solidFill>
          <a:ln/>
        </p:spPr>
      </p:sp>
      <p:sp>
        <p:nvSpPr>
          <p:cNvPr id="9" name="Text 7"/>
          <p:cNvSpPr/>
          <p:nvPr/>
        </p:nvSpPr>
        <p:spPr>
          <a:xfrm>
            <a:off x="1447800" y="5541615"/>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Write a failing test (Red)</a:t>
            </a:r>
            <a:endParaRPr lang="en-US" sz="1800" dirty="0"/>
          </a:p>
        </p:txBody>
      </p:sp>
      <p:sp>
        <p:nvSpPr>
          <p:cNvPr id="10" name="Text 8"/>
          <p:cNvSpPr/>
          <p:nvPr/>
        </p:nvSpPr>
        <p:spPr>
          <a:xfrm>
            <a:off x="8820150" y="5541615"/>
            <a:ext cx="647700" cy="381000"/>
          </a:xfrm>
          <a:prstGeom prst="rect">
            <a:avLst/>
          </a:prstGeom>
          <a:noFill/>
          <a:ln/>
        </p:spPr>
        <p:txBody>
          <a:bodyPr wrap="square" lIns="25400" tIns="25400" rIns="25400" bIns="25400" rtlCol="0" anchor="t">
            <a:normAutofit/>
          </a:bodyPr>
          <a:lstStyle/>
          <a:p>
            <a:pPr algn="ctr" indent="0" marL="0">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11" name="Shape 9"/>
          <p:cNvSpPr/>
          <p:nvPr/>
        </p:nvSpPr>
        <p:spPr>
          <a:xfrm>
            <a:off x="9429750" y="5217765"/>
            <a:ext cx="7620000" cy="990600"/>
          </a:xfrm>
          <a:prstGeom prst="roundRect">
            <a:avLst>
              <a:gd name="adj" fmla="val 9615"/>
            </a:avLst>
          </a:prstGeom>
          <a:solidFill>
            <a:srgbClr val="E9F1FA"/>
          </a:solidFill>
          <a:ln/>
        </p:spPr>
      </p:sp>
      <p:sp>
        <p:nvSpPr>
          <p:cNvPr id="12" name="Text 10"/>
          <p:cNvSpPr/>
          <p:nvPr/>
        </p:nvSpPr>
        <p:spPr>
          <a:xfrm>
            <a:off x="9639300" y="5370165"/>
            <a:ext cx="7429500" cy="7239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E1A26"/>
                </a:solidFill>
                <a:latin typeface="Khula" pitchFamily="34" charset="0"/>
                <a:ea typeface="Khula" pitchFamily="34" charset="-122"/>
                <a:cs typeface="Khula" pitchFamily="34" charset="-120"/>
              </a:rPr>
              <a:t>Write EC and baseline them against your current skill. Some EC should fail.</a:t>
            </a:r>
            <a:endParaRPr lang="en-US" sz="1800" dirty="0"/>
          </a:p>
        </p:txBody>
      </p:sp>
      <p:sp>
        <p:nvSpPr>
          <p:cNvPr id="13" name="Shape 11"/>
          <p:cNvSpPr/>
          <p:nvPr/>
        </p:nvSpPr>
        <p:spPr>
          <a:xfrm>
            <a:off x="1238250" y="6303615"/>
            <a:ext cx="7620000" cy="647700"/>
          </a:xfrm>
          <a:prstGeom prst="roundRect">
            <a:avLst>
              <a:gd name="adj" fmla="val 14706"/>
            </a:avLst>
          </a:prstGeom>
          <a:solidFill>
            <a:srgbClr val="F4F7FA"/>
          </a:solidFill>
          <a:ln/>
        </p:spPr>
      </p:sp>
      <p:sp>
        <p:nvSpPr>
          <p:cNvPr id="14" name="Text 12"/>
          <p:cNvSpPr/>
          <p:nvPr/>
        </p:nvSpPr>
        <p:spPr>
          <a:xfrm>
            <a:off x="1447800" y="6456015"/>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Write code to make the test pass (Green)</a:t>
            </a:r>
            <a:endParaRPr lang="en-US" sz="1800" dirty="0"/>
          </a:p>
        </p:txBody>
      </p:sp>
      <p:sp>
        <p:nvSpPr>
          <p:cNvPr id="15" name="Text 13"/>
          <p:cNvSpPr/>
          <p:nvPr/>
        </p:nvSpPr>
        <p:spPr>
          <a:xfrm>
            <a:off x="8820150" y="6456015"/>
            <a:ext cx="647700" cy="381000"/>
          </a:xfrm>
          <a:prstGeom prst="rect">
            <a:avLst/>
          </a:prstGeom>
          <a:noFill/>
          <a:ln/>
        </p:spPr>
        <p:txBody>
          <a:bodyPr wrap="square" lIns="25400" tIns="25400" rIns="25400" bIns="25400" rtlCol="0" anchor="t">
            <a:normAutofit/>
          </a:bodyPr>
          <a:lstStyle/>
          <a:p>
            <a:pPr algn="ctr" indent="0" marL="0">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16" name="Shape 14"/>
          <p:cNvSpPr/>
          <p:nvPr/>
        </p:nvSpPr>
        <p:spPr>
          <a:xfrm>
            <a:off x="9429750" y="6303615"/>
            <a:ext cx="7620000" cy="647700"/>
          </a:xfrm>
          <a:prstGeom prst="roundRect">
            <a:avLst>
              <a:gd name="adj" fmla="val 14706"/>
            </a:avLst>
          </a:prstGeom>
          <a:solidFill>
            <a:srgbClr val="E9F1FA"/>
          </a:solidFill>
          <a:ln/>
        </p:spPr>
      </p:sp>
      <p:sp>
        <p:nvSpPr>
          <p:cNvPr id="17" name="Text 15"/>
          <p:cNvSpPr/>
          <p:nvPr/>
        </p:nvSpPr>
        <p:spPr>
          <a:xfrm>
            <a:off x="9639300" y="6456015"/>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E1A26"/>
                </a:solidFill>
                <a:latin typeface="Khula" pitchFamily="34" charset="0"/>
                <a:ea typeface="Khula" pitchFamily="34" charset="-122"/>
                <a:cs typeface="Khula" pitchFamily="34" charset="-120"/>
              </a:rPr>
              <a:t>Add instructions to the skill until all EC pass.</a:t>
            </a:r>
            <a:endParaRPr lang="en-US" sz="1800" dirty="0"/>
          </a:p>
        </p:txBody>
      </p:sp>
      <p:sp>
        <p:nvSpPr>
          <p:cNvPr id="18" name="Shape 16"/>
          <p:cNvSpPr/>
          <p:nvPr/>
        </p:nvSpPr>
        <p:spPr>
          <a:xfrm>
            <a:off x="1238250" y="7218015"/>
            <a:ext cx="7620000" cy="647700"/>
          </a:xfrm>
          <a:prstGeom prst="roundRect">
            <a:avLst>
              <a:gd name="adj" fmla="val 14706"/>
            </a:avLst>
          </a:prstGeom>
          <a:solidFill>
            <a:srgbClr val="F4F7FA"/>
          </a:solidFill>
          <a:ln/>
        </p:spPr>
      </p:sp>
      <p:sp>
        <p:nvSpPr>
          <p:cNvPr id="19" name="Text 17"/>
          <p:cNvSpPr/>
          <p:nvPr/>
        </p:nvSpPr>
        <p:spPr>
          <a:xfrm>
            <a:off x="1447800" y="7370415"/>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Refactor: remove code that isn't needed</a:t>
            </a:r>
            <a:endParaRPr lang="en-US" sz="1800" dirty="0"/>
          </a:p>
        </p:txBody>
      </p:sp>
      <p:sp>
        <p:nvSpPr>
          <p:cNvPr id="20" name="Text 18"/>
          <p:cNvSpPr/>
          <p:nvPr/>
        </p:nvSpPr>
        <p:spPr>
          <a:xfrm>
            <a:off x="8820150" y="7370415"/>
            <a:ext cx="647700" cy="381000"/>
          </a:xfrm>
          <a:prstGeom prst="rect">
            <a:avLst/>
          </a:prstGeom>
          <a:noFill/>
          <a:ln/>
        </p:spPr>
        <p:txBody>
          <a:bodyPr wrap="square" lIns="25400" tIns="25400" rIns="25400" bIns="25400" rtlCol="0" anchor="t">
            <a:normAutofit/>
          </a:bodyPr>
          <a:lstStyle/>
          <a:p>
            <a:pPr algn="ctr" indent="0" marL="0">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21" name="Shape 19"/>
          <p:cNvSpPr/>
          <p:nvPr/>
        </p:nvSpPr>
        <p:spPr>
          <a:xfrm>
            <a:off x="9429750" y="7046565"/>
            <a:ext cx="7620000" cy="990600"/>
          </a:xfrm>
          <a:prstGeom prst="roundRect">
            <a:avLst>
              <a:gd name="adj" fmla="val 9615"/>
            </a:avLst>
          </a:prstGeom>
          <a:solidFill>
            <a:srgbClr val="E9F1FA"/>
          </a:solidFill>
          <a:ln/>
        </p:spPr>
      </p:sp>
      <p:sp>
        <p:nvSpPr>
          <p:cNvPr id="22" name="Text 20"/>
          <p:cNvSpPr/>
          <p:nvPr/>
        </p:nvSpPr>
        <p:spPr>
          <a:xfrm>
            <a:off x="9639300" y="7198965"/>
            <a:ext cx="7429500" cy="7239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E1A26"/>
                </a:solidFill>
                <a:latin typeface="Khula" pitchFamily="34" charset="0"/>
                <a:ea typeface="Khula" pitchFamily="34" charset="-122"/>
                <a:cs typeface="Khula" pitchFamily="34" charset="-120"/>
              </a:rPr>
              <a:t>Remove any instruction that, when deleted, causes no EC to fail. Dead instructions are noise.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2083147"/>
            <a:ext cx="3265289" cy="533400"/>
          </a:xfrm>
          <a:prstGeom prst="roundRect">
            <a:avLst>
              <a:gd name="adj" fmla="val 50000"/>
            </a:avLst>
          </a:prstGeom>
          <a:solidFill>
            <a:srgbClr val="005596"/>
          </a:solidFill>
          <a:ln/>
        </p:spPr>
      </p:sp>
      <p:sp>
        <p:nvSpPr>
          <p:cNvPr id="3" name="Text 1"/>
          <p:cNvSpPr/>
          <p:nvPr/>
        </p:nvSpPr>
        <p:spPr>
          <a:xfrm>
            <a:off x="1485900" y="2178397"/>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2826097"/>
            <a:ext cx="17392650" cy="520005"/>
          </a:xfrm>
          <a:prstGeom prst="rect">
            <a:avLst/>
          </a:prstGeom>
          <a:noFill/>
          <a:ln/>
        </p:spPr>
        <p:txBody>
          <a:bodyPr wrap="square" lIns="25400" tIns="25400" rIns="25400" bIns="25400" rtlCol="0" anchor="t">
            <a:normAutofit/>
          </a:bodyPr>
          <a:lstStyle/>
          <a:p>
            <a:pPr algn="l" indent="0" marL="0">
              <a:lnSpc>
                <a:spcPct val="73333"/>
              </a:lnSpc>
              <a:buNone/>
            </a:pPr>
            <a:r>
              <a:rPr lang="en-US" sz="3450" b="1" spc="-69" kern="0" dirty="0">
                <a:solidFill>
                  <a:srgbClr val="005596"/>
                </a:solidFill>
                <a:latin typeface="Poppins" pitchFamily="34" charset="0"/>
                <a:ea typeface="Poppins" pitchFamily="34" charset="-122"/>
                <a:cs typeface="Poppins" pitchFamily="34" charset="-120"/>
              </a:rPr>
              <a:t>Applying Red, Green, Refactor</a:t>
            </a:r>
            <a:endParaRPr lang="en-US" sz="3450" dirty="0"/>
          </a:p>
        </p:txBody>
      </p:sp>
      <p:sp>
        <p:nvSpPr>
          <p:cNvPr id="5" name="Shape 3"/>
          <p:cNvSpPr/>
          <p:nvPr/>
        </p:nvSpPr>
        <p:spPr>
          <a:xfrm>
            <a:off x="1238250" y="3517553"/>
            <a:ext cx="15811500" cy="1028700"/>
          </a:xfrm>
          <a:prstGeom prst="roundRect">
            <a:avLst>
              <a:gd name="adj" fmla="val 9259"/>
            </a:avLst>
          </a:prstGeom>
          <a:solidFill>
            <a:srgbClr val="F4F7FA"/>
          </a:solidFill>
          <a:ln/>
        </p:spPr>
      </p:sp>
      <p:sp>
        <p:nvSpPr>
          <p:cNvPr id="6" name="Text 4"/>
          <p:cNvSpPr/>
          <p:nvPr/>
        </p:nvSpPr>
        <p:spPr>
          <a:xfrm>
            <a:off x="1466850" y="3669953"/>
            <a:ext cx="15828645" cy="762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05596"/>
                </a:solidFill>
                <a:latin typeface="Poppins" pitchFamily="34" charset="0"/>
                <a:ea typeface="Poppins" pitchFamily="34" charset="-122"/>
                <a:cs typeface="Poppins" pitchFamily="34" charset="-120"/>
              </a:rPr>
              <a:t>Red — </a:t>
            </a:r>
            <a:pPr algn="l" indent="0" marL="0">
              <a:lnSpc>
                <a:spcPct val="92308"/>
              </a:lnSpc>
              <a:buNone/>
            </a:pPr>
            <a:r>
              <a:rPr lang="en-US" sz="1800" dirty="0">
                <a:solidFill>
                  <a:srgbClr val="0E1A26"/>
                </a:solidFill>
                <a:latin typeface="Khula" pitchFamily="34" charset="0"/>
                <a:ea typeface="Khula" pitchFamily="34" charset="-122"/>
                <a:cs typeface="Khula" pitchFamily="34" charset="-120"/>
              </a:rPr>
              <a:t>run your current skill against 3–5 sample stories from sample-stories/. Score each output against your EC using your Python evaluation script. Record the score — some EC should fail; that's the baseline.</a:t>
            </a:r>
            <a:endParaRPr lang="en-US" sz="1200" dirty="0"/>
          </a:p>
        </p:txBody>
      </p:sp>
      <p:sp>
        <p:nvSpPr>
          <p:cNvPr id="7" name="Shape 5"/>
          <p:cNvSpPr/>
          <p:nvPr/>
        </p:nvSpPr>
        <p:spPr>
          <a:xfrm>
            <a:off x="1238250" y="4660553"/>
            <a:ext cx="15811500" cy="1028700"/>
          </a:xfrm>
          <a:prstGeom prst="roundRect">
            <a:avLst>
              <a:gd name="adj" fmla="val 9259"/>
            </a:avLst>
          </a:prstGeom>
          <a:solidFill>
            <a:srgbClr val="F4F7FA"/>
          </a:solidFill>
          <a:ln/>
        </p:spPr>
      </p:sp>
      <p:sp>
        <p:nvSpPr>
          <p:cNvPr id="8" name="Text 6"/>
          <p:cNvSpPr/>
          <p:nvPr/>
        </p:nvSpPr>
        <p:spPr>
          <a:xfrm>
            <a:off x="1466850" y="4812953"/>
            <a:ext cx="15828645" cy="762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05596"/>
                </a:solidFill>
                <a:latin typeface="Poppins" pitchFamily="34" charset="0"/>
                <a:ea typeface="Poppins" pitchFamily="34" charset="-122"/>
                <a:cs typeface="Poppins" pitchFamily="34" charset="-120"/>
              </a:rPr>
              <a:t>Green — </a:t>
            </a:r>
            <a:pPr algn="l" indent="0" marL="0">
              <a:lnSpc>
                <a:spcPct val="92308"/>
              </a:lnSpc>
              <a:buNone/>
            </a:pPr>
            <a:r>
              <a:rPr lang="en-US" sz="1800" dirty="0">
                <a:solidFill>
                  <a:srgbClr val="0E1A26"/>
                </a:solidFill>
                <a:latin typeface="Khula" pitchFamily="34" charset="0"/>
                <a:ea typeface="Khula" pitchFamily="34" charset="-122"/>
                <a:cs typeface="Khula" pitchFamily="34" charset="-120"/>
              </a:rPr>
              <a:t>form a hypothesis: "I believe EC X is failing because the skill lacks instruction Y." Make one change. Re-run the evaluator. Did EC X improve? Did anything else change?</a:t>
            </a:r>
            <a:endParaRPr lang="en-US" sz="1200" dirty="0"/>
          </a:p>
        </p:txBody>
      </p:sp>
      <p:sp>
        <p:nvSpPr>
          <p:cNvPr id="9" name="Shape 7"/>
          <p:cNvSpPr/>
          <p:nvPr/>
        </p:nvSpPr>
        <p:spPr>
          <a:xfrm>
            <a:off x="1238250" y="5803553"/>
            <a:ext cx="15811500" cy="1028700"/>
          </a:xfrm>
          <a:prstGeom prst="roundRect">
            <a:avLst>
              <a:gd name="adj" fmla="val 9259"/>
            </a:avLst>
          </a:prstGeom>
          <a:solidFill>
            <a:srgbClr val="F4F7FA"/>
          </a:solidFill>
          <a:ln/>
        </p:spPr>
      </p:sp>
      <p:sp>
        <p:nvSpPr>
          <p:cNvPr id="10" name="Text 8"/>
          <p:cNvSpPr/>
          <p:nvPr/>
        </p:nvSpPr>
        <p:spPr>
          <a:xfrm>
            <a:off x="1466850" y="5955953"/>
            <a:ext cx="15828645" cy="762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05596"/>
                </a:solidFill>
                <a:latin typeface="Poppins" pitchFamily="34" charset="0"/>
                <a:ea typeface="Poppins" pitchFamily="34" charset="-122"/>
                <a:cs typeface="Poppins" pitchFamily="34" charset="-120"/>
              </a:rPr>
              <a:t>Refactor — </a:t>
            </a:r>
            <a:pPr algn="l" indent="0" marL="0">
              <a:lnSpc>
                <a:spcPct val="92308"/>
              </a:lnSpc>
              <a:buNone/>
            </a:pPr>
            <a:r>
              <a:rPr lang="en-US" sz="1800" dirty="0">
                <a:solidFill>
                  <a:srgbClr val="0E1A26"/>
                </a:solidFill>
                <a:latin typeface="Khula" pitchFamily="34" charset="0"/>
                <a:ea typeface="Khula" pitchFamily="34" charset="-122"/>
                <a:cs typeface="Khula" pitchFamily="34" charset="-120"/>
              </a:rPr>
              <a:t>when all EC are passing, read every instruction in the skill. For each: remove it and re-run the evaluator. If no EC score drops, the instruction is dead weight. Remove it.</a:t>
            </a:r>
            <a:endParaRPr lang="en-US" sz="1200" dirty="0"/>
          </a:p>
        </p:txBody>
      </p:sp>
      <p:sp>
        <p:nvSpPr>
          <p:cNvPr id="11" name="Shape 9"/>
          <p:cNvSpPr/>
          <p:nvPr/>
        </p:nvSpPr>
        <p:spPr>
          <a:xfrm>
            <a:off x="1238250" y="7041803"/>
            <a:ext cx="15811500" cy="1162050"/>
          </a:xfrm>
          <a:prstGeom prst="roundRect">
            <a:avLst>
              <a:gd name="adj" fmla="val 13115"/>
            </a:avLst>
          </a:prstGeom>
          <a:solidFill>
            <a:srgbClr val="005596"/>
          </a:solidFill>
          <a:ln/>
          <a:effectLst>
            <a:outerShdw sx="100000" sy="100000" kx="0" ky="0" algn="bl" rotWithShape="0" blurRad="266700" dist="114300" dir="5400000">
              <a:srgbClr val="005596">
                <a:alpha val="28000"/>
              </a:srgbClr>
            </a:outerShdw>
          </a:effectLst>
        </p:spPr>
      </p:sp>
      <p:sp>
        <p:nvSpPr>
          <p:cNvPr id="12" name="Text 10"/>
          <p:cNvSpPr/>
          <p:nvPr/>
        </p:nvSpPr>
        <p:spPr>
          <a:xfrm>
            <a:off x="1543050" y="7251353"/>
            <a:ext cx="15657957" cy="781050"/>
          </a:xfrm>
          <a:prstGeom prst="rect">
            <a:avLst/>
          </a:prstGeom>
          <a:noFill/>
          <a:ln/>
        </p:spPr>
        <p:txBody>
          <a:bodyPr wrap="square" lIns="25400" tIns="25400" rIns="25400" bIns="25400" rtlCol="0" anchor="t">
            <a:normAutofit/>
          </a:bodyPr>
          <a:lstStyle/>
          <a:p>
            <a:pPr algn="l" indent="0" marL="0">
              <a:lnSpc>
                <a:spcPct val="92857"/>
              </a:lnSpc>
              <a:buNone/>
            </a:pPr>
            <a:r>
              <a:rPr lang="en-US" sz="1950" b="1" dirty="0">
                <a:solidFill>
                  <a:srgbClr val="FFFFFF"/>
                </a:solidFill>
                <a:latin typeface="Khula" pitchFamily="34" charset="0"/>
                <a:ea typeface="Khula" pitchFamily="34" charset="-122"/>
                <a:cs typeface="Khula" pitchFamily="34" charset="-120"/>
              </a:rPr>
              <a:t>The most important rule: one change per iteration. Changing multiple instructions at once makes it impossible to know which change produced which effect.</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2736800"/>
            <a:ext cx="3265289" cy="533400"/>
          </a:xfrm>
          <a:prstGeom prst="roundRect">
            <a:avLst>
              <a:gd name="adj" fmla="val 50000"/>
            </a:avLst>
          </a:prstGeom>
          <a:solidFill>
            <a:srgbClr val="005596"/>
          </a:solidFill>
          <a:ln/>
        </p:spPr>
      </p:sp>
      <p:sp>
        <p:nvSpPr>
          <p:cNvPr id="3" name="Text 1"/>
          <p:cNvSpPr/>
          <p:nvPr/>
        </p:nvSpPr>
        <p:spPr>
          <a:xfrm>
            <a:off x="1485900" y="2832050"/>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498800"/>
            <a:ext cx="17392650" cy="520005"/>
          </a:xfrm>
          <a:prstGeom prst="rect">
            <a:avLst/>
          </a:prstGeom>
          <a:noFill/>
          <a:ln/>
        </p:spPr>
        <p:txBody>
          <a:bodyPr wrap="square" lIns="25400" tIns="25400" rIns="25400" bIns="25400" rtlCol="0" anchor="t">
            <a:normAutofit/>
          </a:bodyPr>
          <a:lstStyle/>
          <a:p>
            <a:pPr algn="l" indent="0" marL="0">
              <a:lnSpc>
                <a:spcPct val="73333"/>
              </a:lnSpc>
              <a:buNone/>
            </a:pPr>
            <a:r>
              <a:rPr lang="en-US" sz="3450" b="1" spc="-69" kern="0" dirty="0">
                <a:solidFill>
                  <a:srgbClr val="005596"/>
                </a:solidFill>
                <a:latin typeface="Poppins" pitchFamily="34" charset="0"/>
                <a:ea typeface="Poppins" pitchFamily="34" charset="-122"/>
                <a:cs typeface="Poppins" pitchFamily="34" charset="-120"/>
              </a:rPr>
              <a:t>The LLM Judge Pattern</a:t>
            </a:r>
            <a:endParaRPr lang="en-US" sz="3450" dirty="0"/>
          </a:p>
        </p:txBody>
      </p:sp>
      <p:sp>
        <p:nvSpPr>
          <p:cNvPr id="5" name="Shape 3"/>
          <p:cNvSpPr/>
          <p:nvPr/>
        </p:nvSpPr>
        <p:spPr>
          <a:xfrm>
            <a:off x="1238250" y="4209306"/>
            <a:ext cx="15811500" cy="1306562"/>
          </a:xfrm>
          <a:prstGeom prst="roundRect">
            <a:avLst>
              <a:gd name="adj" fmla="val 7290"/>
            </a:avLst>
          </a:prstGeom>
          <a:solidFill>
            <a:srgbClr val="E9F1FA"/>
          </a:solidFill>
          <a:ln w="19050">
            <a:solidFill>
              <a:srgbClr val="005596"/>
            </a:solidFill>
            <a:prstDash val="solid"/>
          </a:ln>
        </p:spPr>
      </p:sp>
      <p:sp>
        <p:nvSpPr>
          <p:cNvPr id="6" name="Text 4"/>
          <p:cNvSpPr/>
          <p:nvPr/>
        </p:nvSpPr>
        <p:spPr>
          <a:xfrm>
            <a:off x="1504950" y="4399806"/>
            <a:ext cx="15736443" cy="963662"/>
          </a:xfrm>
          <a:prstGeom prst="rect">
            <a:avLst/>
          </a:prstGeom>
          <a:noFill/>
          <a:ln/>
        </p:spPr>
        <p:txBody>
          <a:bodyPr wrap="square" lIns="25400" tIns="25400" rIns="25400" bIns="25400" rtlCol="0" anchor="t">
            <a:normAutofit/>
          </a:bodyPr>
          <a:lstStyle/>
          <a:p>
            <a:pPr algn="l" indent="0" marL="0">
              <a:lnSpc>
                <a:spcPct val="83077"/>
              </a:lnSpc>
              <a:buNone/>
            </a:pPr>
            <a:r>
              <a:rPr lang="en-US" sz="1800" dirty="0">
                <a:solidFill>
                  <a:srgbClr val="0E1A26"/>
                </a:solidFill>
                <a:latin typeface="Khula" pitchFamily="34" charset="0"/>
                <a:ea typeface="Khula" pitchFamily="34" charset="-122"/>
                <a:cs typeface="Khula" pitchFamily="34" charset="-120"/>
              </a:rPr>
              <a:t>Deterministic checks come first — fast, free, structural: schema validation, field counts, format patterns. They catch obvious failures instantly and cost nothing. LLM judges come second, reserved for criteria that require genuine judgment: semantic quality, coverage of edge cases, specificity of recommendations.</a:t>
            </a:r>
            <a:endParaRPr lang="en-US" sz="1800" dirty="0"/>
          </a:p>
        </p:txBody>
      </p:sp>
      <p:sp>
        <p:nvSpPr>
          <p:cNvPr id="7" name="Text 5"/>
          <p:cNvSpPr/>
          <p:nvPr/>
        </p:nvSpPr>
        <p:spPr>
          <a:xfrm>
            <a:off x="1238250" y="5744468"/>
            <a:ext cx="1739265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An LLM judge is a Python script that sends your skill's output and your EC to a model and receives a structured judgment. The pattern:</a:t>
            </a:r>
            <a:endParaRPr lang="en-US" sz="1800" dirty="0"/>
          </a:p>
        </p:txBody>
      </p:sp>
      <p:sp>
        <p:nvSpPr>
          <p:cNvPr id="8" name="Text 6"/>
          <p:cNvSpPr/>
          <p:nvPr/>
        </p:nvSpPr>
        <p:spPr>
          <a:xfrm>
            <a:off x="1181100" y="6315968"/>
            <a:ext cx="7896225" cy="963662"/>
          </a:xfrm>
          <a:prstGeom prst="rect">
            <a:avLst/>
          </a:prstGeom>
          <a:noFill/>
          <a:ln/>
        </p:spPr>
        <p:txBody>
          <a:bodyPr wrap="square" lIns="25400" tIns="25400" rIns="25400" bIns="25400" rtlCol="0" anchor="t">
            <a:normAutofit/>
          </a:bodyPr>
          <a:lstStyle/>
          <a:p>
            <a:pPr algn="l" marL="342900" indent="-342900">
              <a:lnSpc>
                <a:spcPct val="83077"/>
              </a:lnSpc>
              <a:buSzPct val="100000"/>
              <a:buFont typeface="+mj-lt"/>
              <a:buAutoNum type="arabicPeriod" startAt="1"/>
              <a:tabLst>
                <a:tab pos="342900" algn="l"/>
              </a:tabLst>
            </a:pPr>
            <a:r>
              <a:rPr lang="en-US" sz="1800" dirty="0">
                <a:solidFill>
                  <a:srgbClr val="0E1A26"/>
                </a:solidFill>
                <a:latin typeface="Khula" pitchFamily="34" charset="0"/>
                <a:ea typeface="Khula" pitchFamily="34" charset="-122"/>
                <a:cs typeface="Khula" pitchFamily="34" charset="-120"/>
              </a:rPr>
              <a:t>Load the skill's output</a:t>
            </a:r>
            <a:endParaRPr lang="en-US" sz="1800" dirty="0"/>
          </a:p>
          <a:p>
            <a:pPr algn="l" marL="342900" indent="-342900">
              <a:lnSpc>
                <a:spcPct val="83077"/>
              </a:lnSpc>
              <a:buSzPct val="100000"/>
              <a:buFont typeface="+mj-lt"/>
              <a:buAutoNum type="arabicPeriod" startAt="2"/>
              <a:tabLst>
                <a:tab pos="342900" algn="l"/>
              </a:tabLst>
            </a:pPr>
            <a:r>
              <a:rPr lang="en-US" sz="1800" dirty="0">
                <a:solidFill>
                  <a:srgbClr val="0E1A26"/>
                </a:solidFill>
                <a:latin typeface="Khula" pitchFamily="34" charset="0"/>
                <a:ea typeface="Khula" pitchFamily="34" charset="-122"/>
                <a:cs typeface="Khula" pitchFamily="34" charset="-120"/>
              </a:rPr>
              <a:t>Load the EC (the same EC written before building the skill)</a:t>
            </a:r>
            <a:endParaRPr lang="en-US" sz="1800" dirty="0"/>
          </a:p>
          <a:p>
            <a:pPr algn="l" marL="342900" indent="-342900">
              <a:lnSpc>
                <a:spcPct val="83077"/>
              </a:lnSpc>
              <a:buSzPct val="100000"/>
              <a:buFont typeface="+mj-lt"/>
              <a:buAutoNum type="arabicPeriod" startAt="3"/>
              <a:tabLst>
                <a:tab pos="342900" algn="l"/>
              </a:tabLst>
            </a:pPr>
            <a:r>
              <a:rPr lang="en-US" sz="1800" dirty="0">
                <a:solidFill>
                  <a:srgbClr val="0E1A26"/>
                </a:solidFill>
                <a:latin typeface="Khula" pitchFamily="34" charset="0"/>
                <a:ea typeface="Khula" pitchFamily="34" charset="-122"/>
                <a:cs typeface="Khula" pitchFamily="34" charset="-120"/>
              </a:rPr>
              <a:t>Construct a prompt asking the model to evaluate the output against each criterion and return structured JSON</a:t>
            </a:r>
            <a:endParaRPr lang="en-US" sz="1800" dirty="0"/>
          </a:p>
          <a:p>
            <a:pPr algn="l" marL="342900" indent="-342900">
              <a:lnSpc>
                <a:spcPct val="83077"/>
              </a:lnSpc>
              <a:buSzPct val="100000"/>
              <a:buFont typeface="+mj-lt"/>
              <a:buAutoNum type="arabicPeriod" startAt="4"/>
              <a:tabLst>
                <a:tab pos="342900" algn="l"/>
              </a:tabLst>
            </a:pPr>
            <a:r>
              <a:rPr lang="en-US" sz="1800" dirty="0">
                <a:solidFill>
                  <a:srgbClr val="0E1A26"/>
                </a:solidFill>
                <a:latin typeface="Khula" pitchFamily="34" charset="0"/>
                <a:ea typeface="Khula" pitchFamily="34" charset="-122"/>
                <a:cs typeface="Khula" pitchFamily="34" charset="-120"/>
              </a:rPr>
              <a:t>Call the model API</a:t>
            </a:r>
            <a:endParaRPr lang="en-US" sz="1800" dirty="0"/>
          </a:p>
          <a:p>
            <a:pPr algn="l" marL="342900" indent="-342900">
              <a:lnSpc>
                <a:spcPct val="83077"/>
              </a:lnSpc>
              <a:buSzPct val="100000"/>
              <a:buFont typeface="+mj-lt"/>
              <a:buAutoNum type="arabicPeriod" startAt="5"/>
              <a:tabLst>
                <a:tab pos="342900" algn="l"/>
              </a:tabLst>
            </a:pPr>
            <a:r>
              <a:rPr lang="en-US" sz="1800" dirty="0">
                <a:solidFill>
                  <a:srgbClr val="0E1A26"/>
                </a:solidFill>
                <a:latin typeface="Khula" pitchFamily="34" charset="0"/>
                <a:ea typeface="Khula" pitchFamily="34" charset="-122"/>
                <a:cs typeface="Khula" pitchFamily="34" charset="-120"/>
              </a:rPr>
              <a:t>Parse the structured response</a:t>
            </a:r>
            <a:endParaRPr lang="en-US" sz="1800" dirty="0"/>
          </a:p>
          <a:p>
            <a:pPr algn="l" marL="342900" indent="-342900">
              <a:lnSpc>
                <a:spcPct val="83077"/>
              </a:lnSpc>
              <a:buSzPct val="100000"/>
              <a:buFont typeface="+mj-lt"/>
              <a:buAutoNum type="arabicPeriod" startAt="6"/>
              <a:tabLst>
                <a:tab pos="342900" algn="l"/>
              </a:tabLst>
            </a:pPr>
            <a:r>
              <a:rPr lang="en-US" sz="1800" dirty="0">
                <a:solidFill>
                  <a:srgbClr val="0E1A26"/>
                </a:solidFill>
                <a:latin typeface="Khula" pitchFamily="34" charset="0"/>
                <a:ea typeface="Khula" pitchFamily="34" charset="-122"/>
                <a:cs typeface="Khula" pitchFamily="34" charset="-120"/>
              </a:rPr>
              <a:t>Aggregate scores across criteria and inputs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3243560"/>
            <a:ext cx="3265289" cy="533400"/>
          </a:xfrm>
          <a:prstGeom prst="roundRect">
            <a:avLst>
              <a:gd name="adj" fmla="val 50000"/>
            </a:avLst>
          </a:prstGeom>
          <a:solidFill>
            <a:srgbClr val="005596"/>
          </a:solidFill>
          <a:ln/>
        </p:spPr>
      </p:sp>
      <p:sp>
        <p:nvSpPr>
          <p:cNvPr id="3" name="Text 1"/>
          <p:cNvSpPr/>
          <p:nvPr/>
        </p:nvSpPr>
        <p:spPr>
          <a:xfrm>
            <a:off x="1485900" y="3338810"/>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4024610"/>
            <a:ext cx="17392650" cy="520005"/>
          </a:xfrm>
          <a:prstGeom prst="rect">
            <a:avLst/>
          </a:prstGeom>
          <a:noFill/>
          <a:ln/>
        </p:spPr>
        <p:txBody>
          <a:bodyPr wrap="square" lIns="25400" tIns="25400" rIns="25400" bIns="25400" rtlCol="0" anchor="t">
            <a:normAutofit/>
          </a:bodyPr>
          <a:lstStyle/>
          <a:p>
            <a:pPr algn="l" indent="0" marL="0">
              <a:lnSpc>
                <a:spcPct val="73333"/>
              </a:lnSpc>
              <a:buNone/>
            </a:pPr>
            <a:r>
              <a:rPr lang="en-US" sz="3450" b="1" spc="-69" kern="0" dirty="0">
                <a:solidFill>
                  <a:srgbClr val="005596"/>
                </a:solidFill>
                <a:latin typeface="Poppins" pitchFamily="34" charset="0"/>
                <a:ea typeface="Poppins" pitchFamily="34" charset="-122"/>
                <a:cs typeface="Poppins" pitchFamily="34" charset="-120"/>
              </a:rPr>
              <a:t>Why LLM Judges, Why Python</a:t>
            </a:r>
            <a:endParaRPr lang="en-US" sz="3450" dirty="0"/>
          </a:p>
        </p:txBody>
      </p:sp>
      <p:sp>
        <p:nvSpPr>
          <p:cNvPr id="5" name="Text 3"/>
          <p:cNvSpPr/>
          <p:nvPr/>
        </p:nvSpPr>
        <p:spPr>
          <a:xfrm>
            <a:off x="1238250" y="4754166"/>
            <a:ext cx="854964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A7A8A9"/>
                </a:solidFill>
                <a:latin typeface="Poppins" pitchFamily="34" charset="0"/>
                <a:ea typeface="Poppins" pitchFamily="34" charset="-122"/>
                <a:cs typeface="Poppins" pitchFamily="34" charset="-120"/>
              </a:rPr>
              <a:t>WHY LLM JUDGES INSTEAD OF STRING MATCHING</a:t>
            </a:r>
            <a:endParaRPr lang="en-US" sz="1800" dirty="0"/>
          </a:p>
        </p:txBody>
      </p:sp>
      <p:sp>
        <p:nvSpPr>
          <p:cNvPr id="6" name="Text 4"/>
          <p:cNvSpPr/>
          <p:nvPr/>
        </p:nvSpPr>
        <p:spPr>
          <a:xfrm>
            <a:off x="1325880" y="5192316"/>
            <a:ext cx="7760970" cy="1889224"/>
          </a:xfrm>
          <a:prstGeom prst="rect">
            <a:avLst/>
          </a:prstGeom>
          <a:noFill/>
          <a:ln/>
        </p:spPr>
        <p:txBody>
          <a:bodyPr wrap="square" lIns="25400" tIns="25400" rIns="25400" bIns="25400" rtlCol="0" anchor="t">
            <a:normAutofit/>
          </a:bodyPr>
          <a:lstStyle/>
          <a:p>
            <a:pPr algn="l" marL="160020" indent="-160020">
              <a:lnSpc>
                <a:spcPct val="83077"/>
              </a:lnSpc>
              <a:buSzPct val="100000"/>
              <a:buChar char="•"/>
              <a:tabLst>
                <a:tab pos="160020" algn="l"/>
              </a:tabLst>
            </a:pPr>
            <a:r>
              <a:rPr lang="en-US" sz="1800" dirty="0">
                <a:solidFill>
                  <a:srgbClr val="0E1A26"/>
                </a:solidFill>
                <a:latin typeface="Khula" pitchFamily="34" charset="0"/>
                <a:ea typeface="Khula" pitchFamily="34" charset="-122"/>
                <a:cs typeface="Khula" pitchFamily="34" charset="-120"/>
              </a:rPr>
              <a:t>Most EC require judgment, not string matching — "does the output cover at least one edge case?" requires understanding what counts as an edge case</a:t>
            </a:r>
            <a:endParaRPr lang="en-US" sz="1800" dirty="0"/>
          </a:p>
          <a:p>
            <a:pPr algn="l" marL="160020" indent="-160020">
              <a:lnSpc>
                <a:spcPct val="83077"/>
              </a:lnSpc>
              <a:buSzPct val="100000"/>
              <a:buChar char="•"/>
              <a:tabLst>
                <a:tab pos="160020" algn="l"/>
              </a:tabLst>
            </a:pPr>
            <a:r>
              <a:rPr lang="en-US" sz="1800" dirty="0">
                <a:solidFill>
                  <a:srgbClr val="0E1A26"/>
                </a:solidFill>
                <a:latin typeface="Khula" pitchFamily="34" charset="0"/>
                <a:ea typeface="Khula" pitchFamily="34" charset="-122"/>
                <a:cs typeface="Khula" pitchFamily="34" charset="-120"/>
              </a:rPr>
              <a:t>LLM judges can evaluate semantic quality, not just structural properties</a:t>
            </a:r>
            <a:endParaRPr lang="en-US" sz="1800" dirty="0"/>
          </a:p>
          <a:p>
            <a:pPr algn="l" marL="160020" indent="-160020">
              <a:lnSpc>
                <a:spcPct val="83077"/>
              </a:lnSpc>
              <a:buSzPct val="100000"/>
              <a:buChar char="•"/>
              <a:tabLst>
                <a:tab pos="160020" algn="l"/>
              </a:tabLst>
            </a:pPr>
            <a:r>
              <a:rPr lang="en-US" sz="1800" dirty="0">
                <a:solidFill>
                  <a:srgbClr val="0E1A26"/>
                </a:solidFill>
                <a:latin typeface="Khula" pitchFamily="34" charset="0"/>
                <a:ea typeface="Khula" pitchFamily="34" charset="-122"/>
                <a:cs typeface="Khula" pitchFamily="34" charset="-120"/>
              </a:rPr>
              <a:t>The judge uses the same EC the participant wrote — a direct feedback loop between intent and measurement</a:t>
            </a:r>
            <a:endParaRPr lang="en-US" sz="1800" dirty="0"/>
          </a:p>
        </p:txBody>
      </p:sp>
      <p:sp>
        <p:nvSpPr>
          <p:cNvPr id="7" name="Text 5"/>
          <p:cNvSpPr/>
          <p:nvPr/>
        </p:nvSpPr>
        <p:spPr>
          <a:xfrm>
            <a:off x="9277350" y="4754166"/>
            <a:ext cx="854964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A7A8A9"/>
                </a:solidFill>
                <a:latin typeface="Poppins" pitchFamily="34" charset="0"/>
                <a:ea typeface="Poppins" pitchFamily="34" charset="-122"/>
                <a:cs typeface="Poppins" pitchFamily="34" charset="-120"/>
              </a:rPr>
              <a:t>WHY PYTHON INSTEAD OF A YAML CONFIG TOOL</a:t>
            </a:r>
            <a:endParaRPr lang="en-US" sz="1800" dirty="0"/>
          </a:p>
        </p:txBody>
      </p:sp>
      <p:sp>
        <p:nvSpPr>
          <p:cNvPr id="8" name="Text 6"/>
          <p:cNvSpPr/>
          <p:nvPr/>
        </p:nvSpPr>
        <p:spPr>
          <a:xfrm>
            <a:off x="9364980" y="5192316"/>
            <a:ext cx="7760970" cy="1580704"/>
          </a:xfrm>
          <a:prstGeom prst="rect">
            <a:avLst/>
          </a:prstGeom>
          <a:noFill/>
          <a:ln/>
        </p:spPr>
        <p:txBody>
          <a:bodyPr wrap="square" lIns="25400" tIns="25400" rIns="25400" bIns="25400" rtlCol="0" anchor="t">
            <a:normAutofit/>
          </a:bodyPr>
          <a:lstStyle/>
          <a:p>
            <a:pPr algn="l" marL="160020" indent="-160020">
              <a:lnSpc>
                <a:spcPct val="83077"/>
              </a:lnSpc>
              <a:buSzPct val="100000"/>
              <a:buChar char="•"/>
              <a:tabLst>
                <a:tab pos="160020" algn="l"/>
              </a:tabLst>
            </a:pPr>
            <a:r>
              <a:rPr lang="en-US" sz="1800" dirty="0">
                <a:solidFill>
                  <a:srgbClr val="0E1A26"/>
                </a:solidFill>
                <a:latin typeface="Khula" pitchFamily="34" charset="0"/>
                <a:ea typeface="Khula" pitchFamily="34" charset="-122"/>
                <a:cs typeface="Khula" pitchFamily="34" charset="-120"/>
              </a:rPr>
              <a:t>Python is universal — every participant's environment has it</a:t>
            </a:r>
            <a:endParaRPr lang="en-US" sz="1800" dirty="0"/>
          </a:p>
          <a:p>
            <a:pPr algn="l" marL="160020" indent="-160020">
              <a:lnSpc>
                <a:spcPct val="83077"/>
              </a:lnSpc>
              <a:buSzPct val="100000"/>
              <a:buChar char="•"/>
              <a:tabLst>
                <a:tab pos="160020" algn="l"/>
              </a:tabLst>
            </a:pPr>
            <a:r>
              <a:rPr lang="en-US" sz="1800" dirty="0">
                <a:solidFill>
                  <a:srgbClr val="0E1A26"/>
                </a:solidFill>
                <a:latin typeface="Khula" pitchFamily="34" charset="0"/>
                <a:ea typeface="Khula" pitchFamily="34" charset="-122"/>
                <a:cs typeface="Khula" pitchFamily="34" charset="-120"/>
              </a:rPr>
              <a:t>Python can do anything: count, parse, call APIs, compare across runs, run subprocesses</a:t>
            </a:r>
            <a:endParaRPr lang="en-US" sz="1800" dirty="0"/>
          </a:p>
          <a:p>
            <a:pPr algn="l" marL="160020" indent="-160020">
              <a:lnSpc>
                <a:spcPct val="83077"/>
              </a:lnSpc>
              <a:buSzPct val="100000"/>
              <a:buChar char="•"/>
              <a:tabLst>
                <a:tab pos="160020" algn="l"/>
              </a:tabLst>
            </a:pPr>
            <a:r>
              <a:rPr lang="en-US" sz="1800" dirty="0">
                <a:solidFill>
                  <a:srgbClr val="0E1A26"/>
                </a:solidFill>
                <a:latin typeface="Khula" pitchFamily="34" charset="0"/>
                <a:ea typeface="Khula" pitchFamily="34" charset="-122"/>
                <a:cs typeface="Khula" pitchFamily="34" charset="-120"/>
              </a:rPr>
              <a:t>The evaluation script is itself an artifact participants own and can adapt</a:t>
            </a:r>
            <a:endParaRPr lang="en-US" sz="1800" dirty="0"/>
          </a:p>
          <a:p>
            <a:pPr algn="l" marL="160020" indent="-160020">
              <a:lnSpc>
                <a:spcPct val="83077"/>
              </a:lnSpc>
              <a:buSzPct val="100000"/>
              <a:buChar char="•"/>
              <a:tabLst>
                <a:tab pos="160020" algn="l"/>
              </a:tabLst>
            </a:pPr>
            <a:r>
              <a:rPr lang="en-US" sz="1800" dirty="0">
                <a:solidFill>
                  <a:srgbClr val="0E1A26"/>
                </a:solidFill>
                <a:latin typeface="Khula" pitchFamily="34" charset="0"/>
                <a:ea typeface="Khula" pitchFamily="34" charset="-122"/>
                <a:cs typeface="Khula" pitchFamily="34" charset="-120"/>
              </a:rPr>
              <a:t>No tool-specific configuration format to learn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1612999"/>
            <a:ext cx="3265289" cy="533400"/>
          </a:xfrm>
          <a:prstGeom prst="roundRect">
            <a:avLst>
              <a:gd name="adj" fmla="val 50000"/>
            </a:avLst>
          </a:prstGeom>
          <a:solidFill>
            <a:srgbClr val="005596"/>
          </a:solidFill>
          <a:ln/>
        </p:spPr>
      </p:sp>
      <p:sp>
        <p:nvSpPr>
          <p:cNvPr id="3" name="Text 1"/>
          <p:cNvSpPr/>
          <p:nvPr/>
        </p:nvSpPr>
        <p:spPr>
          <a:xfrm>
            <a:off x="1485900" y="1708249"/>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2355949"/>
            <a:ext cx="17392650" cy="499021"/>
          </a:xfrm>
          <a:prstGeom prst="rect">
            <a:avLst/>
          </a:prstGeom>
          <a:noFill/>
          <a:ln/>
        </p:spPr>
        <p:txBody>
          <a:bodyPr wrap="square" lIns="25400" tIns="25400" rIns="25400" bIns="25400" rtlCol="0" anchor="t">
            <a:normAutofit/>
          </a:bodyPr>
          <a:lstStyle/>
          <a:p>
            <a:pPr algn="l" indent="0" marL="0">
              <a:lnSpc>
                <a:spcPct val="74462"/>
              </a:lnSpc>
              <a:buNone/>
            </a:pPr>
            <a:r>
              <a:rPr lang="en-US" sz="3300" b="1" spc="-66" kern="0" dirty="0">
                <a:solidFill>
                  <a:srgbClr val="005596"/>
                </a:solidFill>
                <a:latin typeface="Poppins" pitchFamily="34" charset="0"/>
                <a:ea typeface="Poppins" pitchFamily="34" charset="-122"/>
                <a:cs typeface="Poppins" pitchFamily="34" charset="-120"/>
              </a:rPr>
              <a:t>Structured Output from LLM Judges</a:t>
            </a:r>
            <a:endParaRPr lang="en-US" sz="3300" dirty="0"/>
          </a:p>
        </p:txBody>
      </p:sp>
      <p:sp>
        <p:nvSpPr>
          <p:cNvPr id="5" name="Text 3"/>
          <p:cNvSpPr/>
          <p:nvPr/>
        </p:nvSpPr>
        <p:spPr>
          <a:xfrm>
            <a:off x="1238250" y="3026420"/>
            <a:ext cx="17392650" cy="335161"/>
          </a:xfrm>
          <a:prstGeom prst="rect">
            <a:avLst/>
          </a:prstGeom>
          <a:noFill/>
          <a:ln/>
        </p:spPr>
        <p:txBody>
          <a:bodyPr wrap="square" lIns="25400" tIns="25400" rIns="25400" bIns="25400" rtlCol="0" anchor="t">
            <a:normAutofit/>
          </a:bodyPr>
          <a:lstStyle/>
          <a:p>
            <a:pPr algn="l" indent="0" marL="0">
              <a:lnSpc>
                <a:spcPct val="80000"/>
              </a:lnSpc>
              <a:buNone/>
            </a:pPr>
            <a:r>
              <a:rPr lang="en-US" sz="1800" dirty="0">
                <a:solidFill>
                  <a:srgbClr val="0E1A26"/>
                </a:solidFill>
                <a:latin typeface="Khula" pitchFamily="34" charset="0"/>
                <a:ea typeface="Khula" pitchFamily="34" charset="-122"/>
                <a:cs typeface="Khula" pitchFamily="34" charset="-120"/>
              </a:rPr>
              <a:t>The LLM judge returns structured JSON, not free-form text — making the evaluation programmatically consumable:</a:t>
            </a:r>
            <a:endParaRPr lang="en-US" sz="1800" dirty="0"/>
          </a:p>
        </p:txBody>
      </p:sp>
      <p:sp>
        <p:nvSpPr>
          <p:cNvPr id="6" name="Shape 4"/>
          <p:cNvSpPr/>
          <p:nvPr/>
        </p:nvSpPr>
        <p:spPr>
          <a:xfrm>
            <a:off x="1238250" y="3533031"/>
            <a:ext cx="7791450" cy="5140970"/>
          </a:xfrm>
          <a:prstGeom prst="roundRect">
            <a:avLst>
              <a:gd name="adj" fmla="val 2964"/>
            </a:avLst>
          </a:prstGeom>
          <a:solidFill>
            <a:srgbClr val="10233B"/>
          </a:solidFill>
          <a:ln/>
        </p:spPr>
      </p:sp>
      <p:sp>
        <p:nvSpPr>
          <p:cNvPr id="7" name="Text 5"/>
          <p:cNvSpPr/>
          <p:nvPr/>
        </p:nvSpPr>
        <p:spPr>
          <a:xfrm>
            <a:off x="1466850" y="3723531"/>
            <a:ext cx="7567994" cy="4798070"/>
          </a:xfrm>
          <a:prstGeom prst="rect">
            <a:avLst/>
          </a:prstGeom>
          <a:noFill/>
          <a:ln/>
        </p:spPr>
        <p:txBody>
          <a:bodyPr wrap="none" lIns="25400" tIns="25400" rIns="25400" bIns="25400" rtlCol="0" anchor="t">
            <a:normAutofit/>
          </a:bodyPr>
          <a:lstStyle/>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"criteria": [</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"criterion": "Every AC item</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uses Given/When/Then",</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"pass": true,</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"score": 4,</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"reasoning": "All 5 AC items</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use the format"</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"criterion": "At least one AC</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covers an edge case",</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"pass": false,</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"score": 2,</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"reasoning": "No edge cases;</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happy path only"</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  "overall_score": 3.0</a:t>
            </a:r>
            <a:endParaRPr lang="en-US" sz="1275" dirty="0"/>
          </a:p>
          <a:p>
            <a:pPr algn="l" indent="0" marL="0">
              <a:lnSpc>
                <a:spcPct val="125263"/>
              </a:lnSpc>
              <a:buNone/>
            </a:pPr>
            <a:r>
              <a:rPr lang="en-US" sz="1275" dirty="0">
                <a:solidFill>
                  <a:srgbClr val="E9F1FA"/>
                </a:solidFill>
                <a:latin typeface="Courier New" pitchFamily="34" charset="0"/>
                <a:ea typeface="Courier New" pitchFamily="34" charset="-122"/>
                <a:cs typeface="Courier New" pitchFamily="34" charset="-120"/>
              </a:rPr>
              <a:t>}</a:t>
            </a:r>
            <a:endParaRPr lang="en-US" sz="1275" dirty="0"/>
          </a:p>
        </p:txBody>
      </p:sp>
      <p:sp>
        <p:nvSpPr>
          <p:cNvPr id="8" name="Text 6"/>
          <p:cNvSpPr/>
          <p:nvPr/>
        </p:nvSpPr>
        <p:spPr>
          <a:xfrm>
            <a:off x="9258300" y="3533031"/>
            <a:ext cx="857059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A7A8A9"/>
                </a:solidFill>
                <a:latin typeface="Poppins" pitchFamily="34" charset="0"/>
                <a:ea typeface="Poppins" pitchFamily="34" charset="-122"/>
                <a:cs typeface="Poppins" pitchFamily="34" charset="-120"/>
              </a:rPr>
              <a:t>THE EVALUATION SCRIPT CAN</a:t>
            </a:r>
            <a:endParaRPr lang="en-US" sz="1800" dirty="0"/>
          </a:p>
        </p:txBody>
      </p:sp>
      <p:sp>
        <p:nvSpPr>
          <p:cNvPr id="9" name="Text 7"/>
          <p:cNvSpPr/>
          <p:nvPr/>
        </p:nvSpPr>
        <p:spPr>
          <a:xfrm>
            <a:off x="9345930" y="3971181"/>
            <a:ext cx="7780020" cy="1580704"/>
          </a:xfrm>
          <a:prstGeom prst="rect">
            <a:avLst/>
          </a:prstGeom>
          <a:noFill/>
          <a:ln/>
        </p:spPr>
        <p:txBody>
          <a:bodyPr wrap="square" lIns="25400" tIns="25400" rIns="25400" bIns="25400" rtlCol="0" anchor="t">
            <a:normAutofit/>
          </a:bodyPr>
          <a:lstStyle/>
          <a:p>
            <a:pPr algn="l" marL="160020" indent="-160020">
              <a:lnSpc>
                <a:spcPct val="83077"/>
              </a:lnSpc>
              <a:buSzPct val="100000"/>
              <a:buChar char="•"/>
              <a:tabLst>
                <a:tab pos="160020" algn="l"/>
              </a:tabLst>
            </a:pPr>
            <a:r>
              <a:rPr lang="en-US" sz="1800" dirty="0">
                <a:solidFill>
                  <a:srgbClr val="0E1A26"/>
                </a:solidFill>
                <a:latin typeface="Khula" pitchFamily="34" charset="0"/>
                <a:ea typeface="Khula" pitchFamily="34" charset="-122"/>
                <a:cs typeface="Khula" pitchFamily="34" charset="-120"/>
              </a:rPr>
              <a:t>Run across multiple test inputs</a:t>
            </a:r>
            <a:endParaRPr lang="en-US" sz="1800" dirty="0"/>
          </a:p>
          <a:p>
            <a:pPr algn="l" marL="160020" indent="-160020">
              <a:lnSpc>
                <a:spcPct val="83077"/>
              </a:lnSpc>
              <a:buSzPct val="100000"/>
              <a:buChar char="•"/>
              <a:tabLst>
                <a:tab pos="160020" algn="l"/>
              </a:tabLst>
            </a:pPr>
            <a:r>
              <a:rPr lang="en-US" sz="1800" dirty="0">
                <a:solidFill>
                  <a:srgbClr val="0E1A26"/>
                </a:solidFill>
                <a:latin typeface="Khula" pitchFamily="34" charset="0"/>
                <a:ea typeface="Khula" pitchFamily="34" charset="-122"/>
                <a:cs typeface="Khula" pitchFamily="34" charset="-120"/>
              </a:rPr>
              <a:t>Aggregate scores across inputs and criteria</a:t>
            </a:r>
            <a:endParaRPr lang="en-US" sz="1800" dirty="0"/>
          </a:p>
          <a:p>
            <a:pPr algn="l" marL="160020" indent="-160020">
              <a:lnSpc>
                <a:spcPct val="83077"/>
              </a:lnSpc>
              <a:buSzPct val="100000"/>
              <a:buChar char="•"/>
              <a:tabLst>
                <a:tab pos="160020" algn="l"/>
              </a:tabLst>
            </a:pPr>
            <a:r>
              <a:rPr lang="en-US" sz="1800" dirty="0">
                <a:solidFill>
                  <a:srgbClr val="0E1A26"/>
                </a:solidFill>
                <a:latin typeface="Khula" pitchFamily="34" charset="0"/>
                <a:ea typeface="Khula" pitchFamily="34" charset="-122"/>
                <a:cs typeface="Khula" pitchFamily="34" charset="-120"/>
              </a:rPr>
              <a:t>Track scores over time (iteration history)</a:t>
            </a:r>
            <a:endParaRPr lang="en-US" sz="1800" dirty="0"/>
          </a:p>
          <a:p>
            <a:pPr algn="l" marL="160020" indent="-160020">
              <a:lnSpc>
                <a:spcPct val="83077"/>
              </a:lnSpc>
              <a:buSzPct val="100000"/>
              <a:buChar char="•"/>
              <a:tabLst>
                <a:tab pos="160020" algn="l"/>
              </a:tabLst>
            </a:pPr>
            <a:r>
              <a:rPr lang="en-US" sz="1800" dirty="0">
                <a:solidFill>
                  <a:srgbClr val="0E1A26"/>
                </a:solidFill>
                <a:latin typeface="Khula" pitchFamily="34" charset="0"/>
                <a:ea typeface="Khula" pitchFamily="34" charset="-122"/>
                <a:cs typeface="Khula" pitchFamily="34" charset="-120"/>
              </a:rPr>
              <a:t>Compare scores before and after a change</a:t>
            </a:r>
            <a:endParaRPr lang="en-US" sz="1800" dirty="0"/>
          </a:p>
          <a:p>
            <a:pPr algn="l" marL="160020" indent="-160020">
              <a:lnSpc>
                <a:spcPct val="83077"/>
              </a:lnSpc>
              <a:buSzPct val="100000"/>
              <a:buChar char="•"/>
              <a:tabLst>
                <a:tab pos="160020" algn="l"/>
              </a:tabLst>
            </a:pPr>
            <a:r>
              <a:rPr lang="en-US" sz="1800" dirty="0">
                <a:solidFill>
                  <a:srgbClr val="0E1A26"/>
                </a:solidFill>
                <a:latin typeface="Khula" pitchFamily="34" charset="0"/>
                <a:ea typeface="Khula" pitchFamily="34" charset="-122"/>
                <a:cs typeface="Khula" pitchFamily="34" charset="-120"/>
              </a:rPr>
              <a:t>Generate a report for the improvement cycle documentation</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762000"/>
            <a:ext cx="4918025" cy="533400"/>
          </a:xfrm>
          <a:prstGeom prst="roundRect">
            <a:avLst>
              <a:gd name="adj" fmla="val 50000"/>
            </a:avLst>
          </a:prstGeom>
          <a:solidFill>
            <a:srgbClr val="9D1D96"/>
          </a:solidFill>
          <a:ln/>
        </p:spPr>
      </p:sp>
      <p:sp>
        <p:nvSpPr>
          <p:cNvPr id="3" name="Text 1"/>
          <p:cNvSpPr/>
          <p:nvPr/>
        </p:nvSpPr>
        <p:spPr>
          <a:xfrm>
            <a:off x="1485900" y="857250"/>
            <a:ext cx="4570266"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COMPARE/CONTRAST</a:t>
            </a:r>
            <a:endParaRPr lang="en-US" sz="1800" dirty="0"/>
          </a:p>
        </p:txBody>
      </p:sp>
      <p:sp>
        <p:nvSpPr>
          <p:cNvPr id="4" name="Text 2"/>
          <p:cNvSpPr/>
          <p:nvPr/>
        </p:nvSpPr>
        <p:spPr>
          <a:xfrm>
            <a:off x="1238250" y="1504950"/>
            <a:ext cx="17392650" cy="518071"/>
          </a:xfrm>
          <a:prstGeom prst="rect">
            <a:avLst/>
          </a:prstGeom>
          <a:noFill/>
          <a:ln/>
        </p:spPr>
        <p:txBody>
          <a:bodyPr wrap="square" lIns="25400" tIns="25400" rIns="25400" bIns="25400" rtlCol="0" anchor="t">
            <a:normAutofit/>
          </a:bodyPr>
          <a:lstStyle/>
          <a:p>
            <a:pPr algn="l" indent="0" marL="0">
              <a:lnSpc>
                <a:spcPct val="80000"/>
              </a:lnSpc>
              <a:buNone/>
            </a:pPr>
            <a:r>
              <a:rPr lang="en-US" sz="3150" b="1" spc="-63" kern="0" dirty="0">
                <a:solidFill>
                  <a:srgbClr val="005596"/>
                </a:solidFill>
                <a:latin typeface="Poppins" pitchFamily="34" charset="0"/>
                <a:ea typeface="Poppins" pitchFamily="34" charset="-122"/>
                <a:cs typeface="Poppins" pitchFamily="34" charset="-120"/>
              </a:rPr>
              <a:t>Informal Evaluation vs. EDD with Deterministic Checks + LLM Judges</a:t>
            </a:r>
            <a:endParaRPr lang="en-US" sz="3150" dirty="0"/>
          </a:p>
        </p:txBody>
      </p:sp>
      <p:sp>
        <p:nvSpPr>
          <p:cNvPr id="5" name="Text 3"/>
          <p:cNvSpPr/>
          <p:nvPr/>
        </p:nvSpPr>
        <p:spPr>
          <a:xfrm>
            <a:off x="1238250" y="2232571"/>
            <a:ext cx="784860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A7A8A9"/>
                </a:solidFill>
                <a:latin typeface="Poppins" pitchFamily="34" charset="0"/>
                <a:ea typeface="Poppins" pitchFamily="34" charset="-122"/>
                <a:cs typeface="Poppins" pitchFamily="34" charset="-120"/>
              </a:rPr>
              <a:t>INFORMAL EVALUATION</a:t>
            </a:r>
            <a:endParaRPr lang="en-US" sz="1800" dirty="0"/>
          </a:p>
        </p:txBody>
      </p:sp>
      <p:sp>
        <p:nvSpPr>
          <p:cNvPr id="6" name="Text 4"/>
          <p:cNvSpPr/>
          <p:nvPr/>
        </p:nvSpPr>
        <p:spPr>
          <a:xfrm>
            <a:off x="9429750" y="2232571"/>
            <a:ext cx="784860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005596"/>
                </a:solidFill>
                <a:latin typeface="Poppins" pitchFamily="34" charset="0"/>
                <a:ea typeface="Poppins" pitchFamily="34" charset="-122"/>
                <a:cs typeface="Poppins" pitchFamily="34" charset="-120"/>
              </a:rPr>
              <a:t>EDD</a:t>
            </a:r>
            <a:endParaRPr lang="en-US" sz="1800" dirty="0"/>
          </a:p>
        </p:txBody>
      </p:sp>
      <p:sp>
        <p:nvSpPr>
          <p:cNvPr id="7" name="Shape 5"/>
          <p:cNvSpPr/>
          <p:nvPr/>
        </p:nvSpPr>
        <p:spPr>
          <a:xfrm>
            <a:off x="1238250" y="2842171"/>
            <a:ext cx="7620000" cy="609600"/>
          </a:xfrm>
          <a:prstGeom prst="roundRect">
            <a:avLst>
              <a:gd name="adj" fmla="val 15625"/>
            </a:avLst>
          </a:prstGeom>
          <a:solidFill>
            <a:srgbClr val="F4F7FA"/>
          </a:solidFill>
          <a:ln/>
        </p:spPr>
      </p:sp>
      <p:sp>
        <p:nvSpPr>
          <p:cNvPr id="8" name="Text 6"/>
          <p:cNvSpPr/>
          <p:nvPr/>
        </p:nvSpPr>
        <p:spPr>
          <a:xfrm>
            <a:off x="1447800" y="2975521"/>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"It seemed better"</a:t>
            </a:r>
            <a:endParaRPr lang="en-US" sz="1800" dirty="0"/>
          </a:p>
        </p:txBody>
      </p:sp>
      <p:sp>
        <p:nvSpPr>
          <p:cNvPr id="9" name="Text 7"/>
          <p:cNvSpPr/>
          <p:nvPr/>
        </p:nvSpPr>
        <p:spPr>
          <a:xfrm>
            <a:off x="8820150" y="2975521"/>
            <a:ext cx="647700" cy="381000"/>
          </a:xfrm>
          <a:prstGeom prst="rect">
            <a:avLst/>
          </a:prstGeom>
          <a:noFill/>
          <a:ln/>
        </p:spPr>
        <p:txBody>
          <a:bodyPr wrap="square" lIns="25400" tIns="25400" rIns="25400" bIns="25400" rtlCol="0" anchor="t">
            <a:normAutofit/>
          </a:bodyPr>
          <a:lstStyle/>
          <a:p>
            <a:pPr algn="ctr" indent="0" marL="0">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10" name="Shape 8"/>
          <p:cNvSpPr/>
          <p:nvPr/>
        </p:nvSpPr>
        <p:spPr>
          <a:xfrm>
            <a:off x="9429750" y="2842171"/>
            <a:ext cx="7620000" cy="609600"/>
          </a:xfrm>
          <a:prstGeom prst="roundRect">
            <a:avLst>
              <a:gd name="adj" fmla="val 15625"/>
            </a:avLst>
          </a:prstGeom>
          <a:solidFill>
            <a:srgbClr val="E9F1FA"/>
          </a:solidFill>
          <a:ln/>
        </p:spPr>
      </p:sp>
      <p:sp>
        <p:nvSpPr>
          <p:cNvPr id="11" name="Text 9"/>
          <p:cNvSpPr/>
          <p:nvPr/>
        </p:nvSpPr>
        <p:spPr>
          <a:xfrm>
            <a:off x="9639300" y="2975521"/>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E1A26"/>
                </a:solidFill>
                <a:latin typeface="Khula" pitchFamily="34" charset="0"/>
                <a:ea typeface="Khula" pitchFamily="34" charset="-122"/>
                <a:cs typeface="Khula" pitchFamily="34" charset="-120"/>
              </a:rPr>
              <a:t>Documented scores per EC per input</a:t>
            </a:r>
            <a:endParaRPr lang="en-US" sz="1800" dirty="0"/>
          </a:p>
        </p:txBody>
      </p:sp>
      <p:sp>
        <p:nvSpPr>
          <p:cNvPr id="12" name="Shape 10"/>
          <p:cNvSpPr/>
          <p:nvPr/>
        </p:nvSpPr>
        <p:spPr>
          <a:xfrm>
            <a:off x="1238250" y="3527971"/>
            <a:ext cx="7620000" cy="609600"/>
          </a:xfrm>
          <a:prstGeom prst="roundRect">
            <a:avLst>
              <a:gd name="adj" fmla="val 15625"/>
            </a:avLst>
          </a:prstGeom>
          <a:solidFill>
            <a:srgbClr val="F4F7FA"/>
          </a:solidFill>
          <a:ln/>
        </p:spPr>
      </p:sp>
      <p:sp>
        <p:nvSpPr>
          <p:cNvPr id="13" name="Text 11"/>
          <p:cNvSpPr/>
          <p:nvPr/>
        </p:nvSpPr>
        <p:spPr>
          <a:xfrm>
            <a:off x="1447800" y="3661321"/>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No baseline; can't tell if improving or regressing</a:t>
            </a:r>
            <a:endParaRPr lang="en-US" sz="1800" dirty="0"/>
          </a:p>
        </p:txBody>
      </p:sp>
      <p:sp>
        <p:nvSpPr>
          <p:cNvPr id="14" name="Text 12"/>
          <p:cNvSpPr/>
          <p:nvPr/>
        </p:nvSpPr>
        <p:spPr>
          <a:xfrm>
            <a:off x="8820150" y="3661321"/>
            <a:ext cx="647700" cy="381000"/>
          </a:xfrm>
          <a:prstGeom prst="rect">
            <a:avLst/>
          </a:prstGeom>
          <a:noFill/>
          <a:ln/>
        </p:spPr>
        <p:txBody>
          <a:bodyPr wrap="square" lIns="25400" tIns="25400" rIns="25400" bIns="25400" rtlCol="0" anchor="t">
            <a:normAutofit/>
          </a:bodyPr>
          <a:lstStyle/>
          <a:p>
            <a:pPr algn="ctr" indent="0" marL="0">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15" name="Shape 13"/>
          <p:cNvSpPr/>
          <p:nvPr/>
        </p:nvSpPr>
        <p:spPr>
          <a:xfrm>
            <a:off x="9429750" y="3527971"/>
            <a:ext cx="7620000" cy="609600"/>
          </a:xfrm>
          <a:prstGeom prst="roundRect">
            <a:avLst>
              <a:gd name="adj" fmla="val 15625"/>
            </a:avLst>
          </a:prstGeom>
          <a:solidFill>
            <a:srgbClr val="E9F1FA"/>
          </a:solidFill>
          <a:ln/>
        </p:spPr>
      </p:sp>
      <p:sp>
        <p:nvSpPr>
          <p:cNvPr id="16" name="Text 14"/>
          <p:cNvSpPr/>
          <p:nvPr/>
        </p:nvSpPr>
        <p:spPr>
          <a:xfrm>
            <a:off x="9639300" y="3661321"/>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E1A26"/>
                </a:solidFill>
                <a:latin typeface="Khula" pitchFamily="34" charset="0"/>
                <a:ea typeface="Khula" pitchFamily="34" charset="-122"/>
                <a:cs typeface="Khula" pitchFamily="34" charset="-120"/>
              </a:rPr>
              <a:t>Baseline recorded; every change measured against it</a:t>
            </a:r>
            <a:endParaRPr lang="en-US" sz="1800" dirty="0"/>
          </a:p>
        </p:txBody>
      </p:sp>
      <p:sp>
        <p:nvSpPr>
          <p:cNvPr id="17" name="Shape 15"/>
          <p:cNvSpPr/>
          <p:nvPr/>
        </p:nvSpPr>
        <p:spPr>
          <a:xfrm>
            <a:off x="1238250" y="4213771"/>
            <a:ext cx="7620000" cy="609600"/>
          </a:xfrm>
          <a:prstGeom prst="roundRect">
            <a:avLst>
              <a:gd name="adj" fmla="val 15625"/>
            </a:avLst>
          </a:prstGeom>
          <a:solidFill>
            <a:srgbClr val="F4F7FA"/>
          </a:solidFill>
          <a:ln/>
        </p:spPr>
      </p:sp>
      <p:sp>
        <p:nvSpPr>
          <p:cNvPr id="18" name="Text 16"/>
          <p:cNvSpPr/>
          <p:nvPr/>
        </p:nvSpPr>
        <p:spPr>
          <a:xfrm>
            <a:off x="1447800" y="4347121"/>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One change might fix one thing and break another</a:t>
            </a:r>
            <a:endParaRPr lang="en-US" sz="1800" dirty="0"/>
          </a:p>
        </p:txBody>
      </p:sp>
      <p:sp>
        <p:nvSpPr>
          <p:cNvPr id="19" name="Text 17"/>
          <p:cNvSpPr/>
          <p:nvPr/>
        </p:nvSpPr>
        <p:spPr>
          <a:xfrm>
            <a:off x="8820150" y="4347121"/>
            <a:ext cx="647700" cy="381000"/>
          </a:xfrm>
          <a:prstGeom prst="rect">
            <a:avLst/>
          </a:prstGeom>
          <a:noFill/>
          <a:ln/>
        </p:spPr>
        <p:txBody>
          <a:bodyPr wrap="square" lIns="25400" tIns="25400" rIns="25400" bIns="25400" rtlCol="0" anchor="t">
            <a:normAutofit/>
          </a:bodyPr>
          <a:lstStyle/>
          <a:p>
            <a:pPr algn="ctr" indent="0" marL="0">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20" name="Shape 18"/>
          <p:cNvSpPr/>
          <p:nvPr/>
        </p:nvSpPr>
        <p:spPr>
          <a:xfrm>
            <a:off x="9429750" y="4213771"/>
            <a:ext cx="7620000" cy="609600"/>
          </a:xfrm>
          <a:prstGeom prst="roundRect">
            <a:avLst>
              <a:gd name="adj" fmla="val 15625"/>
            </a:avLst>
          </a:prstGeom>
          <a:solidFill>
            <a:srgbClr val="E9F1FA"/>
          </a:solidFill>
          <a:ln/>
        </p:spPr>
      </p:sp>
      <p:sp>
        <p:nvSpPr>
          <p:cNvPr id="21" name="Text 19"/>
          <p:cNvSpPr/>
          <p:nvPr/>
        </p:nvSpPr>
        <p:spPr>
          <a:xfrm>
            <a:off x="9639300" y="4347121"/>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E1A26"/>
                </a:solidFill>
                <a:latin typeface="Khula" pitchFamily="34" charset="0"/>
                <a:ea typeface="Khula" pitchFamily="34" charset="-122"/>
                <a:cs typeface="Khula" pitchFamily="34" charset="-120"/>
              </a:rPr>
              <a:t>One change per iteration; evaluator catches regressions</a:t>
            </a:r>
            <a:endParaRPr lang="en-US" sz="1800" dirty="0"/>
          </a:p>
        </p:txBody>
      </p:sp>
      <p:sp>
        <p:nvSpPr>
          <p:cNvPr id="22" name="Shape 20"/>
          <p:cNvSpPr/>
          <p:nvPr/>
        </p:nvSpPr>
        <p:spPr>
          <a:xfrm>
            <a:off x="1238250" y="4899571"/>
            <a:ext cx="7620000" cy="609600"/>
          </a:xfrm>
          <a:prstGeom prst="roundRect">
            <a:avLst>
              <a:gd name="adj" fmla="val 15625"/>
            </a:avLst>
          </a:prstGeom>
          <a:solidFill>
            <a:srgbClr val="F4F7FA"/>
          </a:solidFill>
          <a:ln/>
        </p:spPr>
      </p:sp>
      <p:sp>
        <p:nvSpPr>
          <p:cNvPr id="23" name="Text 21"/>
          <p:cNvSpPr/>
          <p:nvPr/>
        </p:nvSpPr>
        <p:spPr>
          <a:xfrm>
            <a:off x="1447800" y="5032921"/>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No committed evidence of iteration</a:t>
            </a:r>
            <a:endParaRPr lang="en-US" sz="1800" dirty="0"/>
          </a:p>
        </p:txBody>
      </p:sp>
      <p:sp>
        <p:nvSpPr>
          <p:cNvPr id="24" name="Text 22"/>
          <p:cNvSpPr/>
          <p:nvPr/>
        </p:nvSpPr>
        <p:spPr>
          <a:xfrm>
            <a:off x="8820150" y="5032921"/>
            <a:ext cx="647700" cy="381000"/>
          </a:xfrm>
          <a:prstGeom prst="rect">
            <a:avLst/>
          </a:prstGeom>
          <a:noFill/>
          <a:ln/>
        </p:spPr>
        <p:txBody>
          <a:bodyPr wrap="square" lIns="25400" tIns="25400" rIns="25400" bIns="25400" rtlCol="0" anchor="t">
            <a:normAutofit/>
          </a:bodyPr>
          <a:lstStyle/>
          <a:p>
            <a:pPr algn="ctr" indent="0" marL="0">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25" name="Shape 23"/>
          <p:cNvSpPr/>
          <p:nvPr/>
        </p:nvSpPr>
        <p:spPr>
          <a:xfrm>
            <a:off x="9429750" y="4899571"/>
            <a:ext cx="7620000" cy="609600"/>
          </a:xfrm>
          <a:prstGeom prst="roundRect">
            <a:avLst>
              <a:gd name="adj" fmla="val 15625"/>
            </a:avLst>
          </a:prstGeom>
          <a:solidFill>
            <a:srgbClr val="E9F1FA"/>
          </a:solidFill>
          <a:ln/>
        </p:spPr>
      </p:sp>
      <p:sp>
        <p:nvSpPr>
          <p:cNvPr id="26" name="Text 24"/>
          <p:cNvSpPr/>
          <p:nvPr/>
        </p:nvSpPr>
        <p:spPr>
          <a:xfrm>
            <a:off x="9639300" y="5032921"/>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E1A26"/>
                </a:solidFill>
                <a:latin typeface="Khula" pitchFamily="34" charset="0"/>
                <a:ea typeface="Khula" pitchFamily="34" charset="-122"/>
                <a:cs typeface="Khula" pitchFamily="34" charset="-120"/>
              </a:rPr>
              <a:t>Python eval script + improvement log committed to repo</a:t>
            </a:r>
            <a:endParaRPr lang="en-US" sz="1800" dirty="0"/>
          </a:p>
        </p:txBody>
      </p:sp>
      <p:sp>
        <p:nvSpPr>
          <p:cNvPr id="27" name="Shape 25"/>
          <p:cNvSpPr/>
          <p:nvPr/>
        </p:nvSpPr>
        <p:spPr>
          <a:xfrm>
            <a:off x="1238250" y="5585371"/>
            <a:ext cx="7620000" cy="609600"/>
          </a:xfrm>
          <a:prstGeom prst="roundRect">
            <a:avLst>
              <a:gd name="adj" fmla="val 15625"/>
            </a:avLst>
          </a:prstGeom>
          <a:solidFill>
            <a:srgbClr val="F4F7FA"/>
          </a:solidFill>
          <a:ln/>
        </p:spPr>
      </p:sp>
      <p:sp>
        <p:nvSpPr>
          <p:cNvPr id="28" name="Text 26"/>
          <p:cNvSpPr/>
          <p:nvPr/>
        </p:nvSpPr>
        <p:spPr>
          <a:xfrm>
            <a:off x="1447800" y="5718721"/>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Intuition-driven</a:t>
            </a:r>
            <a:endParaRPr lang="en-US" sz="1800" dirty="0"/>
          </a:p>
        </p:txBody>
      </p:sp>
      <p:sp>
        <p:nvSpPr>
          <p:cNvPr id="29" name="Text 27"/>
          <p:cNvSpPr/>
          <p:nvPr/>
        </p:nvSpPr>
        <p:spPr>
          <a:xfrm>
            <a:off x="8820150" y="5718721"/>
            <a:ext cx="647700" cy="381000"/>
          </a:xfrm>
          <a:prstGeom prst="rect">
            <a:avLst/>
          </a:prstGeom>
          <a:noFill/>
          <a:ln/>
        </p:spPr>
        <p:txBody>
          <a:bodyPr wrap="square" lIns="25400" tIns="25400" rIns="25400" bIns="25400" rtlCol="0" anchor="t">
            <a:normAutofit/>
          </a:bodyPr>
          <a:lstStyle/>
          <a:p>
            <a:pPr algn="ctr" indent="0" marL="0">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30" name="Shape 28"/>
          <p:cNvSpPr/>
          <p:nvPr/>
        </p:nvSpPr>
        <p:spPr>
          <a:xfrm>
            <a:off x="9429750" y="5585371"/>
            <a:ext cx="7620000" cy="609600"/>
          </a:xfrm>
          <a:prstGeom prst="roundRect">
            <a:avLst>
              <a:gd name="adj" fmla="val 15625"/>
            </a:avLst>
          </a:prstGeom>
          <a:solidFill>
            <a:srgbClr val="E9F1FA"/>
          </a:solidFill>
          <a:ln/>
        </p:spPr>
      </p:sp>
      <p:sp>
        <p:nvSpPr>
          <p:cNvPr id="31" name="Text 29"/>
          <p:cNvSpPr/>
          <p:nvPr/>
        </p:nvSpPr>
        <p:spPr>
          <a:xfrm>
            <a:off x="9639300" y="5718721"/>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E1A26"/>
                </a:solidFill>
                <a:latin typeface="Khula" pitchFamily="34" charset="0"/>
                <a:ea typeface="Khula" pitchFamily="34" charset="-122"/>
                <a:cs typeface="Khula" pitchFamily="34" charset="-120"/>
              </a:rPr>
              <a:t>Hypothesis-driven with measurement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2038499"/>
            <a:ext cx="2927747" cy="533400"/>
          </a:xfrm>
          <a:prstGeom prst="roundRect">
            <a:avLst>
              <a:gd name="adj" fmla="val 50000"/>
            </a:avLst>
          </a:prstGeom>
          <a:solidFill>
            <a:srgbClr val="5BC2A7"/>
          </a:solidFill>
          <a:ln/>
        </p:spPr>
      </p:sp>
      <p:sp>
        <p:nvSpPr>
          <p:cNvPr id="3" name="Text 1"/>
          <p:cNvSpPr/>
          <p:nvPr/>
        </p:nvSpPr>
        <p:spPr>
          <a:xfrm>
            <a:off x="1485900" y="2133749"/>
            <a:ext cx="2520279"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0E1A26"/>
                </a:solidFill>
                <a:latin typeface="Poppins" pitchFamily="34" charset="0"/>
                <a:ea typeface="Poppins" pitchFamily="34" charset="-122"/>
                <a:cs typeface="Poppins" pitchFamily="34" charset="-120"/>
              </a:rPr>
              <a:t>SLIDE TYPE — DEMO</a:t>
            </a:r>
            <a:endParaRPr lang="en-US" sz="1800" dirty="0"/>
          </a:p>
        </p:txBody>
      </p:sp>
      <p:sp>
        <p:nvSpPr>
          <p:cNvPr id="4" name="Text 2"/>
          <p:cNvSpPr/>
          <p:nvPr/>
        </p:nvSpPr>
        <p:spPr>
          <a:xfrm>
            <a:off x="1238250" y="2990999"/>
            <a:ext cx="17392650" cy="582811"/>
          </a:xfrm>
          <a:prstGeom prst="rect">
            <a:avLst/>
          </a:prstGeom>
          <a:noFill/>
          <a:ln/>
        </p:spPr>
        <p:txBody>
          <a:bodyPr wrap="square" lIns="25400" tIns="25400" rIns="25400" bIns="25400" rtlCol="0" anchor="t">
            <a:normAutofit/>
          </a:bodyPr>
          <a:lstStyle/>
          <a:p>
            <a:pPr algn="l" indent="0" marL="0">
              <a:lnSpc>
                <a:spcPct val="73333"/>
              </a:lnSpc>
              <a:buNone/>
            </a:pPr>
            <a:r>
              <a:rPr lang="en-US" sz="3900" b="1" spc="-78" kern="0" dirty="0">
                <a:solidFill>
                  <a:srgbClr val="005596"/>
                </a:solidFill>
                <a:latin typeface="Poppins" pitchFamily="34" charset="0"/>
                <a:ea typeface="Poppins" pitchFamily="34" charset="-122"/>
                <a:cs typeface="Poppins" pitchFamily="34" charset="-120"/>
              </a:rPr>
              <a:t>Demo: Python Evaluation with LLM Judge</a:t>
            </a:r>
            <a:endParaRPr lang="en-US" sz="3900" dirty="0"/>
          </a:p>
        </p:txBody>
      </p:sp>
      <p:sp>
        <p:nvSpPr>
          <p:cNvPr id="5" name="Text 3"/>
          <p:cNvSpPr/>
          <p:nvPr/>
        </p:nvSpPr>
        <p:spPr>
          <a:xfrm>
            <a:off x="1238250" y="3954810"/>
            <a:ext cx="1739265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A7A8A9"/>
                </a:solidFill>
                <a:latin typeface="Poppins" pitchFamily="34" charset="0"/>
                <a:ea typeface="Poppins" pitchFamily="34" charset="-122"/>
                <a:cs typeface="Poppins" pitchFamily="34" charset="-120"/>
              </a:rPr>
              <a:t>DESCRIPTION</a:t>
            </a:r>
            <a:endParaRPr lang="en-US" sz="1800" dirty="0"/>
          </a:p>
        </p:txBody>
      </p:sp>
      <p:sp>
        <p:nvSpPr>
          <p:cNvPr id="6" name="Text 4"/>
          <p:cNvSpPr/>
          <p:nvPr/>
        </p:nvSpPr>
        <p:spPr>
          <a:xfrm>
            <a:off x="1238250" y="4412010"/>
            <a:ext cx="15206662" cy="10668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The instructor demonstrates a Python evaluation script that evaluates an AC generation skill's output. The script loads the skill output, runs deterministic checks (count AC items, check format), runs an LLM judge for quality criteria, and produces a structured report with scores per EC — the pattern participants will build in Lab 1.</a:t>
            </a:r>
            <a:endParaRPr lang="en-US" sz="1800" dirty="0"/>
          </a:p>
        </p:txBody>
      </p:sp>
      <p:sp>
        <p:nvSpPr>
          <p:cNvPr id="7" name="Shape 5"/>
          <p:cNvSpPr/>
          <p:nvPr/>
        </p:nvSpPr>
        <p:spPr>
          <a:xfrm>
            <a:off x="1238250" y="6088410"/>
            <a:ext cx="15582900" cy="2160091"/>
          </a:xfrm>
          <a:prstGeom prst="roundRect">
            <a:avLst>
              <a:gd name="adj" fmla="val 7055"/>
            </a:avLst>
          </a:prstGeom>
          <a:solidFill>
            <a:srgbClr val="EAF6F1"/>
          </a:solidFill>
          <a:ln/>
        </p:spPr>
      </p:sp>
      <p:sp>
        <p:nvSpPr>
          <p:cNvPr id="8" name="Shape 6"/>
          <p:cNvSpPr/>
          <p:nvPr/>
        </p:nvSpPr>
        <p:spPr>
          <a:xfrm>
            <a:off x="1238250" y="6088410"/>
            <a:ext cx="57150" cy="2160091"/>
          </a:xfrm>
          <a:prstGeom prst="rect">
            <a:avLst/>
          </a:prstGeom>
          <a:solidFill>
            <a:srgbClr val="5BC2A7"/>
          </a:solidFill>
          <a:ln/>
        </p:spPr>
      </p:sp>
      <p:sp>
        <p:nvSpPr>
          <p:cNvPr id="9" name="Text 7"/>
          <p:cNvSpPr/>
          <p:nvPr/>
        </p:nvSpPr>
        <p:spPr>
          <a:xfrm>
            <a:off x="1676400" y="6355110"/>
            <a:ext cx="1624012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0E1A26"/>
                </a:solidFill>
                <a:latin typeface="Poppins" pitchFamily="34" charset="0"/>
                <a:ea typeface="Poppins" pitchFamily="34" charset="-122"/>
                <a:cs typeface="Poppins" pitchFamily="34" charset="-120"/>
              </a:rPr>
              <a:t>WHAT TO FOCUS ON</a:t>
            </a:r>
            <a:endParaRPr lang="en-US" sz="1800" dirty="0"/>
          </a:p>
        </p:txBody>
      </p:sp>
      <p:sp>
        <p:nvSpPr>
          <p:cNvPr id="10" name="Text 8"/>
          <p:cNvSpPr/>
          <p:nvPr/>
        </p:nvSpPr>
        <p:spPr>
          <a:xfrm>
            <a:off x="1676400" y="6793260"/>
            <a:ext cx="15206662" cy="998041"/>
          </a:xfrm>
          <a:prstGeom prst="rect">
            <a:avLst/>
          </a:prstGeom>
          <a:noFill/>
          <a:ln/>
        </p:spPr>
        <p:txBody>
          <a:bodyPr wrap="square" lIns="25400" tIns="25400" rIns="25400" bIns="25400" rtlCol="0" anchor="t">
            <a:normAutofit/>
          </a:bodyPr>
          <a:lstStyle/>
          <a:p>
            <a:pPr algn="l" indent="0" marL="0">
              <a:lnSpc>
                <a:spcPct val="86154"/>
              </a:lnSpc>
              <a:buNone/>
            </a:pPr>
            <a:r>
              <a:rPr lang="en-US" sz="1800" dirty="0">
                <a:solidFill>
                  <a:srgbClr val="0E1A26"/>
                </a:solidFill>
                <a:latin typeface="Khula" pitchFamily="34" charset="0"/>
                <a:ea typeface="Khula" pitchFamily="34" charset="-122"/>
                <a:cs typeface="Khula" pitchFamily="34" charset="-120"/>
              </a:rPr>
              <a:t>Notice how the LLM judge evaluates semantic quality (does each AC cover an edge case?) while the Python code checks structural properties (are there 3–8 AC items?). Watch the JSON output — it's structured, not free-form. See how the overall score is computed and how it compares to the baseline.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533400"/>
            <a:ext cx="3368873" cy="533400"/>
          </a:xfrm>
          <a:prstGeom prst="roundRect">
            <a:avLst>
              <a:gd name="adj" fmla="val 50000"/>
            </a:avLst>
          </a:prstGeom>
          <a:solidFill>
            <a:srgbClr val="F5BB41"/>
          </a:solidFill>
          <a:ln/>
        </p:spPr>
      </p:sp>
      <p:sp>
        <p:nvSpPr>
          <p:cNvPr id="3" name="Text 1"/>
          <p:cNvSpPr/>
          <p:nvPr/>
        </p:nvSpPr>
        <p:spPr>
          <a:xfrm>
            <a:off x="1485900" y="628650"/>
            <a:ext cx="2974640"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0E1A26"/>
                </a:solidFill>
                <a:latin typeface="Poppins" pitchFamily="34" charset="0"/>
                <a:ea typeface="Poppins" pitchFamily="34" charset="-122"/>
                <a:cs typeface="Poppins" pitchFamily="34" charset="-120"/>
              </a:rPr>
              <a:t>SLIDE TYPE — EXERCISE</a:t>
            </a:r>
            <a:endParaRPr lang="en-US" sz="1800" dirty="0"/>
          </a:p>
        </p:txBody>
      </p:sp>
      <p:sp>
        <p:nvSpPr>
          <p:cNvPr id="4" name="Text 2"/>
          <p:cNvSpPr/>
          <p:nvPr/>
        </p:nvSpPr>
        <p:spPr>
          <a:xfrm>
            <a:off x="1238250" y="1336477"/>
            <a:ext cx="12017365" cy="454223"/>
          </a:xfrm>
          <a:prstGeom prst="rect">
            <a:avLst/>
          </a:prstGeom>
          <a:noFill/>
          <a:ln/>
        </p:spPr>
        <p:txBody>
          <a:bodyPr wrap="square" lIns="25400" tIns="25400" rIns="25400" bIns="25400" rtlCol="0" anchor="t">
            <a:normAutofit/>
          </a:bodyPr>
          <a:lstStyle/>
          <a:p>
            <a:pPr algn="l" indent="0" marL="0">
              <a:lnSpc>
                <a:spcPct val="76667"/>
              </a:lnSpc>
              <a:buNone/>
            </a:pPr>
            <a:r>
              <a:rPr lang="en-US" sz="2850" b="1" spc="-57" kern="0" dirty="0">
                <a:solidFill>
                  <a:srgbClr val="005596"/>
                </a:solidFill>
                <a:latin typeface="Poppins" pitchFamily="34" charset="0"/>
                <a:ea typeface="Poppins" pitchFamily="34" charset="-122"/>
                <a:cs typeface="Poppins" pitchFamily="34" charset="-120"/>
              </a:rPr>
              <a:t>Lab 1: Write a Python Evaluation Script for Your Most-Used Skill</a:t>
            </a:r>
            <a:endParaRPr lang="en-US" sz="2850" dirty="0"/>
          </a:p>
        </p:txBody>
      </p:sp>
      <p:sp>
        <p:nvSpPr>
          <p:cNvPr id="5" name="Shape 3"/>
          <p:cNvSpPr/>
          <p:nvPr/>
        </p:nvSpPr>
        <p:spPr>
          <a:xfrm>
            <a:off x="14801255" y="1219200"/>
            <a:ext cx="2248495" cy="533400"/>
          </a:xfrm>
          <a:prstGeom prst="roundRect">
            <a:avLst>
              <a:gd name="adj" fmla="val 50000"/>
            </a:avLst>
          </a:prstGeom>
          <a:solidFill>
            <a:srgbClr val="005596"/>
          </a:solidFill>
          <a:ln/>
        </p:spPr>
      </p:sp>
      <p:sp>
        <p:nvSpPr>
          <p:cNvPr id="6" name="Text 4"/>
          <p:cNvSpPr/>
          <p:nvPr/>
        </p:nvSpPr>
        <p:spPr>
          <a:xfrm>
            <a:off x="15048905" y="1314450"/>
            <a:ext cx="1829395"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 45 MINUTES</a:t>
            </a:r>
            <a:endParaRPr lang="en-US" sz="1800" dirty="0"/>
          </a:p>
        </p:txBody>
      </p:sp>
      <p:sp>
        <p:nvSpPr>
          <p:cNvPr id="7" name="Text 5"/>
          <p:cNvSpPr/>
          <p:nvPr/>
        </p:nvSpPr>
        <p:spPr>
          <a:xfrm>
            <a:off x="1176338" y="1905000"/>
            <a:ext cx="15949612" cy="1908125"/>
          </a:xfrm>
          <a:prstGeom prst="rect">
            <a:avLst/>
          </a:prstGeom>
          <a:noFill/>
          <a:ln/>
        </p:spPr>
        <p:txBody>
          <a:bodyPr wrap="square" lIns="25400" tIns="25400" rIns="25400" bIns="25400" rtlCol="0" anchor="t">
            <a:normAutofit/>
          </a:bodyPr>
          <a:lstStyle/>
          <a:p>
            <a:pPr algn="l" marL="328613" indent="-328613">
              <a:lnSpc>
                <a:spcPct val="75838"/>
              </a:lnSpc>
              <a:buSzPct val="100000"/>
              <a:buFont typeface="+mj-lt"/>
              <a:buAutoNum type="arabicPeriod" startAt="1"/>
              <a:tabLst>
                <a:tab pos="328613" algn="l"/>
              </a:tabLst>
            </a:pPr>
            <a:r>
              <a:rPr lang="en-US" sz="1725" dirty="0">
                <a:solidFill>
                  <a:srgbClr val="0E1A26"/>
                </a:solidFill>
                <a:latin typeface="Khula" pitchFamily="34" charset="0"/>
                <a:ea typeface="Khula" pitchFamily="34" charset="-122"/>
                <a:cs typeface="Khula" pitchFamily="34" charset="-120"/>
              </a:rPr>
              <a:t>Choose the skill you've used most frequently (AC, Plan, Code, or Test Plan)</a:t>
            </a:r>
            <a:endParaRPr lang="en-US" sz="1725" dirty="0"/>
          </a:p>
          <a:p>
            <a:pPr algn="l" marL="328613" indent="-328613">
              <a:lnSpc>
                <a:spcPct val="75838"/>
              </a:lnSpc>
              <a:buSzPct val="100000"/>
              <a:buFont typeface="+mj-lt"/>
              <a:buAutoNum type="arabicPeriod" startAt="2"/>
              <a:tabLst>
                <a:tab pos="328613" algn="l"/>
              </a:tabLst>
            </a:pPr>
            <a:r>
              <a:rPr lang="en-US" sz="1725" dirty="0">
                <a:solidFill>
                  <a:srgbClr val="0E1A26"/>
                </a:solidFill>
                <a:latin typeface="Khula" pitchFamily="34" charset="0"/>
                <a:ea typeface="Khula" pitchFamily="34" charset="-122"/>
                <a:cs typeface="Khula" pitchFamily="34" charset="-120"/>
              </a:rPr>
              <a:t>Open or create a Python evaluation script</a:t>
            </a:r>
            <a:endParaRPr lang="en-US" sz="1725" dirty="0"/>
          </a:p>
          <a:p>
            <a:pPr algn="l" marL="328613" indent="-328613">
              <a:lnSpc>
                <a:spcPct val="75838"/>
              </a:lnSpc>
              <a:buSzPct val="100000"/>
              <a:buFont typeface="+mj-lt"/>
              <a:buAutoNum type="arabicPeriod" startAt="3"/>
              <a:tabLst>
                <a:tab pos="328613" algn="l"/>
              </a:tabLst>
            </a:pPr>
            <a:r>
              <a:rPr lang="en-US" sz="1725" dirty="0">
                <a:solidFill>
                  <a:srgbClr val="0E1A26"/>
                </a:solidFill>
                <a:latin typeface="Khula" pitchFamily="34" charset="0"/>
                <a:ea typeface="Khula" pitchFamily="34" charset="-122"/>
                <a:cs typeface="Khula" pitchFamily="34" charset="-120"/>
              </a:rPr>
              <a:t>Define 4–6 EC as code: deterministic checks (count, format, structure) and LLM judge calls (quality, coverage, specificity)</a:t>
            </a:r>
            <a:endParaRPr lang="en-US" sz="1725" dirty="0"/>
          </a:p>
          <a:p>
            <a:pPr algn="l" marL="328613" indent="-328613">
              <a:lnSpc>
                <a:spcPct val="75838"/>
              </a:lnSpc>
              <a:buSzPct val="100000"/>
              <a:buFont typeface="+mj-lt"/>
              <a:buAutoNum type="arabicPeriod" startAt="4"/>
              <a:tabLst>
                <a:tab pos="328613" algn="l"/>
              </a:tabLst>
            </a:pPr>
            <a:r>
              <a:rPr lang="en-US" sz="1725" dirty="0">
                <a:solidFill>
                  <a:srgbClr val="0E1A26"/>
                </a:solidFill>
                <a:latin typeface="Khula" pitchFamily="34" charset="0"/>
                <a:ea typeface="Khula" pitchFamily="34" charset="-122"/>
                <a:cs typeface="Khula" pitchFamily="34" charset="-120"/>
              </a:rPr>
              <a:t>Select 3 real test inputs from the student workspace</a:t>
            </a:r>
            <a:endParaRPr lang="en-US" sz="1725" dirty="0"/>
          </a:p>
          <a:p>
            <a:pPr algn="l" marL="328613" indent="-328613">
              <a:lnSpc>
                <a:spcPct val="75838"/>
              </a:lnSpc>
              <a:buSzPct val="100000"/>
              <a:buFont typeface="+mj-lt"/>
              <a:buAutoNum type="arabicPeriod" startAt="5"/>
              <a:tabLst>
                <a:tab pos="328613" algn="l"/>
              </a:tabLst>
            </a:pPr>
            <a:r>
              <a:rPr lang="en-US" sz="1725" dirty="0">
                <a:solidFill>
                  <a:srgbClr val="0E1A26"/>
                </a:solidFill>
                <a:latin typeface="Khula" pitchFamily="34" charset="0"/>
                <a:ea typeface="Khula" pitchFamily="34" charset="-122"/>
                <a:cs typeface="Khula" pitchFamily="34" charset="-120"/>
              </a:rPr>
              <a:t>Run the deterministic-only baseline first. Record scores per EC per input</a:t>
            </a:r>
            <a:endParaRPr lang="en-US" sz="1725" dirty="0"/>
          </a:p>
          <a:p>
            <a:pPr algn="l" marL="328613" indent="-328613">
              <a:lnSpc>
                <a:spcPct val="75838"/>
              </a:lnSpc>
              <a:buSzPct val="100000"/>
              <a:buFont typeface="+mj-lt"/>
              <a:buAutoNum type="arabicPeriod" startAt="6"/>
              <a:tabLst>
                <a:tab pos="328613" algn="l"/>
              </a:tabLst>
            </a:pPr>
            <a:r>
              <a:rPr lang="en-US" sz="1725" dirty="0">
                <a:solidFill>
                  <a:srgbClr val="0E1A26"/>
                </a:solidFill>
                <a:latin typeface="Khula" pitchFamily="34" charset="0"/>
                <a:ea typeface="Khula" pitchFamily="34" charset="-122"/>
                <a:cs typeface="Khula" pitchFamily="34" charset="-120"/>
              </a:rPr>
              <a:t>Then add the LLM judge checks. What does each type of evaluation catch that the other doesn't?</a:t>
            </a:r>
            <a:endParaRPr lang="en-US" sz="1725" dirty="0"/>
          </a:p>
          <a:p>
            <a:pPr algn="l" marL="328613" indent="-328613">
              <a:lnSpc>
                <a:spcPct val="75838"/>
              </a:lnSpc>
              <a:buSzPct val="100000"/>
              <a:buFont typeface="+mj-lt"/>
              <a:buAutoNum type="arabicPeriod" startAt="7"/>
              <a:tabLst>
                <a:tab pos="328613" algn="l"/>
              </a:tabLst>
            </a:pPr>
            <a:r>
              <a:rPr lang="en-US" sz="1725" dirty="0">
                <a:solidFill>
                  <a:srgbClr val="0E1A26"/>
                </a:solidFill>
                <a:latin typeface="Khula" pitchFamily="34" charset="0"/>
                <a:ea typeface="Khula" pitchFamily="34" charset="-122"/>
                <a:cs typeface="Khula" pitchFamily="34" charset="-120"/>
              </a:rPr>
              <a:t>Commit the evaluation script</a:t>
            </a:r>
            <a:endParaRPr lang="en-US" sz="1725" dirty="0"/>
          </a:p>
        </p:txBody>
      </p:sp>
      <p:sp>
        <p:nvSpPr>
          <p:cNvPr id="8" name="Shape 6"/>
          <p:cNvSpPr/>
          <p:nvPr/>
        </p:nvSpPr>
        <p:spPr>
          <a:xfrm>
            <a:off x="1238250" y="3927425"/>
            <a:ext cx="15811500" cy="1424880"/>
          </a:xfrm>
          <a:prstGeom prst="roundRect">
            <a:avLst>
              <a:gd name="adj" fmla="val 10696"/>
            </a:avLst>
          </a:prstGeom>
          <a:solidFill>
            <a:srgbClr val="005596"/>
          </a:solidFill>
          <a:ln/>
          <a:effectLst>
            <a:outerShdw sx="100000" sy="100000" kx="0" ky="0" algn="bl" rotWithShape="0" blurRad="266700" dist="114300" dir="5400000">
              <a:srgbClr val="005596">
                <a:alpha val="28000"/>
              </a:srgbClr>
            </a:outerShdw>
          </a:effectLst>
        </p:spPr>
      </p:sp>
      <p:sp>
        <p:nvSpPr>
          <p:cNvPr id="9" name="Text 7"/>
          <p:cNvSpPr/>
          <p:nvPr/>
        </p:nvSpPr>
        <p:spPr>
          <a:xfrm>
            <a:off x="1524000" y="4060775"/>
            <a:ext cx="1676400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108" kern="0" dirty="0">
                <a:solidFill>
                  <a:srgbClr val="F5BB41"/>
                </a:solidFill>
                <a:latin typeface="Poppins" pitchFamily="34" charset="0"/>
                <a:ea typeface="Poppins" pitchFamily="34" charset="-122"/>
                <a:cs typeface="Poppins" pitchFamily="34" charset="-120"/>
              </a:rPr>
              <a:t>YOU'LL KNOW WHEN YOU'RE DONE BECAUSE…</a:t>
            </a:r>
            <a:endParaRPr lang="en-US" sz="1800" dirty="0"/>
          </a:p>
        </p:txBody>
      </p:sp>
      <p:sp>
        <p:nvSpPr>
          <p:cNvPr id="10" name="Text 8"/>
          <p:cNvSpPr/>
          <p:nvPr/>
        </p:nvSpPr>
        <p:spPr>
          <a:xfrm>
            <a:off x="1524000" y="4441775"/>
            <a:ext cx="15697200" cy="586680"/>
          </a:xfrm>
          <a:prstGeom prst="rect">
            <a:avLst/>
          </a:prstGeom>
          <a:noFill/>
          <a:ln/>
        </p:spPr>
        <p:txBody>
          <a:bodyPr wrap="square" lIns="25400" tIns="25400" rIns="25400" bIns="25400" rtlCol="0" anchor="t">
            <a:normAutofit/>
          </a:bodyPr>
          <a:lstStyle/>
          <a:p>
            <a:pPr algn="l" indent="0" marL="0">
              <a:lnSpc>
                <a:spcPct val="73846"/>
              </a:lnSpc>
              <a:buNone/>
            </a:pPr>
            <a:r>
              <a:rPr lang="en-US" sz="1800" dirty="0">
                <a:solidFill>
                  <a:srgbClr val="FFFFFF"/>
                </a:solidFill>
                <a:latin typeface="Khula" pitchFamily="34" charset="0"/>
                <a:ea typeface="Khula" pitchFamily="34" charset="-122"/>
                <a:cs typeface="Khula" pitchFamily="34" charset="-120"/>
              </a:rPr>
              <a:t>You have a committed Python evaluation script that checks your skill's output against 4–6 EC using both deterministic checks and LLM judges, with baseline scores documented for 3 sample stories from sample-stories/.</a:t>
            </a:r>
            <a:endParaRPr lang="en-US" sz="1800" dirty="0"/>
          </a:p>
        </p:txBody>
      </p:sp>
      <p:sp>
        <p:nvSpPr>
          <p:cNvPr id="11" name="Shape 9"/>
          <p:cNvSpPr/>
          <p:nvPr/>
        </p:nvSpPr>
        <p:spPr>
          <a:xfrm>
            <a:off x="1238250" y="5504706"/>
            <a:ext cx="15811500" cy="1234380"/>
          </a:xfrm>
          <a:prstGeom prst="roundRect">
            <a:avLst>
              <a:gd name="adj" fmla="val 12346"/>
            </a:avLst>
          </a:prstGeom>
          <a:solidFill>
            <a:srgbClr val="FBF1FA"/>
          </a:solidFill>
          <a:ln w="28575">
            <a:solidFill>
              <a:srgbClr val="9D1D96"/>
            </a:solidFill>
            <a:prstDash val="dash"/>
          </a:ln>
        </p:spPr>
      </p:sp>
      <p:sp>
        <p:nvSpPr>
          <p:cNvPr id="12" name="Text 10"/>
          <p:cNvSpPr/>
          <p:nvPr/>
        </p:nvSpPr>
        <p:spPr>
          <a:xfrm>
            <a:off x="1533525" y="5647581"/>
            <a:ext cx="1674304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9D1D96"/>
                </a:solidFill>
                <a:latin typeface="Poppins" pitchFamily="34" charset="0"/>
                <a:ea typeface="Poppins" pitchFamily="34" charset="-122"/>
                <a:cs typeface="Poppins" pitchFamily="34" charset="-120"/>
              </a:rPr>
              <a:t>STRETCH GOAL (FOR ADVANCED USERS) — OPTIONAL</a:t>
            </a:r>
            <a:endParaRPr lang="en-US" sz="1800" dirty="0"/>
          </a:p>
        </p:txBody>
      </p:sp>
      <p:sp>
        <p:nvSpPr>
          <p:cNvPr id="13" name="Text 11"/>
          <p:cNvSpPr/>
          <p:nvPr/>
        </p:nvSpPr>
        <p:spPr>
          <a:xfrm>
            <a:off x="1533525" y="6047631"/>
            <a:ext cx="15677579" cy="586680"/>
          </a:xfrm>
          <a:prstGeom prst="rect">
            <a:avLst/>
          </a:prstGeom>
          <a:noFill/>
          <a:ln/>
        </p:spPr>
        <p:txBody>
          <a:bodyPr wrap="square" lIns="25400" tIns="25400" rIns="25400" bIns="25400" rtlCol="0" anchor="t">
            <a:normAutofit/>
          </a:bodyPr>
          <a:lstStyle/>
          <a:p>
            <a:pPr algn="l" indent="0" marL="0">
              <a:lnSpc>
                <a:spcPct val="73846"/>
              </a:lnSpc>
              <a:buNone/>
            </a:pPr>
            <a:r>
              <a:rPr lang="en-US" sz="1800" dirty="0">
                <a:solidFill>
                  <a:srgbClr val="0E1A26"/>
                </a:solidFill>
                <a:latin typeface="Khula" pitchFamily="34" charset="0"/>
                <a:ea typeface="Khula" pitchFamily="34" charset="-122"/>
                <a:cs typeface="Khula" pitchFamily="34" charset="-120"/>
              </a:rPr>
              <a:t>Write deterministic checks that validate TypeScript types and Express route patterns in the skill output. Add an LLM judge criterion for ShadCN/Tailwind convention compliance.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2579638"/>
            <a:ext cx="3368873" cy="533400"/>
          </a:xfrm>
          <a:prstGeom prst="roundRect">
            <a:avLst>
              <a:gd name="adj" fmla="val 50000"/>
            </a:avLst>
          </a:prstGeom>
          <a:solidFill>
            <a:srgbClr val="F5BB41"/>
          </a:solidFill>
          <a:ln/>
        </p:spPr>
      </p:sp>
      <p:sp>
        <p:nvSpPr>
          <p:cNvPr id="3" name="Text 1"/>
          <p:cNvSpPr/>
          <p:nvPr/>
        </p:nvSpPr>
        <p:spPr>
          <a:xfrm>
            <a:off x="1485900" y="2674888"/>
            <a:ext cx="2974640"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0E1A26"/>
                </a:solidFill>
                <a:latin typeface="Poppins" pitchFamily="34" charset="0"/>
                <a:ea typeface="Poppins" pitchFamily="34" charset="-122"/>
                <a:cs typeface="Poppins" pitchFamily="34" charset="-120"/>
              </a:rPr>
              <a:t>SLIDE TYPE — EXERCISE</a:t>
            </a:r>
            <a:endParaRPr lang="en-US" sz="1800" dirty="0"/>
          </a:p>
        </p:txBody>
      </p:sp>
      <p:sp>
        <p:nvSpPr>
          <p:cNvPr id="4" name="Text 2"/>
          <p:cNvSpPr/>
          <p:nvPr/>
        </p:nvSpPr>
        <p:spPr>
          <a:xfrm>
            <a:off x="1238250" y="3410248"/>
            <a:ext cx="7969121" cy="540990"/>
          </a:xfrm>
          <a:prstGeom prst="rect">
            <a:avLst/>
          </a:prstGeom>
          <a:noFill/>
          <a:ln/>
        </p:spPr>
        <p:txBody>
          <a:bodyPr wrap="square" lIns="25400" tIns="25400" rIns="25400" bIns="25400" rtlCol="0" anchor="t">
            <a:normAutofit/>
          </a:bodyPr>
          <a:lstStyle/>
          <a:p>
            <a:pPr algn="l" indent="0" marL="0">
              <a:lnSpc>
                <a:spcPct val="81231"/>
              </a:lnSpc>
              <a:buNone/>
            </a:pPr>
            <a:r>
              <a:rPr lang="en-US" sz="3300" b="1" spc="-66" kern="0" dirty="0">
                <a:solidFill>
                  <a:srgbClr val="005596"/>
                </a:solidFill>
                <a:latin typeface="Poppins" pitchFamily="34" charset="0"/>
                <a:ea typeface="Poppins" pitchFamily="34" charset="-122"/>
                <a:cs typeface="Poppins" pitchFamily="34" charset="-120"/>
              </a:rPr>
              <a:t>Lab 2: Baseline, Hypothesize, Iterate</a:t>
            </a:r>
            <a:endParaRPr lang="en-US" sz="3300" dirty="0"/>
          </a:p>
        </p:txBody>
      </p:sp>
      <p:sp>
        <p:nvSpPr>
          <p:cNvPr id="5" name="Shape 3"/>
          <p:cNvSpPr/>
          <p:nvPr/>
        </p:nvSpPr>
        <p:spPr>
          <a:xfrm>
            <a:off x="14817775" y="3379738"/>
            <a:ext cx="2231975" cy="533400"/>
          </a:xfrm>
          <a:prstGeom prst="roundRect">
            <a:avLst>
              <a:gd name="adj" fmla="val 50000"/>
            </a:avLst>
          </a:prstGeom>
          <a:solidFill>
            <a:srgbClr val="005596"/>
          </a:solidFill>
          <a:ln/>
        </p:spPr>
      </p:sp>
      <p:sp>
        <p:nvSpPr>
          <p:cNvPr id="6" name="Text 4"/>
          <p:cNvSpPr/>
          <p:nvPr/>
        </p:nvSpPr>
        <p:spPr>
          <a:xfrm>
            <a:off x="15065425" y="3474988"/>
            <a:ext cx="1812875"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 35 MINUTES</a:t>
            </a:r>
            <a:endParaRPr lang="en-US" sz="1800" dirty="0"/>
          </a:p>
        </p:txBody>
      </p:sp>
      <p:sp>
        <p:nvSpPr>
          <p:cNvPr id="7" name="Text 5"/>
          <p:cNvSpPr/>
          <p:nvPr/>
        </p:nvSpPr>
        <p:spPr>
          <a:xfrm>
            <a:off x="1200150" y="4179838"/>
            <a:ext cx="15925800" cy="1638002"/>
          </a:xfrm>
          <a:prstGeom prst="rect">
            <a:avLst/>
          </a:prstGeom>
          <a:noFill/>
          <a:ln/>
        </p:spPr>
        <p:txBody>
          <a:bodyPr wrap="square" lIns="25400" tIns="25400" rIns="25400" bIns="25400" rtlCol="0" anchor="t">
            <a:normAutofit/>
          </a:bodyPr>
          <a:lstStyle/>
          <a:p>
            <a:pPr algn="l" marL="342900" indent="-342900">
              <a:lnSpc>
                <a:spcPct val="86154"/>
              </a:lnSpc>
              <a:buSzPct val="100000"/>
              <a:buFont typeface="+mj-lt"/>
              <a:buAutoNum type="arabicPeriod" startAt="1"/>
              <a:tabLst>
                <a:tab pos="342900" algn="l"/>
              </a:tabLst>
            </a:pPr>
            <a:r>
              <a:rPr lang="en-US" sz="1800" dirty="0">
                <a:solidFill>
                  <a:srgbClr val="0E1A26"/>
                </a:solidFill>
                <a:latin typeface="Khula" pitchFamily="34" charset="0"/>
                <a:ea typeface="Khula" pitchFamily="34" charset="-122"/>
                <a:cs typeface="Khula" pitchFamily="34" charset="-120"/>
              </a:rPr>
              <a:t>Review the baseline scores. Identify the EC that scored lowest</a:t>
            </a:r>
            <a:endParaRPr lang="en-US" sz="1800" dirty="0"/>
          </a:p>
          <a:p>
            <a:pPr algn="l" marL="342900" indent="-342900">
              <a:lnSpc>
                <a:spcPct val="86154"/>
              </a:lnSpc>
              <a:buSzPct val="100000"/>
              <a:buFont typeface="+mj-lt"/>
              <a:buAutoNum type="arabicPeriod" startAt="2"/>
              <a:tabLst>
                <a:tab pos="342900" algn="l"/>
              </a:tabLst>
            </a:pPr>
            <a:r>
              <a:rPr lang="en-US" sz="1800" dirty="0">
                <a:solidFill>
                  <a:srgbClr val="0E1A26"/>
                </a:solidFill>
                <a:latin typeface="Khula" pitchFamily="34" charset="0"/>
                <a:ea typeface="Khula" pitchFamily="34" charset="-122"/>
                <a:cs typeface="Khula" pitchFamily="34" charset="-120"/>
              </a:rPr>
              <a:t>Form a hypothesis: "I believe this EC fails because the skill lacks ___. I predict that adding ___ will cause this EC to pass."</a:t>
            </a:r>
            <a:endParaRPr lang="en-US" sz="1800" dirty="0"/>
          </a:p>
          <a:p>
            <a:pPr algn="l" marL="342900" indent="-342900">
              <a:lnSpc>
                <a:spcPct val="86154"/>
              </a:lnSpc>
              <a:buSzPct val="100000"/>
              <a:buFont typeface="+mj-lt"/>
              <a:buAutoNum type="arabicPeriod" startAt="3"/>
              <a:tabLst>
                <a:tab pos="342900" algn="l"/>
              </a:tabLst>
            </a:pPr>
            <a:r>
              <a:rPr lang="en-US" sz="1800" dirty="0">
                <a:solidFill>
                  <a:srgbClr val="0E1A26"/>
                </a:solidFill>
                <a:latin typeface="Khula" pitchFamily="34" charset="0"/>
                <a:ea typeface="Khula" pitchFamily="34" charset="-122"/>
                <a:cs typeface="Khula" pitchFamily="34" charset="-120"/>
              </a:rPr>
              <a:t>Make one change to the skill. One change only</a:t>
            </a:r>
            <a:endParaRPr lang="en-US" sz="1800" dirty="0"/>
          </a:p>
          <a:p>
            <a:pPr algn="l" marL="342900" indent="-342900">
              <a:lnSpc>
                <a:spcPct val="86154"/>
              </a:lnSpc>
              <a:buSzPct val="100000"/>
              <a:buFont typeface="+mj-lt"/>
              <a:buAutoNum type="arabicPeriod" startAt="4"/>
              <a:tabLst>
                <a:tab pos="342900" algn="l"/>
              </a:tabLst>
            </a:pPr>
            <a:r>
              <a:rPr lang="en-US" sz="1800" dirty="0">
                <a:solidFill>
                  <a:srgbClr val="0E1A26"/>
                </a:solidFill>
                <a:latin typeface="Khula" pitchFamily="34" charset="0"/>
                <a:ea typeface="Khula" pitchFamily="34" charset="-122"/>
                <a:cs typeface="Khula" pitchFamily="34" charset="-120"/>
              </a:rPr>
              <a:t>Re-run the evaluation script against all 3 test inputs</a:t>
            </a:r>
            <a:endParaRPr lang="en-US" sz="1800" dirty="0"/>
          </a:p>
          <a:p>
            <a:pPr algn="l" marL="342900" indent="-342900">
              <a:lnSpc>
                <a:spcPct val="86154"/>
              </a:lnSpc>
              <a:buSzPct val="100000"/>
              <a:buFont typeface="+mj-lt"/>
              <a:buAutoNum type="arabicPeriod" startAt="5"/>
              <a:tabLst>
                <a:tab pos="342900" algn="l"/>
              </a:tabLst>
            </a:pPr>
            <a:r>
              <a:rPr lang="en-US" sz="1800" dirty="0">
                <a:solidFill>
                  <a:srgbClr val="0E1A26"/>
                </a:solidFill>
                <a:latin typeface="Khula" pitchFamily="34" charset="0"/>
                <a:ea typeface="Khula" pitchFamily="34" charset="-122"/>
                <a:cs typeface="Khula" pitchFamily="34" charset="-120"/>
              </a:rPr>
              <a:t>Compare scores. Record: did the target EC improve? Did anything else change? Was the effect consistent across inputs?</a:t>
            </a:r>
            <a:endParaRPr lang="en-US" sz="1800" dirty="0"/>
          </a:p>
        </p:txBody>
      </p:sp>
      <p:sp>
        <p:nvSpPr>
          <p:cNvPr id="8" name="Shape 6"/>
          <p:cNvSpPr/>
          <p:nvPr/>
        </p:nvSpPr>
        <p:spPr>
          <a:xfrm>
            <a:off x="1238250" y="6046440"/>
            <a:ext cx="15811500" cy="1660922"/>
          </a:xfrm>
          <a:prstGeom prst="roundRect">
            <a:avLst>
              <a:gd name="adj" fmla="val 9176"/>
            </a:avLst>
          </a:prstGeom>
          <a:solidFill>
            <a:srgbClr val="005596"/>
          </a:solidFill>
          <a:ln/>
          <a:effectLst>
            <a:outerShdw sx="100000" sy="100000" kx="0" ky="0" algn="bl" rotWithShape="0" blurRad="266700" dist="114300" dir="5400000">
              <a:srgbClr val="005596">
                <a:alpha val="28000"/>
              </a:srgbClr>
            </a:outerShdw>
          </a:effectLst>
        </p:spPr>
      </p:sp>
      <p:sp>
        <p:nvSpPr>
          <p:cNvPr id="9" name="Text 7"/>
          <p:cNvSpPr/>
          <p:nvPr/>
        </p:nvSpPr>
        <p:spPr>
          <a:xfrm>
            <a:off x="1581150" y="6255990"/>
            <a:ext cx="1663827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108" kern="0" dirty="0">
                <a:solidFill>
                  <a:srgbClr val="F5BB41"/>
                </a:solidFill>
                <a:latin typeface="Poppins" pitchFamily="34" charset="0"/>
                <a:ea typeface="Poppins" pitchFamily="34" charset="-122"/>
                <a:cs typeface="Poppins" pitchFamily="34" charset="-120"/>
              </a:rPr>
              <a:t>YOU'LL KNOW WHEN YOU'RE DONE BECAUSE…</a:t>
            </a:r>
            <a:endParaRPr lang="en-US" sz="1800" dirty="0"/>
          </a:p>
        </p:txBody>
      </p:sp>
      <p:sp>
        <p:nvSpPr>
          <p:cNvPr id="10" name="Text 8"/>
          <p:cNvSpPr/>
          <p:nvPr/>
        </p:nvSpPr>
        <p:spPr>
          <a:xfrm>
            <a:off x="1581150" y="6675090"/>
            <a:ext cx="15579471" cy="632222"/>
          </a:xfrm>
          <a:prstGeom prst="rect">
            <a:avLst/>
          </a:prstGeom>
          <a:noFill/>
          <a:ln/>
        </p:spPr>
        <p:txBody>
          <a:bodyPr wrap="square" lIns="25400" tIns="25400" rIns="25400" bIns="25400" rtlCol="0" anchor="t">
            <a:normAutofit/>
          </a:bodyPr>
          <a:lstStyle/>
          <a:p>
            <a:pPr algn="l" indent="0" marL="0">
              <a:lnSpc>
                <a:spcPct val="80000"/>
              </a:lnSpc>
              <a:buNone/>
            </a:pPr>
            <a:r>
              <a:rPr lang="en-US" sz="1800" dirty="0">
                <a:solidFill>
                  <a:srgbClr val="FFFFFF"/>
                </a:solidFill>
                <a:latin typeface="Khula" pitchFamily="34" charset="0"/>
                <a:ea typeface="Khula" pitchFamily="34" charset="-122"/>
                <a:cs typeface="Khula" pitchFamily="34" charset="-120"/>
              </a:rPr>
              <a:t>You've run one documented EDD iteration cycle with a written hypothesis, a single skill change, evaluator scores before and after, and a conclusion about whether the hypothesis held.</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2739628"/>
            <a:ext cx="3368873" cy="533400"/>
          </a:xfrm>
          <a:prstGeom prst="roundRect">
            <a:avLst>
              <a:gd name="adj" fmla="val 50000"/>
            </a:avLst>
          </a:prstGeom>
          <a:solidFill>
            <a:srgbClr val="F5BB41"/>
          </a:solidFill>
          <a:ln/>
        </p:spPr>
      </p:sp>
      <p:sp>
        <p:nvSpPr>
          <p:cNvPr id="3" name="Text 1"/>
          <p:cNvSpPr/>
          <p:nvPr/>
        </p:nvSpPr>
        <p:spPr>
          <a:xfrm>
            <a:off x="1485900" y="2834878"/>
            <a:ext cx="2974640"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0E1A26"/>
                </a:solidFill>
                <a:latin typeface="Poppins" pitchFamily="34" charset="0"/>
                <a:ea typeface="Poppins" pitchFamily="34" charset="-122"/>
                <a:cs typeface="Poppins" pitchFamily="34" charset="-120"/>
              </a:rPr>
              <a:t>SLIDE TYPE — EXERCISE</a:t>
            </a:r>
            <a:endParaRPr lang="en-US" sz="1800" dirty="0"/>
          </a:p>
        </p:txBody>
      </p:sp>
      <p:sp>
        <p:nvSpPr>
          <p:cNvPr id="4" name="Text 2"/>
          <p:cNvSpPr/>
          <p:nvPr/>
        </p:nvSpPr>
        <p:spPr>
          <a:xfrm>
            <a:off x="1238250" y="3615928"/>
            <a:ext cx="11113353" cy="495300"/>
          </a:xfrm>
          <a:prstGeom prst="rect">
            <a:avLst/>
          </a:prstGeom>
          <a:noFill/>
          <a:ln/>
        </p:spPr>
        <p:txBody>
          <a:bodyPr wrap="square" lIns="25400" tIns="25400" rIns="25400" bIns="25400" rtlCol="0" anchor="t">
            <a:normAutofit/>
          </a:bodyPr>
          <a:lstStyle/>
          <a:p>
            <a:pPr algn="l" indent="0" marL="0">
              <a:lnSpc>
                <a:spcPct val="80000"/>
              </a:lnSpc>
              <a:buNone/>
            </a:pPr>
            <a:r>
              <a:rPr lang="en-US" sz="3000" b="1" spc="-60" kern="0" dirty="0">
                <a:solidFill>
                  <a:srgbClr val="005596"/>
                </a:solidFill>
                <a:latin typeface="Poppins" pitchFamily="34" charset="0"/>
                <a:ea typeface="Poppins" pitchFamily="34" charset="-122"/>
                <a:cs typeface="Poppins" pitchFamily="34" charset="-120"/>
              </a:rPr>
              <a:t>Lab 3: Document the Improvement Cycle and Refactor</a:t>
            </a:r>
            <a:endParaRPr lang="en-US" sz="3000" dirty="0"/>
          </a:p>
        </p:txBody>
      </p:sp>
      <p:sp>
        <p:nvSpPr>
          <p:cNvPr id="5" name="Shape 3"/>
          <p:cNvSpPr/>
          <p:nvPr/>
        </p:nvSpPr>
        <p:spPr>
          <a:xfrm>
            <a:off x="14817179" y="3539728"/>
            <a:ext cx="2232571" cy="533400"/>
          </a:xfrm>
          <a:prstGeom prst="roundRect">
            <a:avLst>
              <a:gd name="adj" fmla="val 50000"/>
            </a:avLst>
          </a:prstGeom>
          <a:solidFill>
            <a:srgbClr val="005596"/>
          </a:solidFill>
          <a:ln/>
        </p:spPr>
      </p:sp>
      <p:sp>
        <p:nvSpPr>
          <p:cNvPr id="6" name="Text 4"/>
          <p:cNvSpPr/>
          <p:nvPr/>
        </p:nvSpPr>
        <p:spPr>
          <a:xfrm>
            <a:off x="15064829" y="3634978"/>
            <a:ext cx="1813471"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 30 MINUTES</a:t>
            </a:r>
            <a:endParaRPr lang="en-US" sz="1800" dirty="0"/>
          </a:p>
        </p:txBody>
      </p:sp>
      <p:sp>
        <p:nvSpPr>
          <p:cNvPr id="7" name="Text 5"/>
          <p:cNvSpPr/>
          <p:nvPr/>
        </p:nvSpPr>
        <p:spPr>
          <a:xfrm>
            <a:off x="1200150" y="4339828"/>
            <a:ext cx="15925800" cy="1318022"/>
          </a:xfrm>
          <a:prstGeom prst="rect">
            <a:avLst/>
          </a:prstGeom>
          <a:noFill/>
          <a:ln/>
        </p:spPr>
        <p:txBody>
          <a:bodyPr wrap="square" lIns="25400" tIns="25400" rIns="25400" bIns="25400" rtlCol="0" anchor="t">
            <a:normAutofit/>
          </a:bodyPr>
          <a:lstStyle/>
          <a:p>
            <a:pPr algn="l" marL="342900" indent="-342900">
              <a:lnSpc>
                <a:spcPct val="86154"/>
              </a:lnSpc>
              <a:buSzPct val="100000"/>
              <a:buFont typeface="+mj-lt"/>
              <a:buAutoNum type="arabicPeriod" startAt="1"/>
              <a:tabLst>
                <a:tab pos="342900" algn="l"/>
              </a:tabLst>
            </a:pPr>
            <a:r>
              <a:rPr lang="en-US" sz="1800" dirty="0">
                <a:solidFill>
                  <a:srgbClr val="0E1A26"/>
                </a:solidFill>
                <a:latin typeface="Khula" pitchFamily="34" charset="0"/>
                <a:ea typeface="Khula" pitchFamily="34" charset="-122"/>
                <a:cs typeface="Khula" pitchFamily="34" charset="-120"/>
              </a:rPr>
              <a:t>Write up your iteration in a committed document: skill name, EC list, baseline score, hypothesis, change made, result (new score + EC-by-EC comparison), conclusion, next hypothesis</a:t>
            </a:r>
            <a:endParaRPr lang="en-US" sz="1800" dirty="0"/>
          </a:p>
          <a:p>
            <a:pPr algn="l" marL="342900" indent="-342900">
              <a:lnSpc>
                <a:spcPct val="86154"/>
              </a:lnSpc>
              <a:buSzPct val="100000"/>
              <a:buFont typeface="+mj-lt"/>
              <a:buAutoNum type="arabicPeriod" startAt="2"/>
              <a:tabLst>
                <a:tab pos="342900" algn="l"/>
              </a:tabLst>
            </a:pPr>
            <a:r>
              <a:rPr lang="en-US" sz="1800" dirty="0">
                <a:solidFill>
                  <a:srgbClr val="0E1A26"/>
                </a:solidFill>
                <a:latin typeface="Khula" pitchFamily="34" charset="0"/>
                <a:ea typeface="Khula" pitchFamily="34" charset="-122"/>
                <a:cs typeface="Khula" pitchFamily="34" charset="-120"/>
              </a:rPr>
              <a:t>Apply the Refactor step: for each instruction in your skill, remove it and re-run the evaluator. If no EC score drops, remove the instruction permanently</a:t>
            </a:r>
            <a:endParaRPr lang="en-US" sz="1800" dirty="0"/>
          </a:p>
          <a:p>
            <a:pPr algn="l" marL="342900" indent="-342900">
              <a:lnSpc>
                <a:spcPct val="86154"/>
              </a:lnSpc>
              <a:buSzPct val="100000"/>
              <a:buFont typeface="+mj-lt"/>
              <a:buAutoNum type="arabicPeriod" startAt="3"/>
              <a:tabLst>
                <a:tab pos="342900" algn="l"/>
              </a:tabLst>
            </a:pPr>
            <a:r>
              <a:rPr lang="en-US" sz="1800" dirty="0">
                <a:solidFill>
                  <a:srgbClr val="0E1A26"/>
                </a:solidFill>
                <a:latin typeface="Khula" pitchFamily="34" charset="0"/>
                <a:ea typeface="Khula" pitchFamily="34" charset="-122"/>
                <a:cs typeface="Khula" pitchFamily="34" charset="-120"/>
              </a:rPr>
              <a:t>Commit the improvement log and the leaner skill</a:t>
            </a:r>
            <a:endParaRPr lang="en-US" sz="1800" dirty="0"/>
          </a:p>
        </p:txBody>
      </p:sp>
      <p:sp>
        <p:nvSpPr>
          <p:cNvPr id="8" name="Shape 6"/>
          <p:cNvSpPr/>
          <p:nvPr/>
        </p:nvSpPr>
        <p:spPr>
          <a:xfrm>
            <a:off x="1238250" y="5886450"/>
            <a:ext cx="15811500" cy="1660922"/>
          </a:xfrm>
          <a:prstGeom prst="roundRect">
            <a:avLst>
              <a:gd name="adj" fmla="val 9176"/>
            </a:avLst>
          </a:prstGeom>
          <a:solidFill>
            <a:srgbClr val="005596"/>
          </a:solidFill>
          <a:ln/>
          <a:effectLst>
            <a:outerShdw sx="100000" sy="100000" kx="0" ky="0" algn="bl" rotWithShape="0" blurRad="266700" dist="114300" dir="5400000">
              <a:srgbClr val="005596">
                <a:alpha val="28000"/>
              </a:srgbClr>
            </a:outerShdw>
          </a:effectLst>
        </p:spPr>
      </p:sp>
      <p:sp>
        <p:nvSpPr>
          <p:cNvPr id="9" name="Text 7"/>
          <p:cNvSpPr/>
          <p:nvPr/>
        </p:nvSpPr>
        <p:spPr>
          <a:xfrm>
            <a:off x="1581150" y="6096000"/>
            <a:ext cx="1663827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108" kern="0" dirty="0">
                <a:solidFill>
                  <a:srgbClr val="F5BB41"/>
                </a:solidFill>
                <a:latin typeface="Poppins" pitchFamily="34" charset="0"/>
                <a:ea typeface="Poppins" pitchFamily="34" charset="-122"/>
                <a:cs typeface="Poppins" pitchFamily="34" charset="-120"/>
              </a:rPr>
              <a:t>YOU'LL KNOW WHEN YOU'RE DONE BECAUSE…</a:t>
            </a:r>
            <a:endParaRPr lang="en-US" sz="1800" dirty="0"/>
          </a:p>
        </p:txBody>
      </p:sp>
      <p:sp>
        <p:nvSpPr>
          <p:cNvPr id="10" name="Text 8"/>
          <p:cNvSpPr/>
          <p:nvPr/>
        </p:nvSpPr>
        <p:spPr>
          <a:xfrm>
            <a:off x="1581150" y="6515100"/>
            <a:ext cx="15579471" cy="632222"/>
          </a:xfrm>
          <a:prstGeom prst="rect">
            <a:avLst/>
          </a:prstGeom>
          <a:noFill/>
          <a:ln/>
        </p:spPr>
        <p:txBody>
          <a:bodyPr wrap="square" lIns="25400" tIns="25400" rIns="25400" bIns="25400" rtlCol="0" anchor="t">
            <a:normAutofit/>
          </a:bodyPr>
          <a:lstStyle/>
          <a:p>
            <a:pPr algn="l" indent="0" marL="0">
              <a:lnSpc>
                <a:spcPct val="80000"/>
              </a:lnSpc>
              <a:buNone/>
            </a:pPr>
            <a:r>
              <a:rPr lang="en-US" sz="1800" dirty="0">
                <a:solidFill>
                  <a:srgbClr val="FFFFFF"/>
                </a:solidFill>
                <a:latin typeface="Khula" pitchFamily="34" charset="0"/>
                <a:ea typeface="Khula" pitchFamily="34" charset="-122"/>
                <a:cs typeface="Khula" pitchFamily="34" charset="-120"/>
              </a:rPr>
              <a:t>You have a committed improvement cycle document with hypothesis, change, scores, and conclusion — plus a leaner skill where every instruction is provably load-bearing according to your evaluator.</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97D3">
                  <a:alpha val="100000"/>
                </a:srgbClr>
              </a:gs>
              <a:gs pos="100000">
                <a:srgbClr val="5BC2A7">
                  <a:alpha val="100000"/>
                </a:srgbClr>
              </a:gs>
            </a:gsLst>
            <a:lin ang="2700000" scaled="0"/>
          </a:gradFill>
          <a:ln/>
        </p:spPr>
      </p:sp>
      <p:sp>
        <p:nvSpPr>
          <p:cNvPr id="3" name="Shape 1"/>
          <p:cNvSpPr/>
          <p:nvPr/>
        </p:nvSpPr>
        <p:spPr>
          <a:xfrm>
            <a:off x="1143000" y="857250"/>
            <a:ext cx="3306514" cy="533400"/>
          </a:xfrm>
          <a:prstGeom prst="roundRect">
            <a:avLst>
              <a:gd name="adj" fmla="val 50000"/>
            </a:avLst>
          </a:prstGeom>
          <a:solidFill>
            <a:srgbClr val="FFFFFF">
              <a:alpha val="20000"/>
            </a:srgbClr>
          </a:solidFill>
          <a:ln/>
        </p:spPr>
      </p:sp>
      <p:sp>
        <p:nvSpPr>
          <p:cNvPr id="4" name="Text 2"/>
          <p:cNvSpPr/>
          <p:nvPr/>
        </p:nvSpPr>
        <p:spPr>
          <a:xfrm>
            <a:off x="1390650" y="952500"/>
            <a:ext cx="2910410"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CLOSING</a:t>
            </a:r>
            <a:endParaRPr lang="en-US" sz="1800" dirty="0"/>
          </a:p>
        </p:txBody>
      </p:sp>
      <p:sp>
        <p:nvSpPr>
          <p:cNvPr id="5" name="Text 3"/>
          <p:cNvSpPr/>
          <p:nvPr/>
        </p:nvSpPr>
        <p:spPr>
          <a:xfrm>
            <a:off x="1143000" y="1619250"/>
            <a:ext cx="17602200" cy="561975"/>
          </a:xfrm>
          <a:prstGeom prst="rect">
            <a:avLst/>
          </a:prstGeom>
          <a:noFill/>
          <a:ln/>
        </p:spPr>
        <p:txBody>
          <a:bodyPr wrap="square" lIns="25400" tIns="25400" rIns="25400" bIns="25400" rtlCol="0" anchor="t">
            <a:normAutofit/>
          </a:bodyPr>
          <a:lstStyle/>
          <a:p>
            <a:pPr algn="l" indent="0" marL="0">
              <a:lnSpc>
                <a:spcPct val="72368"/>
              </a:lnSpc>
              <a:buNone/>
            </a:pPr>
            <a:r>
              <a:rPr lang="en-US" sz="3750" b="1" spc="-75" kern="0" dirty="0">
                <a:solidFill>
                  <a:srgbClr val="FFFFFF"/>
                </a:solidFill>
                <a:latin typeface="Poppins" pitchFamily="34" charset="0"/>
                <a:ea typeface="Poppins" pitchFamily="34" charset="-122"/>
                <a:cs typeface="Poppins" pitchFamily="34" charset="-120"/>
              </a:rPr>
              <a:t>Before you go… </a:t>
            </a:r>
            <a:pPr algn="l" indent="0" marL="0">
              <a:lnSpc>
                <a:spcPct val="72368"/>
              </a:lnSpc>
              <a:buNone/>
            </a:pPr>
            <a:r>
              <a:rPr lang="en-US" sz="2250" b="1" spc="-75" kern="0" dirty="0">
                <a:solidFill>
                  <a:srgbClr val="FFFFFF"/>
                </a:solidFill>
                <a:latin typeface="Poppins" pitchFamily="34" charset="0"/>
                <a:ea typeface="Poppins" pitchFamily="34" charset="-122"/>
                <a:cs typeface="Poppins" pitchFamily="34" charset="-120"/>
              </a:rPr>
              <a:t>(1 of 2)</a:t>
            </a:r>
            <a:endParaRPr lang="en-US" sz="3750" dirty="0"/>
          </a:p>
        </p:txBody>
      </p:sp>
      <p:sp>
        <p:nvSpPr>
          <p:cNvPr id="6" name="Shape 4"/>
          <p:cNvSpPr/>
          <p:nvPr/>
        </p:nvSpPr>
        <p:spPr>
          <a:xfrm>
            <a:off x="1143000" y="2371725"/>
            <a:ext cx="16002000" cy="1767632"/>
          </a:xfrm>
          <a:prstGeom prst="roundRect">
            <a:avLst>
              <a:gd name="adj" fmla="val 8622"/>
            </a:avLst>
          </a:prstGeom>
          <a:solidFill>
            <a:srgbClr val="FFFFFF">
              <a:alpha val="94000"/>
            </a:srgbClr>
          </a:solidFill>
          <a:ln/>
        </p:spPr>
      </p:sp>
      <p:sp>
        <p:nvSpPr>
          <p:cNvPr id="7" name="Text 5"/>
          <p:cNvSpPr/>
          <p:nvPr/>
        </p:nvSpPr>
        <p:spPr>
          <a:xfrm>
            <a:off x="1390650" y="2543175"/>
            <a:ext cx="17057370" cy="289471"/>
          </a:xfrm>
          <a:prstGeom prst="rect">
            <a:avLst/>
          </a:prstGeom>
          <a:noFill/>
          <a:ln/>
        </p:spPr>
        <p:txBody>
          <a:bodyPr wrap="square" lIns="25400" tIns="25400" rIns="25400" bIns="25400" rtlCol="0" anchor="t">
            <a:normAutofit/>
          </a:bodyPr>
          <a:lstStyle/>
          <a:p>
            <a:pPr algn="l" indent="0" marL="0">
              <a:lnSpc>
                <a:spcPct val="75429"/>
              </a:lnSpc>
              <a:buNone/>
            </a:pPr>
            <a:r>
              <a:rPr lang="en-US" sz="1800" b="1" spc="-36" kern="0" dirty="0">
                <a:solidFill>
                  <a:srgbClr val="005596"/>
                </a:solidFill>
                <a:latin typeface="Poppins" pitchFamily="34" charset="0"/>
                <a:ea typeface="Poppins" pitchFamily="34" charset="-122"/>
                <a:cs typeface="Poppins" pitchFamily="34" charset="-120"/>
              </a:rPr>
              <a:t>Goal 1: </a:t>
            </a:r>
            <a:pPr algn="l" indent="0" marL="0">
              <a:lnSpc>
                <a:spcPct val="75429"/>
              </a:lnSpc>
              <a:buNone/>
            </a:pPr>
            <a:r>
              <a:rPr lang="en-US" sz="1800" b="1" spc="-36" kern="0" dirty="0">
                <a:solidFill>
                  <a:srgbClr val="4597D3"/>
                </a:solidFill>
                <a:latin typeface="Poppins" pitchFamily="34" charset="0"/>
                <a:ea typeface="Poppins" pitchFamily="34" charset="-122"/>
                <a:cs typeface="Poppins" pitchFamily="34" charset="-120"/>
              </a:rPr>
              <a:t>Articulate EDD</a:t>
            </a:r>
            <a:endParaRPr lang="en-US" sz="1800" dirty="0"/>
          </a:p>
        </p:txBody>
      </p:sp>
      <p:sp>
        <p:nvSpPr>
          <p:cNvPr id="8" name="Text 6"/>
          <p:cNvSpPr/>
          <p:nvPr/>
        </p:nvSpPr>
        <p:spPr>
          <a:xfrm>
            <a:off x="1390650" y="2870746"/>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Product/Process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 now have the discipline to know whether your AC skill changes are improvements or just changes. Non-negotiable for the rest of the program.</a:t>
            </a:r>
            <a:endParaRPr lang="en-US" sz="1800" dirty="0"/>
          </a:p>
        </p:txBody>
      </p:sp>
      <p:sp>
        <p:nvSpPr>
          <p:cNvPr id="9" name="Text 7"/>
          <p:cNvSpPr/>
          <p:nvPr/>
        </p:nvSpPr>
        <p:spPr>
          <a:xfrm>
            <a:off x="6610350" y="2870746"/>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Development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Your Plan and Code skills now have the same measurement rigor. No more guessing.</a:t>
            </a:r>
            <a:endParaRPr lang="en-US" sz="1800" dirty="0"/>
          </a:p>
        </p:txBody>
      </p:sp>
      <p:sp>
        <p:nvSpPr>
          <p:cNvPr id="10" name="Text 8"/>
          <p:cNvSpPr/>
          <p:nvPr/>
        </p:nvSpPr>
        <p:spPr>
          <a:xfrm>
            <a:off x="11830050" y="2870746"/>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Testing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Your test plan skill is measurable now too. Same discipline, same Python pattern.</a:t>
            </a:r>
            <a:endParaRPr lang="en-US" sz="1800" dirty="0"/>
          </a:p>
        </p:txBody>
      </p:sp>
      <p:sp>
        <p:nvSpPr>
          <p:cNvPr id="11" name="Shape 9"/>
          <p:cNvSpPr/>
          <p:nvPr/>
        </p:nvSpPr>
        <p:spPr>
          <a:xfrm>
            <a:off x="1143000" y="4291757"/>
            <a:ext cx="16002000" cy="1767632"/>
          </a:xfrm>
          <a:prstGeom prst="roundRect">
            <a:avLst>
              <a:gd name="adj" fmla="val 8622"/>
            </a:avLst>
          </a:prstGeom>
          <a:solidFill>
            <a:srgbClr val="FFFFFF">
              <a:alpha val="94000"/>
            </a:srgbClr>
          </a:solidFill>
          <a:ln/>
        </p:spPr>
      </p:sp>
      <p:sp>
        <p:nvSpPr>
          <p:cNvPr id="12" name="Text 10"/>
          <p:cNvSpPr/>
          <p:nvPr/>
        </p:nvSpPr>
        <p:spPr>
          <a:xfrm>
            <a:off x="1390650" y="4463207"/>
            <a:ext cx="17057370" cy="289471"/>
          </a:xfrm>
          <a:prstGeom prst="rect">
            <a:avLst/>
          </a:prstGeom>
          <a:noFill/>
          <a:ln/>
        </p:spPr>
        <p:txBody>
          <a:bodyPr wrap="square" lIns="25400" tIns="25400" rIns="25400" bIns="25400" rtlCol="0" anchor="t">
            <a:normAutofit/>
          </a:bodyPr>
          <a:lstStyle/>
          <a:p>
            <a:pPr algn="l" indent="0" marL="0">
              <a:lnSpc>
                <a:spcPct val="75429"/>
              </a:lnSpc>
              <a:buNone/>
            </a:pPr>
            <a:r>
              <a:rPr lang="en-US" sz="1800" b="1" spc="-36" kern="0" dirty="0">
                <a:solidFill>
                  <a:srgbClr val="005596"/>
                </a:solidFill>
                <a:latin typeface="Poppins" pitchFamily="34" charset="0"/>
                <a:ea typeface="Poppins" pitchFamily="34" charset="-122"/>
                <a:cs typeface="Poppins" pitchFamily="34" charset="-120"/>
              </a:rPr>
              <a:t>Goal 2: </a:t>
            </a:r>
            <a:pPr algn="l" indent="0" marL="0">
              <a:lnSpc>
                <a:spcPct val="75429"/>
              </a:lnSpc>
              <a:buNone/>
            </a:pPr>
            <a:r>
              <a:rPr lang="en-US" sz="1800" b="1" spc="-36" kern="0" dirty="0">
                <a:solidFill>
                  <a:srgbClr val="4597D3"/>
                </a:solidFill>
                <a:latin typeface="Poppins" pitchFamily="34" charset="0"/>
                <a:ea typeface="Poppins" pitchFamily="34" charset="-122"/>
                <a:cs typeface="Poppins" pitchFamily="34" charset="-120"/>
              </a:rPr>
              <a:t>Write a Python evaluation script with LLM judge</a:t>
            </a:r>
            <a:endParaRPr lang="en-US" sz="1800" dirty="0"/>
          </a:p>
        </p:txBody>
      </p:sp>
      <p:sp>
        <p:nvSpPr>
          <p:cNvPr id="13" name="Text 11"/>
          <p:cNvSpPr/>
          <p:nvPr/>
        </p:nvSpPr>
        <p:spPr>
          <a:xfrm>
            <a:off x="1390650" y="4790777"/>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Product/Process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 own an evaluation script for your AC skill. Run it anytime, against any input, and get a structured score.</a:t>
            </a:r>
            <a:endParaRPr lang="en-US" sz="1800" dirty="0"/>
          </a:p>
        </p:txBody>
      </p:sp>
      <p:sp>
        <p:nvSpPr>
          <p:cNvPr id="14" name="Text 12"/>
          <p:cNvSpPr/>
          <p:nvPr/>
        </p:nvSpPr>
        <p:spPr>
          <a:xfrm>
            <a:off x="6610350" y="4790777"/>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Development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 own evaluation scripts for your Plan and Code skills — artifacts you'll maintain and adapt.</a:t>
            </a:r>
            <a:endParaRPr lang="en-US" sz="1800" dirty="0"/>
          </a:p>
        </p:txBody>
      </p:sp>
      <p:sp>
        <p:nvSpPr>
          <p:cNvPr id="15" name="Text 13"/>
          <p:cNvSpPr/>
          <p:nvPr/>
        </p:nvSpPr>
        <p:spPr>
          <a:xfrm>
            <a:off x="11830050" y="4790777"/>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Testing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You've seen how LLM judges evaluate test plan quality — coverage, risk identification, non-duplication. You can build the same for your test plan skill.</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97D3">
                  <a:alpha val="100000"/>
                </a:srgbClr>
              </a:gs>
              <a:gs pos="100000">
                <a:srgbClr val="5BC2A7">
                  <a:alpha val="100000"/>
                </a:srgbClr>
              </a:gs>
            </a:gsLst>
            <a:lin ang="2700000" scaled="0"/>
          </a:gradFill>
          <a:ln/>
        </p:spPr>
      </p:sp>
      <p:sp>
        <p:nvSpPr>
          <p:cNvPr id="3" name="Shape 1"/>
          <p:cNvSpPr/>
          <p:nvPr/>
        </p:nvSpPr>
        <p:spPr>
          <a:xfrm>
            <a:off x="1143000" y="857250"/>
            <a:ext cx="3306514" cy="533400"/>
          </a:xfrm>
          <a:prstGeom prst="roundRect">
            <a:avLst>
              <a:gd name="adj" fmla="val 50000"/>
            </a:avLst>
          </a:prstGeom>
          <a:solidFill>
            <a:srgbClr val="FFFFFF">
              <a:alpha val="20000"/>
            </a:srgbClr>
          </a:solidFill>
          <a:ln/>
        </p:spPr>
      </p:sp>
      <p:sp>
        <p:nvSpPr>
          <p:cNvPr id="4" name="Text 2"/>
          <p:cNvSpPr/>
          <p:nvPr/>
        </p:nvSpPr>
        <p:spPr>
          <a:xfrm>
            <a:off x="1390650" y="952500"/>
            <a:ext cx="2910410"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CLOSING</a:t>
            </a:r>
            <a:endParaRPr lang="en-US" sz="1800" dirty="0"/>
          </a:p>
        </p:txBody>
      </p:sp>
      <p:sp>
        <p:nvSpPr>
          <p:cNvPr id="5" name="Text 3"/>
          <p:cNvSpPr/>
          <p:nvPr/>
        </p:nvSpPr>
        <p:spPr>
          <a:xfrm>
            <a:off x="1143000" y="1619250"/>
            <a:ext cx="17602200" cy="561975"/>
          </a:xfrm>
          <a:prstGeom prst="rect">
            <a:avLst/>
          </a:prstGeom>
          <a:noFill/>
          <a:ln/>
        </p:spPr>
        <p:txBody>
          <a:bodyPr wrap="square" lIns="25400" tIns="25400" rIns="25400" bIns="25400" rtlCol="0" anchor="t">
            <a:normAutofit/>
          </a:bodyPr>
          <a:lstStyle/>
          <a:p>
            <a:pPr algn="l" indent="0" marL="0">
              <a:lnSpc>
                <a:spcPct val="72368"/>
              </a:lnSpc>
              <a:buNone/>
            </a:pPr>
            <a:r>
              <a:rPr lang="en-US" sz="3750" b="1" spc="-75" kern="0" dirty="0">
                <a:solidFill>
                  <a:srgbClr val="FFFFFF"/>
                </a:solidFill>
                <a:latin typeface="Poppins" pitchFamily="34" charset="0"/>
                <a:ea typeface="Poppins" pitchFamily="34" charset="-122"/>
                <a:cs typeface="Poppins" pitchFamily="34" charset="-120"/>
              </a:rPr>
              <a:t>Before you go… </a:t>
            </a:r>
            <a:pPr algn="l" indent="0" marL="0">
              <a:lnSpc>
                <a:spcPct val="72368"/>
              </a:lnSpc>
              <a:buNone/>
            </a:pPr>
            <a:r>
              <a:rPr lang="en-US" sz="2250" b="1" spc="-75" kern="0" dirty="0">
                <a:solidFill>
                  <a:srgbClr val="FFFFFF"/>
                </a:solidFill>
                <a:latin typeface="Poppins" pitchFamily="34" charset="0"/>
                <a:ea typeface="Poppins" pitchFamily="34" charset="-122"/>
                <a:cs typeface="Poppins" pitchFamily="34" charset="-120"/>
              </a:rPr>
              <a:t>(2 of 2)</a:t>
            </a:r>
            <a:endParaRPr lang="en-US" sz="3750" dirty="0"/>
          </a:p>
        </p:txBody>
      </p:sp>
      <p:sp>
        <p:nvSpPr>
          <p:cNvPr id="6" name="Shape 4"/>
          <p:cNvSpPr/>
          <p:nvPr/>
        </p:nvSpPr>
        <p:spPr>
          <a:xfrm>
            <a:off x="1143000" y="2371725"/>
            <a:ext cx="16002000" cy="1493341"/>
          </a:xfrm>
          <a:prstGeom prst="roundRect">
            <a:avLst>
              <a:gd name="adj" fmla="val 10205"/>
            </a:avLst>
          </a:prstGeom>
          <a:solidFill>
            <a:srgbClr val="FFFFFF">
              <a:alpha val="94000"/>
            </a:srgbClr>
          </a:solidFill>
          <a:ln/>
        </p:spPr>
      </p:sp>
      <p:sp>
        <p:nvSpPr>
          <p:cNvPr id="7" name="Text 5"/>
          <p:cNvSpPr/>
          <p:nvPr/>
        </p:nvSpPr>
        <p:spPr>
          <a:xfrm>
            <a:off x="1390650" y="2543175"/>
            <a:ext cx="17057370" cy="289471"/>
          </a:xfrm>
          <a:prstGeom prst="rect">
            <a:avLst/>
          </a:prstGeom>
          <a:noFill/>
          <a:ln/>
        </p:spPr>
        <p:txBody>
          <a:bodyPr wrap="square" lIns="25400" tIns="25400" rIns="25400" bIns="25400" rtlCol="0" anchor="t">
            <a:normAutofit/>
          </a:bodyPr>
          <a:lstStyle/>
          <a:p>
            <a:pPr algn="l" indent="0" marL="0">
              <a:lnSpc>
                <a:spcPct val="75429"/>
              </a:lnSpc>
              <a:buNone/>
            </a:pPr>
            <a:r>
              <a:rPr lang="en-US" sz="1800" b="1" spc="-36" kern="0" dirty="0">
                <a:solidFill>
                  <a:srgbClr val="005596"/>
                </a:solidFill>
                <a:latin typeface="Poppins" pitchFamily="34" charset="0"/>
                <a:ea typeface="Poppins" pitchFamily="34" charset="-122"/>
                <a:cs typeface="Poppins" pitchFamily="34" charset="-120"/>
              </a:rPr>
              <a:t>Goal 3: </a:t>
            </a:r>
            <a:pPr algn="l" indent="0" marL="0">
              <a:lnSpc>
                <a:spcPct val="75429"/>
              </a:lnSpc>
              <a:buNone/>
            </a:pPr>
            <a:r>
              <a:rPr lang="en-US" sz="1800" b="1" spc="-36" kern="0" dirty="0">
                <a:solidFill>
                  <a:srgbClr val="4597D3"/>
                </a:solidFill>
                <a:latin typeface="Poppins" pitchFamily="34" charset="0"/>
                <a:ea typeface="Poppins" pitchFamily="34" charset="-122"/>
                <a:cs typeface="Poppins" pitchFamily="34" charset="-120"/>
              </a:rPr>
              <a:t>Run a documented improvement cycle</a:t>
            </a:r>
            <a:endParaRPr lang="en-US" sz="1800" dirty="0"/>
          </a:p>
        </p:txBody>
      </p:sp>
      <p:sp>
        <p:nvSpPr>
          <p:cNvPr id="8" name="Text 6"/>
          <p:cNvSpPr/>
          <p:nvPr/>
        </p:nvSpPr>
        <p:spPr>
          <a:xfrm>
            <a:off x="1390650" y="2870746"/>
            <a:ext cx="5219319" cy="86097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Product/Process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You've proven that one change, measured, is worth more than ten changes guessed. This is the iteration discipline.</a:t>
            </a:r>
            <a:endParaRPr lang="en-US" sz="1800" dirty="0"/>
          </a:p>
        </p:txBody>
      </p:sp>
      <p:sp>
        <p:nvSpPr>
          <p:cNvPr id="9" name="Text 7"/>
          <p:cNvSpPr/>
          <p:nvPr/>
        </p:nvSpPr>
        <p:spPr>
          <a:xfrm>
            <a:off x="6610350" y="2870746"/>
            <a:ext cx="5219319" cy="86097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Development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Your Plan and Code skills now have evidence-driven iteration, not intuition-driven drift.</a:t>
            </a:r>
            <a:endParaRPr lang="en-US" sz="1800" dirty="0"/>
          </a:p>
        </p:txBody>
      </p:sp>
      <p:sp>
        <p:nvSpPr>
          <p:cNvPr id="10" name="Text 8"/>
          <p:cNvSpPr/>
          <p:nvPr/>
        </p:nvSpPr>
        <p:spPr>
          <a:xfrm>
            <a:off x="11830050" y="2870746"/>
            <a:ext cx="5219319" cy="86097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Testing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Your test plan skill's iteration is now documented and measurable.</a:t>
            </a:r>
            <a:endParaRPr lang="en-US" sz="1800" dirty="0"/>
          </a:p>
        </p:txBody>
      </p:sp>
      <p:sp>
        <p:nvSpPr>
          <p:cNvPr id="11" name="Shape 9"/>
          <p:cNvSpPr/>
          <p:nvPr/>
        </p:nvSpPr>
        <p:spPr>
          <a:xfrm>
            <a:off x="1143000" y="4017466"/>
            <a:ext cx="16002000" cy="1493341"/>
          </a:xfrm>
          <a:prstGeom prst="roundRect">
            <a:avLst>
              <a:gd name="adj" fmla="val 10205"/>
            </a:avLst>
          </a:prstGeom>
          <a:solidFill>
            <a:srgbClr val="FFFFFF">
              <a:alpha val="94000"/>
            </a:srgbClr>
          </a:solidFill>
          <a:ln/>
        </p:spPr>
      </p:sp>
      <p:sp>
        <p:nvSpPr>
          <p:cNvPr id="12" name="Text 10"/>
          <p:cNvSpPr/>
          <p:nvPr/>
        </p:nvSpPr>
        <p:spPr>
          <a:xfrm>
            <a:off x="1390650" y="4188916"/>
            <a:ext cx="17057370" cy="289471"/>
          </a:xfrm>
          <a:prstGeom prst="rect">
            <a:avLst/>
          </a:prstGeom>
          <a:noFill/>
          <a:ln/>
        </p:spPr>
        <p:txBody>
          <a:bodyPr wrap="square" lIns="25400" tIns="25400" rIns="25400" bIns="25400" rtlCol="0" anchor="t">
            <a:normAutofit/>
          </a:bodyPr>
          <a:lstStyle/>
          <a:p>
            <a:pPr algn="l" indent="0" marL="0">
              <a:lnSpc>
                <a:spcPct val="75429"/>
              </a:lnSpc>
              <a:buNone/>
            </a:pPr>
            <a:r>
              <a:rPr lang="en-US" sz="1800" b="1" spc="-36" kern="0" dirty="0">
                <a:solidFill>
                  <a:srgbClr val="005596"/>
                </a:solidFill>
                <a:latin typeface="Poppins" pitchFamily="34" charset="0"/>
                <a:ea typeface="Poppins" pitchFamily="34" charset="-122"/>
                <a:cs typeface="Poppins" pitchFamily="34" charset="-120"/>
              </a:rPr>
              <a:t>Goal 4: </a:t>
            </a:r>
            <a:pPr algn="l" indent="0" marL="0">
              <a:lnSpc>
                <a:spcPct val="75429"/>
              </a:lnSpc>
              <a:buNone/>
            </a:pPr>
            <a:r>
              <a:rPr lang="en-US" sz="1800" b="1" spc="-36" kern="0" dirty="0">
                <a:solidFill>
                  <a:srgbClr val="4597D3"/>
                </a:solidFill>
                <a:latin typeface="Poppins" pitchFamily="34" charset="0"/>
                <a:ea typeface="Poppins" pitchFamily="34" charset="-122"/>
                <a:cs typeface="Poppins" pitchFamily="34" charset="-120"/>
              </a:rPr>
              <a:t>Apply the Refactor step</a:t>
            </a:r>
            <a:endParaRPr lang="en-US" sz="1800" dirty="0"/>
          </a:p>
        </p:txBody>
      </p:sp>
      <p:sp>
        <p:nvSpPr>
          <p:cNvPr id="13" name="Text 11"/>
          <p:cNvSpPr/>
          <p:nvPr/>
        </p:nvSpPr>
        <p:spPr>
          <a:xfrm>
            <a:off x="1390650" y="4516487"/>
            <a:ext cx="5219319" cy="86097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Product/Process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Your AC skill is leaner — every instruction is load-bearing. Dead weight removed, proven by the evaluator.</a:t>
            </a:r>
            <a:endParaRPr lang="en-US" sz="1800" dirty="0"/>
          </a:p>
        </p:txBody>
      </p:sp>
      <p:sp>
        <p:nvSpPr>
          <p:cNvPr id="14" name="Text 12"/>
          <p:cNvSpPr/>
          <p:nvPr/>
        </p:nvSpPr>
        <p:spPr>
          <a:xfrm>
            <a:off x="6610350" y="4516487"/>
            <a:ext cx="5219319" cy="86097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Development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Your Plan and Code skills are leaner too. The evaluator found the dead weight.</a:t>
            </a:r>
            <a:endParaRPr lang="en-US" sz="1800" dirty="0"/>
          </a:p>
        </p:txBody>
      </p:sp>
      <p:sp>
        <p:nvSpPr>
          <p:cNvPr id="15" name="Text 13"/>
          <p:cNvSpPr/>
          <p:nvPr/>
        </p:nvSpPr>
        <p:spPr>
          <a:xfrm>
            <a:off x="11830050" y="4516487"/>
            <a:ext cx="5219319" cy="86097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Testing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Your test plan skill is leaner. A leaner skill is more reliable and easier to maintain.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2026-08-05T15:19:13Z</dcterms:created>
  <dcterms:modified xsi:type="dcterms:W3CDTF">2026-08-05T15:19:13Z</dcterms:modified>
</cp:coreProperties>
</file>