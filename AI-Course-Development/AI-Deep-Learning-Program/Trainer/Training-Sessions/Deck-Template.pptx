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[Trainer note: welcome participants, confirm everyone knows the week/loop/role focus before moving to check-in.]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[What this question is setting up: connect to prior session's artifact/EC score/field observation, and preview how it leads into today's content.]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[Trainer note: walk each goal and its per-role relevance; invite each role to react.]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[Trainer note: teaching points and pacing live here, never on the slide face.]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[Trainer note: perform the demo live here. Step-by-step goes in this notes field, never on the slide.]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[Trainer note: timing checkpoints, common blockers, and what to watch for while circulating.]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[Trainer note: land each row as a real behavior shift participants recognize in themselves.]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[Trainer note: give participants a beat of silence after each reflection prompt before moving on.]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45" cy="10286998"/>
          </a:xfrm>
          <a:prstGeom prst="rect">
            <a:avLst/>
          </a:prstGeom>
          <a:gradFill rotWithShape="1">
            <a:gsLst>
              <a:gs pos="0">
                <a:srgbClr val="005596">
                  <a:alpha val="100000"/>
                </a:srgbClr>
              </a:gs>
              <a:gs pos="60000">
                <a:srgbClr val="4597D3">
                  <a:alpha val="100000"/>
                </a:srgbClr>
              </a:gs>
              <a:gs pos="100000">
                <a:srgbClr val="5BC2A7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142968" y="3182522"/>
            <a:ext cx="2964849" cy="533243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90618" y="3277772"/>
            <a:ext cx="2558495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1425"/>
              </a:lnSpc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TYPE — INTRO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2968" y="4172929"/>
            <a:ext cx="2515149" cy="5332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90613" y="4279153"/>
            <a:ext cx="778196" cy="357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31425"/>
              </a:lnSpc>
              <a:buNone/>
            </a:pPr>
            <a:r>
              <a:rPr lang="en-US" sz="1800" b="1" spc="108" kern="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87808" y="4268129"/>
            <a:ext cx="1344931" cy="380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425"/>
              </a:lnSpc>
              <a:buNone/>
            </a:pPr>
            <a:r>
              <a:rPr lang="en-US" sz="1800" b="1" spc="108" kern="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[WEEK #]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86699" y="4172929"/>
            <a:ext cx="2241781" cy="5332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34344" y="4279153"/>
            <a:ext cx="742079" cy="357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31425"/>
              </a:lnSpc>
              <a:buNone/>
            </a:pPr>
            <a:r>
              <a:rPr lang="en-US" sz="1800" b="1" spc="108" kern="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5423" y="4268129"/>
            <a:ext cx="1061612" cy="380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425"/>
              </a:lnSpc>
              <a:buNone/>
            </a:pPr>
            <a:r>
              <a:rPr lang="en-US" sz="1800" b="1" spc="108" kern="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OR 2]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57063" y="4172929"/>
            <a:ext cx="6424299" cy="5332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04707" y="4268129"/>
            <a:ext cx="6521911" cy="380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425"/>
              </a:lnSpc>
              <a:buNone/>
            </a:pPr>
            <a:r>
              <a:rPr lang="en-US" sz="1800" b="1" spc="108" kern="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[PRODUCT/PROCESS · DEVELOPMENT · TESTING]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2968" y="5087143"/>
            <a:ext cx="15716250" cy="9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54"/>
              </a:lnSpc>
              <a:buNone/>
            </a:pPr>
            <a:r>
              <a:rPr lang="en-US" sz="7200" b="1" spc="-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[Session Title]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142968" y="6390078"/>
            <a:ext cx="13620724" cy="46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[One-line framing: what this session is about and why it matters now.]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482" y="3048221"/>
            <a:ext cx="3473173" cy="533243"/>
          </a:xfrm>
          <a:prstGeom prst="roundRect">
            <a:avLst>
              <a:gd name="adj" fmla="val 50000"/>
            </a:avLst>
          </a:prstGeom>
          <a:solidFill>
            <a:srgbClr val="F5BB41"/>
          </a:solidFill>
          <a:ln/>
        </p:spPr>
      </p:sp>
      <p:sp>
        <p:nvSpPr>
          <p:cNvPr id="3" name="Text 1"/>
          <p:cNvSpPr/>
          <p:nvPr/>
        </p:nvSpPr>
        <p:spPr>
          <a:xfrm>
            <a:off x="1581132" y="3143471"/>
            <a:ext cx="3082068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1425"/>
              </a:lnSpc>
              <a:buNone/>
            </a:pPr>
            <a:r>
              <a:rPr lang="en-US" sz="1800" b="1" spc="108" kern="0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TYPE — CHECK-IN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33482" y="4000560"/>
            <a:ext cx="17183080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5"/>
              </a:lnSpc>
              <a:buNone/>
            </a:pPr>
            <a:r>
              <a:rPr lang="en-US" sz="1800" b="1" spc="108" kern="0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482" y="4533860"/>
            <a:ext cx="16089611" cy="129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71"/>
              </a:lnSpc>
              <a:buNone/>
            </a:pPr>
            <a:r>
              <a:rPr lang="en-US" sz="4500" b="1" spc="-90" kern="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[Check-in question that connects prior work to today's session]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333482" y="6210187"/>
            <a:ext cx="13220669" cy="1028533"/>
          </a:xfrm>
          <a:prstGeom prst="roundRect">
            <a:avLst>
              <a:gd name="adj" fmla="val 14817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1752577" y="6553031"/>
            <a:ext cx="13620724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>
                    <a:alpha val="70000"/>
                  </a:srgbClr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Discussion prompt — instructor asks, participants answer live. Not rhetorical.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68" y="857197"/>
            <a:ext cx="4156163" cy="533243"/>
          </a:xfrm>
          <a:prstGeom prst="roundRect">
            <a:avLst>
              <a:gd name="adj" fmla="val 50000"/>
            </a:avLst>
          </a:prstGeom>
          <a:solidFill>
            <a:srgbClr val="9D1D96"/>
          </a:solidFill>
          <a:ln/>
        </p:spPr>
      </p:sp>
      <p:sp>
        <p:nvSpPr>
          <p:cNvPr id="3" name="Text 1"/>
          <p:cNvSpPr/>
          <p:nvPr/>
        </p:nvSpPr>
        <p:spPr>
          <a:xfrm>
            <a:off x="1390618" y="952447"/>
            <a:ext cx="3785548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SESSION GOALS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968" y="1733285"/>
            <a:ext cx="17602210" cy="58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397"/>
              </a:lnSpc>
              <a:buNone/>
            </a:pPr>
            <a:r>
              <a:rPr lang="en-US" sz="3900" b="1" spc="-78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Session Goals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2968" y="2620914"/>
            <a:ext cx="16002009" cy="2501312"/>
          </a:xfrm>
          <a:prstGeom prst="roundRect">
            <a:avLst>
              <a:gd name="adj" fmla="val 6093"/>
            </a:avLst>
          </a:prstGeom>
          <a:ln w="18374">
            <a:solidFill>
              <a:srgbClr val="E3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6118" y="2905938"/>
            <a:ext cx="16891280" cy="33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20"/>
              </a:lnSpc>
              <a:buNone/>
            </a:pPr>
            <a:r>
              <a:rPr lang="en-US" sz="2100" b="1" spc="-42" kern="0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1: </a:t>
            </a:r>
            <a:pPr algn="l" indent="0" marL="0">
              <a:lnSpc>
                <a:spcPct val="73920"/>
              </a:lnSpc>
              <a:buNone/>
            </a:pPr>
            <a:r>
              <a:rPr lang="en-US" sz="2100" b="1" spc="-42" kern="0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[Session goal 1]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466118" y="3370681"/>
            <a:ext cx="4991599" cy="1466520"/>
          </a:xfrm>
          <a:prstGeom prst="roundRect">
            <a:avLst>
              <a:gd name="adj" fmla="val 6495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1656574" y="3542075"/>
            <a:ext cx="507175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72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PRODUCT/PROCESS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56574" y="3980119"/>
            <a:ext cx="4749007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[Specific relevance of this goal to Product/Process]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48173" y="3370681"/>
            <a:ext cx="4991599" cy="1466520"/>
          </a:xfrm>
          <a:prstGeom prst="roundRect">
            <a:avLst>
              <a:gd name="adj" fmla="val 6495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838630" y="3542075"/>
            <a:ext cx="507175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72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38630" y="3980119"/>
            <a:ext cx="4749007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[Specific relevance of this goal to Development]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30229" y="3370681"/>
            <a:ext cx="4991599" cy="1466520"/>
          </a:xfrm>
          <a:prstGeom prst="roundRect">
            <a:avLst>
              <a:gd name="adj" fmla="val 6495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020685" y="3542075"/>
            <a:ext cx="507175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72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20685" y="3980119"/>
            <a:ext cx="4749007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[Not directly applicable, but relevant because — specific reason]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2968" y="5388876"/>
            <a:ext cx="16002009" cy="2501312"/>
          </a:xfrm>
          <a:prstGeom prst="roundRect">
            <a:avLst>
              <a:gd name="adj" fmla="val 6093"/>
            </a:avLst>
          </a:prstGeom>
          <a:ln w="18374">
            <a:solidFill>
              <a:srgbClr val="E3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6118" y="5673900"/>
            <a:ext cx="16891280" cy="33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20"/>
              </a:lnSpc>
              <a:buNone/>
            </a:pPr>
            <a:r>
              <a:rPr lang="en-US" sz="2100" b="1" spc="-42" kern="0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2: </a:t>
            </a:r>
            <a:pPr algn="l" indent="0" marL="0">
              <a:lnSpc>
                <a:spcPct val="73920"/>
              </a:lnSpc>
              <a:buNone/>
            </a:pPr>
            <a:r>
              <a:rPr lang="en-US" sz="2100" b="1" spc="-42" kern="0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[Session goal 2]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466118" y="6138643"/>
            <a:ext cx="4991599" cy="1466520"/>
          </a:xfrm>
          <a:prstGeom prst="roundRect">
            <a:avLst>
              <a:gd name="adj" fmla="val 6495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1656574" y="6310037"/>
            <a:ext cx="507175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72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PRODUCT/PROCESS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56574" y="6748081"/>
            <a:ext cx="4749007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[Specific relevance of this goal to Product/Process]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48173" y="6138643"/>
            <a:ext cx="4991599" cy="1466520"/>
          </a:xfrm>
          <a:prstGeom prst="roundRect">
            <a:avLst>
              <a:gd name="adj" fmla="val 6495"/>
            </a:avLst>
          </a:prstGeom>
          <a:solidFill>
            <a:srgbClr val="F4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838630" y="6310037"/>
            <a:ext cx="507175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72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38630" y="6748081"/>
            <a:ext cx="4749007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[Specific relevance of this goal to Development]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30229" y="6138643"/>
            <a:ext cx="4991599" cy="1466520"/>
          </a:xfrm>
          <a:prstGeom prst="roundRect">
            <a:avLst>
              <a:gd name="adj" fmla="val 6495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12020685" y="6310037"/>
            <a:ext cx="507175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72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020685" y="6748081"/>
            <a:ext cx="507175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[Specific relevance of this goal to Testing]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2968" y="8233032"/>
            <a:ext cx="17602210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>
                    <a:alpha val="55000"/>
                  </a:srgbClr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Repeat this goal + 3-role block for every session goal. Never leave a role's line blank.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25" y="2997693"/>
            <a:ext cx="3264917" cy="533243"/>
          </a:xfrm>
          <a:prstGeom prst="roundRect">
            <a:avLst>
              <a:gd name="adj" fmla="val 50000"/>
            </a:avLst>
          </a:prstGeom>
          <a:solidFill>
            <a:srgbClr val="005596"/>
          </a:solidFill>
          <a:ln/>
        </p:spPr>
      </p:sp>
      <p:sp>
        <p:nvSpPr>
          <p:cNvPr id="3" name="Text 1"/>
          <p:cNvSpPr/>
          <p:nvPr/>
        </p:nvSpPr>
        <p:spPr>
          <a:xfrm>
            <a:off x="1485875" y="3092943"/>
            <a:ext cx="2867565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LECTURE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25" y="3950032"/>
            <a:ext cx="17392645" cy="624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242"/>
              </a:lnSpc>
              <a:buNone/>
            </a:pPr>
            <a:r>
              <a:rPr lang="en-US" sz="4200" b="1" spc="-84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[Concept or principle name]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238225" y="5089210"/>
            <a:ext cx="95199" cy="95199"/>
          </a:xfrm>
          <a:prstGeom prst="ellipse">
            <a:avLst/>
          </a:prstGeom>
          <a:solidFill>
            <a:srgbClr val="4597D3"/>
          </a:solidFill>
          <a:ln/>
        </p:spPr>
      </p:sp>
      <p:sp>
        <p:nvSpPr>
          <p:cNvPr id="6" name="Text 4"/>
          <p:cNvSpPr/>
          <p:nvPr/>
        </p:nvSpPr>
        <p:spPr>
          <a:xfrm>
            <a:off x="1523881" y="4955885"/>
            <a:ext cx="4740165" cy="409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0"/>
              </a:lnSpc>
              <a:buNone/>
            </a:pPr>
            <a:r>
              <a:rPr lang="en-US" sz="195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[Key concept, definition, or principle #1]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38225" y="5689231"/>
            <a:ext cx="95199" cy="95199"/>
          </a:xfrm>
          <a:prstGeom prst="ellipse">
            <a:avLst/>
          </a:prstGeom>
          <a:solidFill>
            <a:srgbClr val="4597D3"/>
          </a:solidFill>
          <a:ln/>
        </p:spPr>
      </p:sp>
      <p:sp>
        <p:nvSpPr>
          <p:cNvPr id="8" name="Text 6"/>
          <p:cNvSpPr/>
          <p:nvPr/>
        </p:nvSpPr>
        <p:spPr>
          <a:xfrm>
            <a:off x="1523881" y="5555906"/>
            <a:ext cx="4740165" cy="409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0"/>
              </a:lnSpc>
              <a:buNone/>
            </a:pPr>
            <a:r>
              <a:rPr lang="en-US" sz="195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[Key concept, definition, or principle #2]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38225" y="6289252"/>
            <a:ext cx="95199" cy="95199"/>
          </a:xfrm>
          <a:prstGeom prst="ellipse">
            <a:avLst/>
          </a:prstGeom>
          <a:solidFill>
            <a:srgbClr val="4597D3"/>
          </a:solidFill>
          <a:ln/>
        </p:spPr>
      </p:sp>
      <p:sp>
        <p:nvSpPr>
          <p:cNvPr id="10" name="Text 8"/>
          <p:cNvSpPr/>
          <p:nvPr/>
        </p:nvSpPr>
        <p:spPr>
          <a:xfrm>
            <a:off x="1523881" y="6155927"/>
            <a:ext cx="4740165" cy="409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0"/>
              </a:lnSpc>
              <a:buNone/>
            </a:pPr>
            <a:r>
              <a:rPr lang="en-US" sz="195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[Key concept, definition, or principle #3]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38225" y="6946461"/>
            <a:ext cx="1739264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>
                    <a:alpha val="55000"/>
                  </a:srgbClr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No teaching instructions or pacing notes on the slide face — content only.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25" y="2610119"/>
            <a:ext cx="2927355" cy="533243"/>
          </a:xfrm>
          <a:prstGeom prst="roundRect">
            <a:avLst>
              <a:gd name="adj" fmla="val 50000"/>
            </a:avLst>
          </a:prstGeom>
          <a:solidFill>
            <a:srgbClr val="5BC2A7"/>
          </a:solidFill>
          <a:ln/>
        </p:spPr>
      </p:sp>
      <p:sp>
        <p:nvSpPr>
          <p:cNvPr id="3" name="Text 1"/>
          <p:cNvSpPr/>
          <p:nvPr/>
        </p:nvSpPr>
        <p:spPr>
          <a:xfrm>
            <a:off x="1485875" y="2705369"/>
            <a:ext cx="2519876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108" kern="0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25" y="3562458"/>
            <a:ext cx="17392645" cy="624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242"/>
              </a:lnSpc>
              <a:buNone/>
            </a:pPr>
            <a:r>
              <a:rPr lang="en-US" sz="4200" b="1" spc="-84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Demo: [Demo name]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38225" y="4568312"/>
            <a:ext cx="1739264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90" kern="0" dirty="0">
                <a:solidFill>
                  <a:srgbClr val="A7A8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25" y="5025418"/>
            <a:ext cx="14144575" cy="403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33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[What is about to be demonstrated and how it connects to session goal — e.g. Goal 1 above. Why, not how.]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8225" y="6038793"/>
            <a:ext cx="13675766" cy="1638085"/>
          </a:xfrm>
          <a:prstGeom prst="roundRect">
            <a:avLst>
              <a:gd name="adj" fmla="val 9304"/>
            </a:avLst>
          </a:prstGeom>
          <a:solidFill>
            <a:srgbClr val="EAF6F1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25" y="6038793"/>
            <a:ext cx="55122" cy="1638085"/>
          </a:xfrm>
          <a:prstGeom prst="rect">
            <a:avLst/>
          </a:prstGeom>
          <a:solidFill>
            <a:srgbClr val="5BC2A7"/>
          </a:solidFill>
          <a:ln/>
        </p:spPr>
      </p:sp>
      <p:sp>
        <p:nvSpPr>
          <p:cNvPr id="9" name="Text 7"/>
          <p:cNvSpPr/>
          <p:nvPr/>
        </p:nvSpPr>
        <p:spPr>
          <a:xfrm>
            <a:off x="1674316" y="6343569"/>
            <a:ext cx="1414457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90" kern="0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TO FOCUS 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74316" y="6800676"/>
            <a:ext cx="1414457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[Where to direct attention during the demo — the learning moment, not the mechanics.]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25" y="857197"/>
            <a:ext cx="3368500" cy="533243"/>
          </a:xfrm>
          <a:prstGeom prst="roundRect">
            <a:avLst>
              <a:gd name="adj" fmla="val 50000"/>
            </a:avLst>
          </a:prstGeom>
          <a:solidFill>
            <a:srgbClr val="F5BB41"/>
          </a:solidFill>
          <a:ln/>
        </p:spPr>
      </p:sp>
      <p:sp>
        <p:nvSpPr>
          <p:cNvPr id="3" name="Text 1"/>
          <p:cNvSpPr/>
          <p:nvPr/>
        </p:nvSpPr>
        <p:spPr>
          <a:xfrm>
            <a:off x="1485875" y="952447"/>
            <a:ext cx="2974255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108" kern="0" dirty="0">
                <a:solidFill>
                  <a:srgbClr val="0E1A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EXERCISE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25" y="1695217"/>
            <a:ext cx="4394489" cy="58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397"/>
              </a:lnSpc>
              <a:buNone/>
            </a:pPr>
            <a:r>
              <a:rPr lang="en-US" sz="3900" b="1" spc="-78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Lab: [Lab name]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2387874" y="1706758"/>
            <a:ext cx="4661846" cy="533243"/>
          </a:xfrm>
          <a:prstGeom prst="roundRect">
            <a:avLst>
              <a:gd name="adj" fmla="val 50000"/>
            </a:avLst>
          </a:prstGeom>
          <a:solidFill>
            <a:srgbClr val="005596"/>
          </a:solidFill>
          <a:ln/>
        </p:spPr>
      </p:sp>
      <p:sp>
        <p:nvSpPr>
          <p:cNvPr id="6" name="Text 4"/>
          <p:cNvSpPr/>
          <p:nvPr/>
        </p:nvSpPr>
        <p:spPr>
          <a:xfrm>
            <a:off x="12635524" y="1802008"/>
            <a:ext cx="4306401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⏱ [LAB TIMING, E.G. 45 MINUTES]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164" y="2544777"/>
            <a:ext cx="14230316" cy="1203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42900" indent="-342900">
              <a:lnSpc>
                <a:spcPct val="105754"/>
              </a:lnSpc>
              <a:buSzPct val="100000"/>
              <a:buFont typeface="+mj-lt"/>
              <a:buAutoNum type="arabicPeriod" startAt="1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[Step 1]</a:t>
            </a:r>
            <a:endParaRPr lang="en-US" sz="1800" dirty="0"/>
          </a:p>
          <a:p>
            <a:pPr algn="l" marL="342900" indent="-342900">
              <a:lnSpc>
                <a:spcPct val="105754"/>
              </a:lnSpc>
              <a:buSzPct val="100000"/>
              <a:buFont typeface="+mj-lt"/>
              <a:buAutoNum type="arabicPeriod" startAt="2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[Step 2]</a:t>
            </a:r>
            <a:endParaRPr lang="en-US" sz="1800" dirty="0"/>
          </a:p>
          <a:p>
            <a:pPr algn="l" marL="342900" indent="-342900">
              <a:lnSpc>
                <a:spcPct val="105754"/>
              </a:lnSpc>
              <a:buSzPct val="100000"/>
              <a:buFont typeface="+mj-lt"/>
              <a:buAutoNum type="arabicPeriod" startAt="3"/>
              <a:tabLst>
                <a:tab pos="34290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[Step 3]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25" y="5892721"/>
            <a:ext cx="15811495" cy="1580897"/>
          </a:xfrm>
          <a:prstGeom prst="roundRect">
            <a:avLst>
              <a:gd name="adj" fmla="val 9640"/>
            </a:avLst>
          </a:prstGeom>
          <a:solidFill>
            <a:srgbClr val="005596"/>
          </a:solidFill>
          <a:ln/>
          <a:effectLst>
            <a:outerShdw sx="100000" sy="100000" kx="0" ky="0" algn="bl" rotWithShape="0" blurRad="266700" dist="114300" dir="5400000">
              <a:srgbClr val="00559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19195" y="6178435"/>
            <a:ext cx="16554511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108" kern="0" dirty="0">
                <a:solidFill>
                  <a:srgbClr val="F5BB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YOU'LL KNOW WHEN YOU'RE DONE BECAUSE…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19195" y="6616478"/>
            <a:ext cx="16554511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[Specific, checkable success criterion — name the artifact and what must be true about it.]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8225" y="7778394"/>
            <a:ext cx="15811495" cy="1651407"/>
          </a:xfrm>
          <a:prstGeom prst="roundRect">
            <a:avLst>
              <a:gd name="adj" fmla="val 9228"/>
            </a:avLst>
          </a:prstGeom>
          <a:solidFill>
            <a:srgbClr val="FBF1FA"/>
          </a:solidFill>
          <a:ln w="25723">
            <a:solidFill>
              <a:srgbClr val="9D1D9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606793" y="8032700"/>
            <a:ext cx="16581796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90" kern="0" dirty="0">
                <a:solidFill>
                  <a:srgbClr val="9D1D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STRETCH GOALS (FOR ADVANCED USERS) — OPTIONAL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13423" y="8489806"/>
            <a:ext cx="15043930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93312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[Stretch challenge #1 — builds on the base lab output]</a:t>
            </a:r>
            <a:endParaRPr lang="en-US" sz="1800" dirty="0"/>
          </a:p>
          <a:p>
            <a:pPr algn="l" marL="160020" indent="-160020">
              <a:lnSpc>
                <a:spcPct val="93312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[Stretch challenge #2, if present]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25" y="857197"/>
            <a:ext cx="4917529" cy="533243"/>
          </a:xfrm>
          <a:prstGeom prst="roundRect">
            <a:avLst>
              <a:gd name="adj" fmla="val 50000"/>
            </a:avLst>
          </a:prstGeom>
          <a:solidFill>
            <a:srgbClr val="9D1D96"/>
          </a:solidFill>
          <a:ln/>
        </p:spPr>
      </p:sp>
      <p:sp>
        <p:nvSpPr>
          <p:cNvPr id="3" name="Text 1"/>
          <p:cNvSpPr/>
          <p:nvPr/>
        </p:nvSpPr>
        <p:spPr>
          <a:xfrm>
            <a:off x="1485875" y="952447"/>
            <a:ext cx="4569755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COMPARE/CONTRAST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25" y="1676154"/>
            <a:ext cx="17392645" cy="58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397"/>
              </a:lnSpc>
              <a:buNone/>
            </a:pPr>
            <a:r>
              <a:rPr lang="en-US" sz="3900" b="1" spc="-78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[Discipline shift name]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238225" y="2582846"/>
            <a:ext cx="7848577" cy="38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90" kern="0" dirty="0">
                <a:solidFill>
                  <a:srgbClr val="A7A8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LEAVING BEHIND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29686" y="2582846"/>
            <a:ext cx="7848636" cy="38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90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8225" y="3344728"/>
            <a:ext cx="7619977" cy="723757"/>
          </a:xfrm>
          <a:prstGeom prst="roundRect">
            <a:avLst>
              <a:gd name="adj" fmla="val 13160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1485875" y="3535228"/>
            <a:ext cx="7353277" cy="380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[Behavior being left behind #1]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20102" y="3520888"/>
            <a:ext cx="647684" cy="409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600"/>
              </a:lnSpc>
              <a:buNone/>
            </a:pPr>
            <a:r>
              <a:rPr lang="en-US" sz="1950" dirty="0">
                <a:solidFill>
                  <a:srgbClr val="4597D3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29686" y="3344728"/>
            <a:ext cx="7620035" cy="723757"/>
          </a:xfrm>
          <a:prstGeom prst="roundRect">
            <a:avLst>
              <a:gd name="adj" fmla="val 13160"/>
            </a:avLst>
          </a:prstGeom>
          <a:solidFill>
            <a:srgbClr val="E9F1FA"/>
          </a:solidFill>
          <a:ln/>
        </p:spPr>
      </p:sp>
      <p:sp>
        <p:nvSpPr>
          <p:cNvPr id="11" name="Text 9"/>
          <p:cNvSpPr/>
          <p:nvPr/>
        </p:nvSpPr>
        <p:spPr>
          <a:xfrm>
            <a:off x="9677336" y="3535228"/>
            <a:ext cx="7353336" cy="380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[DLP discipline replacement #1]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8225" y="4201811"/>
            <a:ext cx="7619977" cy="723757"/>
          </a:xfrm>
          <a:prstGeom prst="roundRect">
            <a:avLst>
              <a:gd name="adj" fmla="val 13160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1485875" y="4392311"/>
            <a:ext cx="7353277" cy="380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[Behavior being left behind #2]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20102" y="4377970"/>
            <a:ext cx="647684" cy="409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600"/>
              </a:lnSpc>
              <a:buNone/>
            </a:pPr>
            <a:r>
              <a:rPr lang="en-US" sz="1950" dirty="0">
                <a:solidFill>
                  <a:srgbClr val="4597D3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29686" y="4201811"/>
            <a:ext cx="7620035" cy="723757"/>
          </a:xfrm>
          <a:prstGeom prst="roundRect">
            <a:avLst>
              <a:gd name="adj" fmla="val 13160"/>
            </a:avLst>
          </a:prstGeom>
          <a:solidFill>
            <a:srgbClr val="E9F1FA"/>
          </a:solidFill>
          <a:ln/>
        </p:spPr>
      </p:sp>
      <p:sp>
        <p:nvSpPr>
          <p:cNvPr id="16" name="Text 14"/>
          <p:cNvSpPr/>
          <p:nvPr/>
        </p:nvSpPr>
        <p:spPr>
          <a:xfrm>
            <a:off x="9677336" y="4392311"/>
            <a:ext cx="7353336" cy="380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[DLP discipline replacement #2]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8225" y="5058893"/>
            <a:ext cx="7619977" cy="723757"/>
          </a:xfrm>
          <a:prstGeom prst="roundRect">
            <a:avLst>
              <a:gd name="adj" fmla="val 13160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1485875" y="5249393"/>
            <a:ext cx="7353277" cy="380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[Behavior being left behind #3]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20102" y="5235053"/>
            <a:ext cx="647684" cy="409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600"/>
              </a:lnSpc>
              <a:buNone/>
            </a:pPr>
            <a:r>
              <a:rPr lang="en-US" sz="1950" dirty="0">
                <a:solidFill>
                  <a:srgbClr val="4597D3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→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429686" y="5058893"/>
            <a:ext cx="7620035" cy="723757"/>
          </a:xfrm>
          <a:prstGeom prst="roundRect">
            <a:avLst>
              <a:gd name="adj" fmla="val 13160"/>
            </a:avLst>
          </a:prstGeom>
          <a:solidFill>
            <a:srgbClr val="E9F1FA"/>
          </a:solidFill>
          <a:ln/>
        </p:spPr>
      </p:sp>
      <p:sp>
        <p:nvSpPr>
          <p:cNvPr id="21" name="Text 19"/>
          <p:cNvSpPr/>
          <p:nvPr/>
        </p:nvSpPr>
        <p:spPr>
          <a:xfrm>
            <a:off x="9677336" y="5249393"/>
            <a:ext cx="7353336" cy="380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[DLP discipline replacement #3]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8225" y="6106432"/>
            <a:ext cx="17392645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>
                    <a:alpha val="55000"/>
                  </a:srgbClr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Hard limit: 5 rows max. Split into two slides rather than exceed 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45" cy="10286998"/>
          </a:xfrm>
          <a:prstGeom prst="rect">
            <a:avLst/>
          </a:prstGeom>
          <a:gradFill rotWithShape="1">
            <a:gsLst>
              <a:gs pos="0">
                <a:srgbClr val="4597D3">
                  <a:alpha val="100000"/>
                </a:srgbClr>
              </a:gs>
              <a:gs pos="100000">
                <a:srgbClr val="5BC2A7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142968" y="857197"/>
            <a:ext cx="3306086" cy="533243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90618" y="952447"/>
            <a:ext cx="2909969" cy="3808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00335"/>
              </a:lnSpc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TYPE — CLOSING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2968" y="1695217"/>
            <a:ext cx="17602210" cy="58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397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you go…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142968" y="2544777"/>
            <a:ext cx="16002009" cy="1565739"/>
          </a:xfrm>
          <a:prstGeom prst="roundRect">
            <a:avLst>
              <a:gd name="adj" fmla="val 9733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47744" y="2792422"/>
            <a:ext cx="16931703" cy="28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579"/>
              </a:lnSpc>
              <a:buNone/>
            </a:pPr>
            <a:r>
              <a:rPr lang="en-US" sz="1800" b="1" spc="-36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1: </a:t>
            </a:r>
            <a:pPr algn="l" indent="0" marL="0">
              <a:lnSpc>
                <a:spcPct val="73579"/>
              </a:lnSpc>
              <a:buNone/>
            </a:pPr>
            <a:r>
              <a:rPr lang="en-US" sz="1800" b="1" spc="-36" kern="0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[Session goal 1]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7744" y="3177182"/>
            <a:ext cx="5167014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[You now understand/have… reflection prompt]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35656" y="3177182"/>
            <a:ext cx="5167073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[You now understand/have… reflection prompt]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23625" y="3177182"/>
            <a:ext cx="5167014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[You now understand/have… reflection prompt]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2968" y="4320035"/>
            <a:ext cx="16002009" cy="1565739"/>
          </a:xfrm>
          <a:prstGeom prst="roundRect">
            <a:avLst>
              <a:gd name="adj" fmla="val 9733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47744" y="4567680"/>
            <a:ext cx="16931703" cy="28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579"/>
              </a:lnSpc>
              <a:buNone/>
            </a:pPr>
            <a:r>
              <a:rPr lang="en-US" sz="1800" b="1" spc="-36" kern="0" dirty="0">
                <a:solidFill>
                  <a:srgbClr val="0055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Goal 2: </a:t>
            </a:r>
            <a:pPr algn="l" indent="0" marL="0">
              <a:lnSpc>
                <a:spcPct val="73579"/>
              </a:lnSpc>
              <a:buNone/>
            </a:pPr>
            <a:r>
              <a:rPr lang="en-US" sz="1800" b="1" spc="-36" kern="0" dirty="0">
                <a:solidFill>
                  <a:srgbClr val="4597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[Session goal 2]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7744" y="4952440"/>
            <a:ext cx="5167014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Product/Process — </a:t>
            </a:r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[You now understand/have… reflection prompt]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35656" y="4952440"/>
            <a:ext cx="5167073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Development — </a:t>
            </a:r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[You now understand/have… reflection prompt]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23625" y="4952440"/>
            <a:ext cx="5167014" cy="72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b="1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Testing — </a:t>
            </a:r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0E1A26"/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[You now understand/have… reflection prompt]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2968" y="6190549"/>
            <a:ext cx="17602210" cy="380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12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Khula" pitchFamily="34" charset="0"/>
                <a:ea typeface="Khula" pitchFamily="34" charset="-122"/>
                <a:cs typeface="Khula" pitchFamily="34" charset="-120"/>
              </a:rPr>
              <a:t>Reflection prompts, not summaries. Voice: "You now…", never "We covered…".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2026-08-05T03:57:14Z</dcterms:created>
  <dcterms:modified xsi:type="dcterms:W3CDTF">2026-08-05T03:57:14Z</dcterms:modified>
</cp:coreProperties>
</file>